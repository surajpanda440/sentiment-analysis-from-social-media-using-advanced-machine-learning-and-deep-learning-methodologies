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91" r:id="rId2"/>
    <p:sldId id="257" r:id="rId3"/>
    <p:sldId id="258" r:id="rId4"/>
    <p:sldId id="271" r:id="rId5"/>
    <p:sldId id="260" r:id="rId6"/>
    <p:sldId id="288" r:id="rId7"/>
    <p:sldId id="292" r:id="rId8"/>
    <p:sldId id="267" r:id="rId9"/>
    <p:sldId id="269" r:id="rId10"/>
    <p:sldId id="270" r:id="rId11"/>
    <p:sldId id="259" r:id="rId12"/>
    <p:sldId id="287" r:id="rId13"/>
    <p:sldId id="289" r:id="rId14"/>
    <p:sldId id="281" r:id="rId15"/>
    <p:sldId id="290" r:id="rId16"/>
    <p:sldId id="275" r:id="rId17"/>
  </p:sldIdLst>
  <p:sldSz cx="18288000" cy="10287000"/>
  <p:notesSz cx="6858000" cy="9144000"/>
  <p:embeddedFontLst>
    <p:embeddedFont>
      <p:font typeface="Algerian" panose="04020705040A02060702" pitchFamily="82" charset="0"/>
      <p:regular r:id="rId18"/>
    </p:embeddedFont>
    <p:embeddedFont>
      <p:font typeface="Cormorant Garamond Light" panose="020B0604020202020204" charset="0"/>
      <p:regular r:id="rId19"/>
    </p:embeddedFont>
    <p:embeddedFont>
      <p:font typeface="Cormorant Garamond Light Bold" panose="020B0604020202020204" charset="0"/>
      <p:regular r:id="rId20"/>
    </p:embeddedFont>
    <p:embeddedFont>
      <p:font typeface="Cormorant Garamond Medium" panose="020B0604020202020204" charset="0"/>
      <p:regular r:id="rId21"/>
    </p:embeddedFont>
    <p:embeddedFont>
      <p:font typeface="Cormorant Garamond Medium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10" autoAdjust="0"/>
    <p:restoredTop sz="94622" autoAdjust="0"/>
  </p:normalViewPr>
  <p:slideViewPr>
    <p:cSldViewPr>
      <p:cViewPr varScale="1">
        <p:scale>
          <a:sx n="56" d="100"/>
          <a:sy n="56" d="100"/>
        </p:scale>
        <p:origin x="744"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diagrams/_rels/data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62EF81-3AB8-4C90-A1F8-8EE62F77275C}"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A04E9776-4F38-43D5-B81C-646F29C1F4C4}">
      <dgm:prSet/>
      <dgm:spPr/>
      <dgm:t>
        <a:bodyPr/>
        <a:lstStyle/>
        <a:p>
          <a:r>
            <a:rPr lang="en-IN"/>
            <a:t>A lexicon-based sentiment analysis tool, specifically tuned for social media text.</a:t>
          </a:r>
          <a:endParaRPr lang="en-US"/>
        </a:p>
      </dgm:t>
    </dgm:pt>
    <dgm:pt modelId="{F5338C37-9083-488C-A1C0-D880F6B27BD6}" type="parTrans" cxnId="{EDD65F28-8D1C-47A9-A570-AD3C7561045B}">
      <dgm:prSet/>
      <dgm:spPr/>
      <dgm:t>
        <a:bodyPr/>
        <a:lstStyle/>
        <a:p>
          <a:endParaRPr lang="en-US"/>
        </a:p>
      </dgm:t>
    </dgm:pt>
    <dgm:pt modelId="{89582D9D-6407-4FFE-B625-70666F838C27}" type="sibTrans" cxnId="{EDD65F28-8D1C-47A9-A570-AD3C7561045B}">
      <dgm:prSet/>
      <dgm:spPr/>
      <dgm:t>
        <a:bodyPr/>
        <a:lstStyle/>
        <a:p>
          <a:endParaRPr lang="en-US"/>
        </a:p>
      </dgm:t>
    </dgm:pt>
    <dgm:pt modelId="{6B712188-5C09-4983-8A2F-5B446C833843}">
      <dgm:prSet/>
      <dgm:spPr/>
      <dgm:t>
        <a:bodyPr/>
        <a:lstStyle/>
        <a:p>
          <a:r>
            <a:rPr lang="en-US" b="1"/>
            <a:t>Purpose</a:t>
          </a:r>
          <a:r>
            <a:rPr lang="en-US"/>
            <a:t>: It helps determine the sentiment polarity (positive, negative, or neutral) of textual data.</a:t>
          </a:r>
        </a:p>
      </dgm:t>
    </dgm:pt>
    <dgm:pt modelId="{7DA99C38-EED7-4B8C-9306-7B2EB1397CAF}" type="parTrans" cxnId="{EDF2DC35-725E-40B5-8D54-96B8258CD2BC}">
      <dgm:prSet/>
      <dgm:spPr/>
      <dgm:t>
        <a:bodyPr/>
        <a:lstStyle/>
        <a:p>
          <a:endParaRPr lang="en-US"/>
        </a:p>
      </dgm:t>
    </dgm:pt>
    <dgm:pt modelId="{9633AD13-D1DD-4932-83D2-719B0A2AF8CD}" type="sibTrans" cxnId="{EDF2DC35-725E-40B5-8D54-96B8258CD2BC}">
      <dgm:prSet/>
      <dgm:spPr/>
      <dgm:t>
        <a:bodyPr/>
        <a:lstStyle/>
        <a:p>
          <a:endParaRPr lang="en-US"/>
        </a:p>
      </dgm:t>
    </dgm:pt>
    <dgm:pt modelId="{A95E8643-6C23-4213-9E81-BF6421135E43}">
      <dgm:prSet/>
      <dgm:spPr/>
      <dgm:t>
        <a:bodyPr/>
        <a:lstStyle/>
        <a:p>
          <a:r>
            <a:rPr lang="en-US" b="1"/>
            <a:t>Outputs Sentiment Scores</a:t>
          </a:r>
          <a:r>
            <a:rPr lang="en-US"/>
            <a:t>:</a:t>
          </a:r>
        </a:p>
      </dgm:t>
    </dgm:pt>
    <dgm:pt modelId="{274CC212-0117-44A9-97C2-5FDEFFF50BCC}" type="parTrans" cxnId="{0C7FD161-1721-43B0-8ECF-8CA5EC1012AD}">
      <dgm:prSet/>
      <dgm:spPr/>
      <dgm:t>
        <a:bodyPr/>
        <a:lstStyle/>
        <a:p>
          <a:endParaRPr lang="en-US"/>
        </a:p>
      </dgm:t>
    </dgm:pt>
    <dgm:pt modelId="{674DEB51-917B-4DDA-94D1-5F9FDE17ADEC}" type="sibTrans" cxnId="{0C7FD161-1721-43B0-8ECF-8CA5EC1012AD}">
      <dgm:prSet/>
      <dgm:spPr/>
      <dgm:t>
        <a:bodyPr/>
        <a:lstStyle/>
        <a:p>
          <a:endParaRPr lang="en-US"/>
        </a:p>
      </dgm:t>
    </dgm:pt>
    <dgm:pt modelId="{7428CB93-237D-4B68-B87A-F1EFECB80C33}">
      <dgm:prSet/>
      <dgm:spPr/>
      <dgm:t>
        <a:bodyPr/>
        <a:lstStyle/>
        <a:p>
          <a:r>
            <a:rPr lang="en-US" b="1"/>
            <a:t>Positive</a:t>
          </a:r>
          <a:r>
            <a:rPr lang="en-US"/>
            <a:t>: Proportion of positive sentiment in the text.</a:t>
          </a:r>
        </a:p>
      </dgm:t>
    </dgm:pt>
    <dgm:pt modelId="{4D8DB93A-2B0D-434A-993B-9B2C2462DBD7}" type="parTrans" cxnId="{84BDA985-91AD-413C-908C-D4FD9DA8B13F}">
      <dgm:prSet/>
      <dgm:spPr/>
      <dgm:t>
        <a:bodyPr/>
        <a:lstStyle/>
        <a:p>
          <a:endParaRPr lang="en-US"/>
        </a:p>
      </dgm:t>
    </dgm:pt>
    <dgm:pt modelId="{D1285F94-671B-4759-9868-D9EF3A1E9B18}" type="sibTrans" cxnId="{84BDA985-91AD-413C-908C-D4FD9DA8B13F}">
      <dgm:prSet/>
      <dgm:spPr/>
      <dgm:t>
        <a:bodyPr/>
        <a:lstStyle/>
        <a:p>
          <a:endParaRPr lang="en-US"/>
        </a:p>
      </dgm:t>
    </dgm:pt>
    <dgm:pt modelId="{833978B8-51C4-48B5-91A4-41D2F39FC8DA}">
      <dgm:prSet/>
      <dgm:spPr/>
      <dgm:t>
        <a:bodyPr/>
        <a:lstStyle/>
        <a:p>
          <a:r>
            <a:rPr lang="en-US" b="1"/>
            <a:t>Negative</a:t>
          </a:r>
          <a:r>
            <a:rPr lang="en-US"/>
            <a:t>: Proportion of negative sentiment.</a:t>
          </a:r>
        </a:p>
      </dgm:t>
    </dgm:pt>
    <dgm:pt modelId="{432C4C03-82BB-45EF-9FD2-3D912B4A126F}" type="parTrans" cxnId="{0FDF2A9C-1D28-433B-B2B0-FACB65B5ED65}">
      <dgm:prSet/>
      <dgm:spPr/>
      <dgm:t>
        <a:bodyPr/>
        <a:lstStyle/>
        <a:p>
          <a:endParaRPr lang="en-US"/>
        </a:p>
      </dgm:t>
    </dgm:pt>
    <dgm:pt modelId="{BF4DC73E-5973-4B01-9975-E0355144FA8C}" type="sibTrans" cxnId="{0FDF2A9C-1D28-433B-B2B0-FACB65B5ED65}">
      <dgm:prSet/>
      <dgm:spPr/>
      <dgm:t>
        <a:bodyPr/>
        <a:lstStyle/>
        <a:p>
          <a:endParaRPr lang="en-US"/>
        </a:p>
      </dgm:t>
    </dgm:pt>
    <dgm:pt modelId="{0EA8E7CB-3CA5-4267-8BF1-8A1306D918CA}">
      <dgm:prSet/>
      <dgm:spPr/>
      <dgm:t>
        <a:bodyPr/>
        <a:lstStyle/>
        <a:p>
          <a:r>
            <a:rPr lang="en-US" b="1"/>
            <a:t>Neutral</a:t>
          </a:r>
          <a:r>
            <a:rPr lang="en-US"/>
            <a:t>: Proportion of neutral sentiment.</a:t>
          </a:r>
        </a:p>
      </dgm:t>
    </dgm:pt>
    <dgm:pt modelId="{2E0ADF03-D51C-4FB7-A1DF-F60F0CF63F6C}" type="parTrans" cxnId="{5F6E7E43-D584-47F2-BE1E-9BF007094688}">
      <dgm:prSet/>
      <dgm:spPr/>
      <dgm:t>
        <a:bodyPr/>
        <a:lstStyle/>
        <a:p>
          <a:endParaRPr lang="en-US"/>
        </a:p>
      </dgm:t>
    </dgm:pt>
    <dgm:pt modelId="{C31E00E8-D137-414E-9BCC-ADA69C506C4A}" type="sibTrans" cxnId="{5F6E7E43-D584-47F2-BE1E-9BF007094688}">
      <dgm:prSet/>
      <dgm:spPr/>
      <dgm:t>
        <a:bodyPr/>
        <a:lstStyle/>
        <a:p>
          <a:endParaRPr lang="en-US"/>
        </a:p>
      </dgm:t>
    </dgm:pt>
    <dgm:pt modelId="{E79EF6D3-0169-41F9-9749-B78F3128CA7F}">
      <dgm:prSet/>
      <dgm:spPr/>
      <dgm:t>
        <a:bodyPr/>
        <a:lstStyle/>
        <a:p>
          <a:r>
            <a:rPr lang="en-US" b="1"/>
            <a:t>Compound Score</a:t>
          </a:r>
          <a:r>
            <a:rPr lang="en-US"/>
            <a:t>: A normalized score ranging from -1 (most negative) to +1 (most positive).</a:t>
          </a:r>
        </a:p>
      </dgm:t>
    </dgm:pt>
    <dgm:pt modelId="{FB481A7F-7B9D-45C4-848C-7312ED61740F}" type="parTrans" cxnId="{5611E297-FF2C-4EE4-A11A-E1BAAF295B73}">
      <dgm:prSet/>
      <dgm:spPr/>
      <dgm:t>
        <a:bodyPr/>
        <a:lstStyle/>
        <a:p>
          <a:endParaRPr lang="en-US"/>
        </a:p>
      </dgm:t>
    </dgm:pt>
    <dgm:pt modelId="{5201A1B5-11FE-41DA-B1F5-58E06130D528}" type="sibTrans" cxnId="{5611E297-FF2C-4EE4-A11A-E1BAAF295B73}">
      <dgm:prSet/>
      <dgm:spPr/>
      <dgm:t>
        <a:bodyPr/>
        <a:lstStyle/>
        <a:p>
          <a:endParaRPr lang="en-US"/>
        </a:p>
      </dgm:t>
    </dgm:pt>
    <dgm:pt modelId="{154034E3-2D40-4078-A50C-6D664DCE83CD}" type="pres">
      <dgm:prSet presAssocID="{8562EF81-3AB8-4C90-A1F8-8EE62F77275C}" presName="Name0" presStyleCnt="0">
        <dgm:presLayoutVars>
          <dgm:dir/>
          <dgm:resizeHandles val="exact"/>
        </dgm:presLayoutVars>
      </dgm:prSet>
      <dgm:spPr/>
    </dgm:pt>
    <dgm:pt modelId="{513001A4-E0C7-47E0-8E5A-D37FF9769EB5}" type="pres">
      <dgm:prSet presAssocID="{A04E9776-4F38-43D5-B81C-646F29C1F4C4}" presName="node" presStyleLbl="node1" presStyleIdx="0" presStyleCnt="7">
        <dgm:presLayoutVars>
          <dgm:bulletEnabled val="1"/>
        </dgm:presLayoutVars>
      </dgm:prSet>
      <dgm:spPr/>
    </dgm:pt>
    <dgm:pt modelId="{58644490-3DF2-4A76-AD6C-C076848F2FC8}" type="pres">
      <dgm:prSet presAssocID="{89582D9D-6407-4FFE-B625-70666F838C27}" presName="sibTrans" presStyleLbl="sibTrans1D1" presStyleIdx="0" presStyleCnt="6"/>
      <dgm:spPr/>
    </dgm:pt>
    <dgm:pt modelId="{B77EE2F8-76DF-4143-BD83-E7A440A1D55F}" type="pres">
      <dgm:prSet presAssocID="{89582D9D-6407-4FFE-B625-70666F838C27}" presName="connectorText" presStyleLbl="sibTrans1D1" presStyleIdx="0" presStyleCnt="6"/>
      <dgm:spPr/>
    </dgm:pt>
    <dgm:pt modelId="{A7BD0AC1-B0AE-4BA3-811E-03DA1F4612C8}" type="pres">
      <dgm:prSet presAssocID="{6B712188-5C09-4983-8A2F-5B446C833843}" presName="node" presStyleLbl="node1" presStyleIdx="1" presStyleCnt="7">
        <dgm:presLayoutVars>
          <dgm:bulletEnabled val="1"/>
        </dgm:presLayoutVars>
      </dgm:prSet>
      <dgm:spPr/>
    </dgm:pt>
    <dgm:pt modelId="{555D8ED2-17F5-4C57-8C2C-009052BB2C43}" type="pres">
      <dgm:prSet presAssocID="{9633AD13-D1DD-4932-83D2-719B0A2AF8CD}" presName="sibTrans" presStyleLbl="sibTrans1D1" presStyleIdx="1" presStyleCnt="6"/>
      <dgm:spPr/>
    </dgm:pt>
    <dgm:pt modelId="{EA354375-9E49-4FD7-BDC6-ACD04704FF00}" type="pres">
      <dgm:prSet presAssocID="{9633AD13-D1DD-4932-83D2-719B0A2AF8CD}" presName="connectorText" presStyleLbl="sibTrans1D1" presStyleIdx="1" presStyleCnt="6"/>
      <dgm:spPr/>
    </dgm:pt>
    <dgm:pt modelId="{BF2576F9-9E4C-4863-8B83-56BBCD14C2CF}" type="pres">
      <dgm:prSet presAssocID="{A95E8643-6C23-4213-9E81-BF6421135E43}" presName="node" presStyleLbl="node1" presStyleIdx="2" presStyleCnt="7">
        <dgm:presLayoutVars>
          <dgm:bulletEnabled val="1"/>
        </dgm:presLayoutVars>
      </dgm:prSet>
      <dgm:spPr/>
    </dgm:pt>
    <dgm:pt modelId="{9141BEA7-7B4A-4304-8925-B63A9AF3411B}" type="pres">
      <dgm:prSet presAssocID="{674DEB51-917B-4DDA-94D1-5F9FDE17ADEC}" presName="sibTrans" presStyleLbl="sibTrans1D1" presStyleIdx="2" presStyleCnt="6"/>
      <dgm:spPr/>
    </dgm:pt>
    <dgm:pt modelId="{C4B197D2-A124-4B59-91DA-D8310805B3E7}" type="pres">
      <dgm:prSet presAssocID="{674DEB51-917B-4DDA-94D1-5F9FDE17ADEC}" presName="connectorText" presStyleLbl="sibTrans1D1" presStyleIdx="2" presStyleCnt="6"/>
      <dgm:spPr/>
    </dgm:pt>
    <dgm:pt modelId="{EC8E710E-BCD4-495F-A949-2B6E5129AD46}" type="pres">
      <dgm:prSet presAssocID="{7428CB93-237D-4B68-B87A-F1EFECB80C33}" presName="node" presStyleLbl="node1" presStyleIdx="3" presStyleCnt="7">
        <dgm:presLayoutVars>
          <dgm:bulletEnabled val="1"/>
        </dgm:presLayoutVars>
      </dgm:prSet>
      <dgm:spPr/>
    </dgm:pt>
    <dgm:pt modelId="{BFD743BD-EFF0-45C6-9BAF-89E7DA51907A}" type="pres">
      <dgm:prSet presAssocID="{D1285F94-671B-4759-9868-D9EF3A1E9B18}" presName="sibTrans" presStyleLbl="sibTrans1D1" presStyleIdx="3" presStyleCnt="6"/>
      <dgm:spPr/>
    </dgm:pt>
    <dgm:pt modelId="{A5BA2932-77D4-4A2A-B4E8-37E119A170AF}" type="pres">
      <dgm:prSet presAssocID="{D1285F94-671B-4759-9868-D9EF3A1E9B18}" presName="connectorText" presStyleLbl="sibTrans1D1" presStyleIdx="3" presStyleCnt="6"/>
      <dgm:spPr/>
    </dgm:pt>
    <dgm:pt modelId="{CA11E789-0F41-402F-9042-34D317A300E5}" type="pres">
      <dgm:prSet presAssocID="{833978B8-51C4-48B5-91A4-41D2F39FC8DA}" presName="node" presStyleLbl="node1" presStyleIdx="4" presStyleCnt="7">
        <dgm:presLayoutVars>
          <dgm:bulletEnabled val="1"/>
        </dgm:presLayoutVars>
      </dgm:prSet>
      <dgm:spPr/>
    </dgm:pt>
    <dgm:pt modelId="{99BADF59-CE3A-4EE1-BC1A-CBCD5C868BA8}" type="pres">
      <dgm:prSet presAssocID="{BF4DC73E-5973-4B01-9975-E0355144FA8C}" presName="sibTrans" presStyleLbl="sibTrans1D1" presStyleIdx="4" presStyleCnt="6"/>
      <dgm:spPr/>
    </dgm:pt>
    <dgm:pt modelId="{8CC22176-4E35-4317-8982-AA36AD2F726D}" type="pres">
      <dgm:prSet presAssocID="{BF4DC73E-5973-4B01-9975-E0355144FA8C}" presName="connectorText" presStyleLbl="sibTrans1D1" presStyleIdx="4" presStyleCnt="6"/>
      <dgm:spPr/>
    </dgm:pt>
    <dgm:pt modelId="{9E3B7526-E93B-47CB-A1B2-4E364E905646}" type="pres">
      <dgm:prSet presAssocID="{0EA8E7CB-3CA5-4267-8BF1-8A1306D918CA}" presName="node" presStyleLbl="node1" presStyleIdx="5" presStyleCnt="7">
        <dgm:presLayoutVars>
          <dgm:bulletEnabled val="1"/>
        </dgm:presLayoutVars>
      </dgm:prSet>
      <dgm:spPr/>
    </dgm:pt>
    <dgm:pt modelId="{CDBF7DD2-3261-4135-BE5D-17EB8011D30A}" type="pres">
      <dgm:prSet presAssocID="{C31E00E8-D137-414E-9BCC-ADA69C506C4A}" presName="sibTrans" presStyleLbl="sibTrans1D1" presStyleIdx="5" presStyleCnt="6"/>
      <dgm:spPr/>
    </dgm:pt>
    <dgm:pt modelId="{0AB2CA2F-1582-43B3-BB91-82BB797AA6A4}" type="pres">
      <dgm:prSet presAssocID="{C31E00E8-D137-414E-9BCC-ADA69C506C4A}" presName="connectorText" presStyleLbl="sibTrans1D1" presStyleIdx="5" presStyleCnt="6"/>
      <dgm:spPr/>
    </dgm:pt>
    <dgm:pt modelId="{25DAA599-9C82-42CB-B164-4241A7500440}" type="pres">
      <dgm:prSet presAssocID="{E79EF6D3-0169-41F9-9749-B78F3128CA7F}" presName="node" presStyleLbl="node1" presStyleIdx="6" presStyleCnt="7">
        <dgm:presLayoutVars>
          <dgm:bulletEnabled val="1"/>
        </dgm:presLayoutVars>
      </dgm:prSet>
      <dgm:spPr/>
    </dgm:pt>
  </dgm:ptLst>
  <dgm:cxnLst>
    <dgm:cxn modelId="{09C7E127-3DCA-428C-AB55-3E1429D17589}" type="presOf" srcId="{D1285F94-671B-4759-9868-D9EF3A1E9B18}" destId="{BFD743BD-EFF0-45C6-9BAF-89E7DA51907A}" srcOrd="0" destOrd="0" presId="urn:microsoft.com/office/officeart/2016/7/layout/RepeatingBendingProcessNew"/>
    <dgm:cxn modelId="{EDD65F28-8D1C-47A9-A570-AD3C7561045B}" srcId="{8562EF81-3AB8-4C90-A1F8-8EE62F77275C}" destId="{A04E9776-4F38-43D5-B81C-646F29C1F4C4}" srcOrd="0" destOrd="0" parTransId="{F5338C37-9083-488C-A1C0-D880F6B27BD6}" sibTransId="{89582D9D-6407-4FFE-B625-70666F838C27}"/>
    <dgm:cxn modelId="{EDF2DC35-725E-40B5-8D54-96B8258CD2BC}" srcId="{8562EF81-3AB8-4C90-A1F8-8EE62F77275C}" destId="{6B712188-5C09-4983-8A2F-5B446C833843}" srcOrd="1" destOrd="0" parTransId="{7DA99C38-EED7-4B8C-9306-7B2EB1397CAF}" sibTransId="{9633AD13-D1DD-4932-83D2-719B0A2AF8CD}"/>
    <dgm:cxn modelId="{0C7FD161-1721-43B0-8ECF-8CA5EC1012AD}" srcId="{8562EF81-3AB8-4C90-A1F8-8EE62F77275C}" destId="{A95E8643-6C23-4213-9E81-BF6421135E43}" srcOrd="2" destOrd="0" parTransId="{274CC212-0117-44A9-97C2-5FDEFFF50BCC}" sibTransId="{674DEB51-917B-4DDA-94D1-5F9FDE17ADEC}"/>
    <dgm:cxn modelId="{8FB72142-B58D-4F0E-8250-973582BCB849}" type="presOf" srcId="{0EA8E7CB-3CA5-4267-8BF1-8A1306D918CA}" destId="{9E3B7526-E93B-47CB-A1B2-4E364E905646}" srcOrd="0" destOrd="0" presId="urn:microsoft.com/office/officeart/2016/7/layout/RepeatingBendingProcessNew"/>
    <dgm:cxn modelId="{5F6E7E43-D584-47F2-BE1E-9BF007094688}" srcId="{8562EF81-3AB8-4C90-A1F8-8EE62F77275C}" destId="{0EA8E7CB-3CA5-4267-8BF1-8A1306D918CA}" srcOrd="5" destOrd="0" parTransId="{2E0ADF03-D51C-4FB7-A1DF-F60F0CF63F6C}" sibTransId="{C31E00E8-D137-414E-9BCC-ADA69C506C4A}"/>
    <dgm:cxn modelId="{2CAF9069-97E5-4511-AC40-126FA0F52309}" type="presOf" srcId="{8562EF81-3AB8-4C90-A1F8-8EE62F77275C}" destId="{154034E3-2D40-4078-A50C-6D664DCE83CD}" srcOrd="0" destOrd="0" presId="urn:microsoft.com/office/officeart/2016/7/layout/RepeatingBendingProcessNew"/>
    <dgm:cxn modelId="{E5B02474-2B32-4220-94C3-AD92AE5E5A05}" type="presOf" srcId="{674DEB51-917B-4DDA-94D1-5F9FDE17ADEC}" destId="{C4B197D2-A124-4B59-91DA-D8310805B3E7}" srcOrd="1" destOrd="0" presId="urn:microsoft.com/office/officeart/2016/7/layout/RepeatingBendingProcessNew"/>
    <dgm:cxn modelId="{10B99A58-C37A-425F-B7F8-8D841BA7EA28}" type="presOf" srcId="{9633AD13-D1DD-4932-83D2-719B0A2AF8CD}" destId="{555D8ED2-17F5-4C57-8C2C-009052BB2C43}" srcOrd="0" destOrd="0" presId="urn:microsoft.com/office/officeart/2016/7/layout/RepeatingBendingProcessNew"/>
    <dgm:cxn modelId="{A4160C83-5FD8-4331-8DB4-2FA5BB0628A9}" type="presOf" srcId="{89582D9D-6407-4FFE-B625-70666F838C27}" destId="{58644490-3DF2-4A76-AD6C-C076848F2FC8}" srcOrd="0" destOrd="0" presId="urn:microsoft.com/office/officeart/2016/7/layout/RepeatingBendingProcessNew"/>
    <dgm:cxn modelId="{84BDA985-91AD-413C-908C-D4FD9DA8B13F}" srcId="{8562EF81-3AB8-4C90-A1F8-8EE62F77275C}" destId="{7428CB93-237D-4B68-B87A-F1EFECB80C33}" srcOrd="3" destOrd="0" parTransId="{4D8DB93A-2B0D-434A-993B-9B2C2462DBD7}" sibTransId="{D1285F94-671B-4759-9868-D9EF3A1E9B18}"/>
    <dgm:cxn modelId="{B84FF88E-C36A-4AD0-970A-B01EA6E30D13}" type="presOf" srcId="{833978B8-51C4-48B5-91A4-41D2F39FC8DA}" destId="{CA11E789-0F41-402F-9042-34D317A300E5}" srcOrd="0" destOrd="0" presId="urn:microsoft.com/office/officeart/2016/7/layout/RepeatingBendingProcessNew"/>
    <dgm:cxn modelId="{5611E297-FF2C-4EE4-A11A-E1BAAF295B73}" srcId="{8562EF81-3AB8-4C90-A1F8-8EE62F77275C}" destId="{E79EF6D3-0169-41F9-9749-B78F3128CA7F}" srcOrd="6" destOrd="0" parTransId="{FB481A7F-7B9D-45C4-848C-7312ED61740F}" sibTransId="{5201A1B5-11FE-41DA-B1F5-58E06130D528}"/>
    <dgm:cxn modelId="{CEBB649B-0C73-43D6-A5BB-D63DBF150567}" type="presOf" srcId="{A95E8643-6C23-4213-9E81-BF6421135E43}" destId="{BF2576F9-9E4C-4863-8B83-56BBCD14C2CF}" srcOrd="0" destOrd="0" presId="urn:microsoft.com/office/officeart/2016/7/layout/RepeatingBendingProcessNew"/>
    <dgm:cxn modelId="{0FDF2A9C-1D28-433B-B2B0-FACB65B5ED65}" srcId="{8562EF81-3AB8-4C90-A1F8-8EE62F77275C}" destId="{833978B8-51C4-48B5-91A4-41D2F39FC8DA}" srcOrd="4" destOrd="0" parTransId="{432C4C03-82BB-45EF-9FD2-3D912B4A126F}" sibTransId="{BF4DC73E-5973-4B01-9975-E0355144FA8C}"/>
    <dgm:cxn modelId="{6ABBD89E-C57D-4444-85AE-B96764223B03}" type="presOf" srcId="{BF4DC73E-5973-4B01-9975-E0355144FA8C}" destId="{99BADF59-CE3A-4EE1-BC1A-CBCD5C868BA8}" srcOrd="0" destOrd="0" presId="urn:microsoft.com/office/officeart/2016/7/layout/RepeatingBendingProcessNew"/>
    <dgm:cxn modelId="{198A28AC-F7AD-4B33-B9BF-767A84DD551E}" type="presOf" srcId="{7428CB93-237D-4B68-B87A-F1EFECB80C33}" destId="{EC8E710E-BCD4-495F-A949-2B6E5129AD46}" srcOrd="0" destOrd="0" presId="urn:microsoft.com/office/officeart/2016/7/layout/RepeatingBendingProcessNew"/>
    <dgm:cxn modelId="{E8739FB5-DE52-4351-9A22-8CB897A92502}" type="presOf" srcId="{89582D9D-6407-4FFE-B625-70666F838C27}" destId="{B77EE2F8-76DF-4143-BD83-E7A440A1D55F}" srcOrd="1" destOrd="0" presId="urn:microsoft.com/office/officeart/2016/7/layout/RepeatingBendingProcessNew"/>
    <dgm:cxn modelId="{21C0FFB6-4D1F-42E3-8AFA-50B7F6FF6CD6}" type="presOf" srcId="{9633AD13-D1DD-4932-83D2-719B0A2AF8CD}" destId="{EA354375-9E49-4FD7-BDC6-ACD04704FF00}" srcOrd="1" destOrd="0" presId="urn:microsoft.com/office/officeart/2016/7/layout/RepeatingBendingProcessNew"/>
    <dgm:cxn modelId="{7638E3B7-DC44-4556-BBDC-AE6E7E38608A}" type="presOf" srcId="{6B712188-5C09-4983-8A2F-5B446C833843}" destId="{A7BD0AC1-B0AE-4BA3-811E-03DA1F4612C8}" srcOrd="0" destOrd="0" presId="urn:microsoft.com/office/officeart/2016/7/layout/RepeatingBendingProcessNew"/>
    <dgm:cxn modelId="{BE8E05C9-E396-481E-B25E-C6A1B930944D}" type="presOf" srcId="{E79EF6D3-0169-41F9-9749-B78F3128CA7F}" destId="{25DAA599-9C82-42CB-B164-4241A7500440}" srcOrd="0" destOrd="0" presId="urn:microsoft.com/office/officeart/2016/7/layout/RepeatingBendingProcessNew"/>
    <dgm:cxn modelId="{67E314CD-5583-42B7-8F3C-387F61034601}" type="presOf" srcId="{C31E00E8-D137-414E-9BCC-ADA69C506C4A}" destId="{CDBF7DD2-3261-4135-BE5D-17EB8011D30A}" srcOrd="0" destOrd="0" presId="urn:microsoft.com/office/officeart/2016/7/layout/RepeatingBendingProcessNew"/>
    <dgm:cxn modelId="{C3128AD4-FCD2-4F92-A812-82DB7FC6398D}" type="presOf" srcId="{674DEB51-917B-4DDA-94D1-5F9FDE17ADEC}" destId="{9141BEA7-7B4A-4304-8925-B63A9AF3411B}" srcOrd="0" destOrd="0" presId="urn:microsoft.com/office/officeart/2016/7/layout/RepeatingBendingProcessNew"/>
    <dgm:cxn modelId="{27E092E2-454E-446C-984E-04615A8185BB}" type="presOf" srcId="{C31E00E8-D137-414E-9BCC-ADA69C506C4A}" destId="{0AB2CA2F-1582-43B3-BB91-82BB797AA6A4}" srcOrd="1" destOrd="0" presId="urn:microsoft.com/office/officeart/2016/7/layout/RepeatingBendingProcessNew"/>
    <dgm:cxn modelId="{151304EF-8ABF-4C49-96D0-77DF85482EEC}" type="presOf" srcId="{BF4DC73E-5973-4B01-9975-E0355144FA8C}" destId="{8CC22176-4E35-4317-8982-AA36AD2F726D}" srcOrd="1" destOrd="0" presId="urn:microsoft.com/office/officeart/2016/7/layout/RepeatingBendingProcessNew"/>
    <dgm:cxn modelId="{A99222F1-9C17-4FFF-AF69-53577AEB6473}" type="presOf" srcId="{D1285F94-671B-4759-9868-D9EF3A1E9B18}" destId="{A5BA2932-77D4-4A2A-B4E8-37E119A170AF}" srcOrd="1" destOrd="0" presId="urn:microsoft.com/office/officeart/2016/7/layout/RepeatingBendingProcessNew"/>
    <dgm:cxn modelId="{F9A678F4-521C-4E61-AC85-2E266CA6A38E}" type="presOf" srcId="{A04E9776-4F38-43D5-B81C-646F29C1F4C4}" destId="{513001A4-E0C7-47E0-8E5A-D37FF9769EB5}" srcOrd="0" destOrd="0" presId="urn:microsoft.com/office/officeart/2016/7/layout/RepeatingBendingProcessNew"/>
    <dgm:cxn modelId="{558EE5D1-35F6-425B-B269-8FD70C6AB41A}" type="presParOf" srcId="{154034E3-2D40-4078-A50C-6D664DCE83CD}" destId="{513001A4-E0C7-47E0-8E5A-D37FF9769EB5}" srcOrd="0" destOrd="0" presId="urn:microsoft.com/office/officeart/2016/7/layout/RepeatingBendingProcessNew"/>
    <dgm:cxn modelId="{B2C64A7C-8104-4C22-A0CD-9997832C8D79}" type="presParOf" srcId="{154034E3-2D40-4078-A50C-6D664DCE83CD}" destId="{58644490-3DF2-4A76-AD6C-C076848F2FC8}" srcOrd="1" destOrd="0" presId="urn:microsoft.com/office/officeart/2016/7/layout/RepeatingBendingProcessNew"/>
    <dgm:cxn modelId="{40E6AC05-9834-4086-A734-8815DEF44689}" type="presParOf" srcId="{58644490-3DF2-4A76-AD6C-C076848F2FC8}" destId="{B77EE2F8-76DF-4143-BD83-E7A440A1D55F}" srcOrd="0" destOrd="0" presId="urn:microsoft.com/office/officeart/2016/7/layout/RepeatingBendingProcessNew"/>
    <dgm:cxn modelId="{8714972A-3A15-4F1E-A015-691920DD5506}" type="presParOf" srcId="{154034E3-2D40-4078-A50C-6D664DCE83CD}" destId="{A7BD0AC1-B0AE-4BA3-811E-03DA1F4612C8}" srcOrd="2" destOrd="0" presId="urn:microsoft.com/office/officeart/2016/7/layout/RepeatingBendingProcessNew"/>
    <dgm:cxn modelId="{6FBA2803-9960-46FC-895D-06E34D16A627}" type="presParOf" srcId="{154034E3-2D40-4078-A50C-6D664DCE83CD}" destId="{555D8ED2-17F5-4C57-8C2C-009052BB2C43}" srcOrd="3" destOrd="0" presId="urn:microsoft.com/office/officeart/2016/7/layout/RepeatingBendingProcessNew"/>
    <dgm:cxn modelId="{748CA487-1837-4E92-8CB2-2241E11E68C8}" type="presParOf" srcId="{555D8ED2-17F5-4C57-8C2C-009052BB2C43}" destId="{EA354375-9E49-4FD7-BDC6-ACD04704FF00}" srcOrd="0" destOrd="0" presId="urn:microsoft.com/office/officeart/2016/7/layout/RepeatingBendingProcessNew"/>
    <dgm:cxn modelId="{0199F3B6-3080-42AE-AA02-383093DAEF7E}" type="presParOf" srcId="{154034E3-2D40-4078-A50C-6D664DCE83CD}" destId="{BF2576F9-9E4C-4863-8B83-56BBCD14C2CF}" srcOrd="4" destOrd="0" presId="urn:microsoft.com/office/officeart/2016/7/layout/RepeatingBendingProcessNew"/>
    <dgm:cxn modelId="{00ADE481-2429-4FAF-8F3D-9D24C0F49D8E}" type="presParOf" srcId="{154034E3-2D40-4078-A50C-6D664DCE83CD}" destId="{9141BEA7-7B4A-4304-8925-B63A9AF3411B}" srcOrd="5" destOrd="0" presId="urn:microsoft.com/office/officeart/2016/7/layout/RepeatingBendingProcessNew"/>
    <dgm:cxn modelId="{BE02F38F-A785-475F-AB55-6B55279F49F0}" type="presParOf" srcId="{9141BEA7-7B4A-4304-8925-B63A9AF3411B}" destId="{C4B197D2-A124-4B59-91DA-D8310805B3E7}" srcOrd="0" destOrd="0" presId="urn:microsoft.com/office/officeart/2016/7/layout/RepeatingBendingProcessNew"/>
    <dgm:cxn modelId="{F91EDBF1-8C3C-43CB-913B-F02FBAFDA4F1}" type="presParOf" srcId="{154034E3-2D40-4078-A50C-6D664DCE83CD}" destId="{EC8E710E-BCD4-495F-A949-2B6E5129AD46}" srcOrd="6" destOrd="0" presId="urn:microsoft.com/office/officeart/2016/7/layout/RepeatingBendingProcessNew"/>
    <dgm:cxn modelId="{AC9C5D05-D00E-4184-B7A4-DAF9D88AC608}" type="presParOf" srcId="{154034E3-2D40-4078-A50C-6D664DCE83CD}" destId="{BFD743BD-EFF0-45C6-9BAF-89E7DA51907A}" srcOrd="7" destOrd="0" presId="urn:microsoft.com/office/officeart/2016/7/layout/RepeatingBendingProcessNew"/>
    <dgm:cxn modelId="{A39CA088-60DA-4E2E-BD88-29B0229239FE}" type="presParOf" srcId="{BFD743BD-EFF0-45C6-9BAF-89E7DA51907A}" destId="{A5BA2932-77D4-4A2A-B4E8-37E119A170AF}" srcOrd="0" destOrd="0" presId="urn:microsoft.com/office/officeart/2016/7/layout/RepeatingBendingProcessNew"/>
    <dgm:cxn modelId="{A146C847-57C8-4D86-8C9C-0AFA8FA495E9}" type="presParOf" srcId="{154034E3-2D40-4078-A50C-6D664DCE83CD}" destId="{CA11E789-0F41-402F-9042-34D317A300E5}" srcOrd="8" destOrd="0" presId="urn:microsoft.com/office/officeart/2016/7/layout/RepeatingBendingProcessNew"/>
    <dgm:cxn modelId="{DAE2387B-1E25-4B0F-82CB-784916BFEF18}" type="presParOf" srcId="{154034E3-2D40-4078-A50C-6D664DCE83CD}" destId="{99BADF59-CE3A-4EE1-BC1A-CBCD5C868BA8}" srcOrd="9" destOrd="0" presId="urn:microsoft.com/office/officeart/2016/7/layout/RepeatingBendingProcessNew"/>
    <dgm:cxn modelId="{18C1DEB9-FB9A-40F3-B4F6-C156EFE73737}" type="presParOf" srcId="{99BADF59-CE3A-4EE1-BC1A-CBCD5C868BA8}" destId="{8CC22176-4E35-4317-8982-AA36AD2F726D}" srcOrd="0" destOrd="0" presId="urn:microsoft.com/office/officeart/2016/7/layout/RepeatingBendingProcessNew"/>
    <dgm:cxn modelId="{D33B2380-8BBB-4A0E-8045-5D110164B578}" type="presParOf" srcId="{154034E3-2D40-4078-A50C-6D664DCE83CD}" destId="{9E3B7526-E93B-47CB-A1B2-4E364E905646}" srcOrd="10" destOrd="0" presId="urn:microsoft.com/office/officeart/2016/7/layout/RepeatingBendingProcessNew"/>
    <dgm:cxn modelId="{94C9F9E8-0F5B-4920-9CF8-240EE9A64D31}" type="presParOf" srcId="{154034E3-2D40-4078-A50C-6D664DCE83CD}" destId="{CDBF7DD2-3261-4135-BE5D-17EB8011D30A}" srcOrd="11" destOrd="0" presId="urn:microsoft.com/office/officeart/2016/7/layout/RepeatingBendingProcessNew"/>
    <dgm:cxn modelId="{3D09E582-21AB-43C2-9472-10803EEDA602}" type="presParOf" srcId="{CDBF7DD2-3261-4135-BE5D-17EB8011D30A}" destId="{0AB2CA2F-1582-43B3-BB91-82BB797AA6A4}" srcOrd="0" destOrd="0" presId="urn:microsoft.com/office/officeart/2016/7/layout/RepeatingBendingProcessNew"/>
    <dgm:cxn modelId="{B7AF28C5-0EB6-4491-99A3-8045E9545B0F}" type="presParOf" srcId="{154034E3-2D40-4078-A50C-6D664DCE83CD}" destId="{25DAA599-9C82-42CB-B164-4241A7500440}" srcOrd="1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62EF81-3AB8-4C90-A1F8-8EE62F77275C}" type="doc">
      <dgm:prSet loTypeId="urn:microsoft.com/office/officeart/2016/7/layout/RepeatingBendingProcessNew" loCatId="process" qsTypeId="urn:microsoft.com/office/officeart/2005/8/quickstyle/simple1" qsCatId="simple" csTypeId="urn:microsoft.com/office/officeart/2005/8/colors/accent1_2" csCatId="accent1" phldr="1"/>
      <dgm:spPr/>
      <dgm:t>
        <a:bodyPr/>
        <a:lstStyle/>
        <a:p>
          <a:endParaRPr lang="en-US"/>
        </a:p>
      </dgm:t>
    </dgm:pt>
    <dgm:pt modelId="{A04E9776-4F38-43D5-B81C-646F29C1F4C4}">
      <dgm:prSet/>
      <dgm:spPr/>
      <dgm:t>
        <a:bodyPr/>
        <a:lstStyle/>
        <a:p>
          <a:r>
            <a:rPr lang="en-US" dirty="0"/>
            <a:t>A deep learning-based model using Bidirectional LSTM for sentiment analysis</a:t>
          </a:r>
        </a:p>
      </dgm:t>
    </dgm:pt>
    <dgm:pt modelId="{F5338C37-9083-488C-A1C0-D880F6B27BD6}" type="parTrans" cxnId="{EDD65F28-8D1C-47A9-A570-AD3C7561045B}">
      <dgm:prSet/>
      <dgm:spPr/>
      <dgm:t>
        <a:bodyPr/>
        <a:lstStyle/>
        <a:p>
          <a:endParaRPr lang="en-US"/>
        </a:p>
      </dgm:t>
    </dgm:pt>
    <dgm:pt modelId="{89582D9D-6407-4FFE-B625-70666F838C27}" type="sibTrans" cxnId="{EDD65F28-8D1C-47A9-A570-AD3C7561045B}">
      <dgm:prSet/>
      <dgm:spPr/>
      <dgm:t>
        <a:bodyPr/>
        <a:lstStyle/>
        <a:p>
          <a:endParaRPr lang="en-US"/>
        </a:p>
      </dgm:t>
    </dgm:pt>
    <dgm:pt modelId="{6B712188-5C09-4983-8A2F-5B446C833843}">
      <dgm:prSet/>
      <dgm:spPr/>
      <dgm:t>
        <a:bodyPr/>
        <a:lstStyle/>
        <a:p>
          <a:r>
            <a:rPr lang="en-US" b="1" dirty="0"/>
            <a:t>Purpose</a:t>
          </a:r>
          <a:r>
            <a:rPr lang="en-US" dirty="0"/>
            <a:t>: Captures context from both directions to classify sentiment as positive, negative or neutral.</a:t>
          </a:r>
        </a:p>
      </dgm:t>
    </dgm:pt>
    <dgm:pt modelId="{7DA99C38-EED7-4B8C-9306-7B2EB1397CAF}" type="parTrans" cxnId="{EDF2DC35-725E-40B5-8D54-96B8258CD2BC}">
      <dgm:prSet/>
      <dgm:spPr/>
      <dgm:t>
        <a:bodyPr/>
        <a:lstStyle/>
        <a:p>
          <a:endParaRPr lang="en-US"/>
        </a:p>
      </dgm:t>
    </dgm:pt>
    <dgm:pt modelId="{9633AD13-D1DD-4932-83D2-719B0A2AF8CD}" type="sibTrans" cxnId="{EDF2DC35-725E-40B5-8D54-96B8258CD2BC}">
      <dgm:prSet/>
      <dgm:spPr/>
      <dgm:t>
        <a:bodyPr/>
        <a:lstStyle/>
        <a:p>
          <a:endParaRPr lang="en-US"/>
        </a:p>
      </dgm:t>
    </dgm:pt>
    <dgm:pt modelId="{A95E8643-6C23-4213-9E81-BF6421135E43}">
      <dgm:prSet/>
      <dgm:spPr/>
      <dgm:t>
        <a:bodyPr/>
        <a:lstStyle/>
        <a:p>
          <a:r>
            <a:rPr lang="en-US" b="1" dirty="0"/>
            <a:t>Outputs Sentiment Scores</a:t>
          </a:r>
          <a:r>
            <a:rPr lang="en-US" dirty="0"/>
            <a:t>: Uses word embeddings to convert text into numerical form.  </a:t>
          </a:r>
        </a:p>
      </dgm:t>
    </dgm:pt>
    <dgm:pt modelId="{274CC212-0117-44A9-97C2-5FDEFFF50BCC}" type="parTrans" cxnId="{0C7FD161-1721-43B0-8ECF-8CA5EC1012AD}">
      <dgm:prSet/>
      <dgm:spPr/>
      <dgm:t>
        <a:bodyPr/>
        <a:lstStyle/>
        <a:p>
          <a:endParaRPr lang="en-US"/>
        </a:p>
      </dgm:t>
    </dgm:pt>
    <dgm:pt modelId="{674DEB51-917B-4DDA-94D1-5F9FDE17ADEC}" type="sibTrans" cxnId="{0C7FD161-1721-43B0-8ECF-8CA5EC1012AD}">
      <dgm:prSet/>
      <dgm:spPr/>
      <dgm:t>
        <a:bodyPr/>
        <a:lstStyle/>
        <a:p>
          <a:endParaRPr lang="en-US"/>
        </a:p>
      </dgm:t>
    </dgm:pt>
    <dgm:pt modelId="{7428CB93-237D-4B68-B87A-F1EFECB80C33}">
      <dgm:prSet/>
      <dgm:spPr/>
      <dgm:t>
        <a:bodyPr/>
        <a:lstStyle/>
        <a:p>
          <a:r>
            <a:rPr lang="en-IN" b="1" dirty="0"/>
            <a:t>Positive: </a:t>
          </a:r>
          <a:r>
            <a:rPr lang="en-IN" b="0" dirty="0"/>
            <a:t>Detected when model identifies positive pattern in word sequence.</a:t>
          </a:r>
          <a:endParaRPr lang="en-US" dirty="0"/>
        </a:p>
      </dgm:t>
    </dgm:pt>
    <dgm:pt modelId="{4D8DB93A-2B0D-434A-993B-9B2C2462DBD7}" type="parTrans" cxnId="{84BDA985-91AD-413C-908C-D4FD9DA8B13F}">
      <dgm:prSet/>
      <dgm:spPr/>
      <dgm:t>
        <a:bodyPr/>
        <a:lstStyle/>
        <a:p>
          <a:endParaRPr lang="en-US"/>
        </a:p>
      </dgm:t>
    </dgm:pt>
    <dgm:pt modelId="{D1285F94-671B-4759-9868-D9EF3A1E9B18}" type="sibTrans" cxnId="{84BDA985-91AD-413C-908C-D4FD9DA8B13F}">
      <dgm:prSet/>
      <dgm:spPr/>
      <dgm:t>
        <a:bodyPr/>
        <a:lstStyle/>
        <a:p>
          <a:endParaRPr lang="en-US"/>
        </a:p>
      </dgm:t>
    </dgm:pt>
    <dgm:pt modelId="{833978B8-51C4-48B5-91A4-41D2F39FC8DA}">
      <dgm:prSet/>
      <dgm:spPr/>
      <dgm:t>
        <a:bodyPr/>
        <a:lstStyle/>
        <a:p>
          <a:r>
            <a:rPr lang="en-IN" b="1" dirty="0"/>
            <a:t>Negative: </a:t>
          </a:r>
          <a:r>
            <a:rPr lang="en-IN" b="0" dirty="0"/>
            <a:t>Detected from patterns linked to negative expressions.</a:t>
          </a:r>
          <a:endParaRPr lang="en-US" dirty="0"/>
        </a:p>
      </dgm:t>
    </dgm:pt>
    <dgm:pt modelId="{432C4C03-82BB-45EF-9FD2-3D912B4A126F}" type="parTrans" cxnId="{0FDF2A9C-1D28-433B-B2B0-FACB65B5ED65}">
      <dgm:prSet/>
      <dgm:spPr/>
      <dgm:t>
        <a:bodyPr/>
        <a:lstStyle/>
        <a:p>
          <a:endParaRPr lang="en-US"/>
        </a:p>
      </dgm:t>
    </dgm:pt>
    <dgm:pt modelId="{BF4DC73E-5973-4B01-9975-E0355144FA8C}" type="sibTrans" cxnId="{0FDF2A9C-1D28-433B-B2B0-FACB65B5ED65}">
      <dgm:prSet/>
      <dgm:spPr/>
      <dgm:t>
        <a:bodyPr/>
        <a:lstStyle/>
        <a:p>
          <a:endParaRPr lang="en-US"/>
        </a:p>
      </dgm:t>
    </dgm:pt>
    <dgm:pt modelId="{0EA8E7CB-3CA5-4267-8BF1-8A1306D918CA}">
      <dgm:prSet/>
      <dgm:spPr/>
      <dgm:t>
        <a:bodyPr/>
        <a:lstStyle/>
        <a:p>
          <a:r>
            <a:rPr lang="en-US" b="1" dirty="0"/>
            <a:t>Neutral</a:t>
          </a:r>
          <a:r>
            <a:rPr lang="en-US" dirty="0"/>
            <a:t>: Output when no strong sentiment is found.</a:t>
          </a:r>
        </a:p>
      </dgm:t>
    </dgm:pt>
    <dgm:pt modelId="{2E0ADF03-D51C-4FB7-A1DF-F60F0CF63F6C}" type="parTrans" cxnId="{5F6E7E43-D584-47F2-BE1E-9BF007094688}">
      <dgm:prSet/>
      <dgm:spPr/>
      <dgm:t>
        <a:bodyPr/>
        <a:lstStyle/>
        <a:p>
          <a:endParaRPr lang="en-US"/>
        </a:p>
      </dgm:t>
    </dgm:pt>
    <dgm:pt modelId="{C31E00E8-D137-414E-9BCC-ADA69C506C4A}" type="sibTrans" cxnId="{5F6E7E43-D584-47F2-BE1E-9BF007094688}">
      <dgm:prSet/>
      <dgm:spPr/>
      <dgm:t>
        <a:bodyPr/>
        <a:lstStyle/>
        <a:p>
          <a:endParaRPr lang="en-US"/>
        </a:p>
      </dgm:t>
    </dgm:pt>
    <dgm:pt modelId="{E79EF6D3-0169-41F9-9749-B78F3128CA7F}">
      <dgm:prSet/>
      <dgm:spPr/>
      <dgm:t>
        <a:bodyPr/>
        <a:lstStyle/>
        <a:p>
          <a:r>
            <a:rPr lang="en-US" b="1" dirty="0"/>
            <a:t>Final Output:</a:t>
          </a:r>
          <a:r>
            <a:rPr lang="en-US" dirty="0"/>
            <a:t> Probabilities for each class (e.g., Positive: 0.75, Negative: 0.15, Neutral: 0.10)</a:t>
          </a:r>
        </a:p>
      </dgm:t>
    </dgm:pt>
    <dgm:pt modelId="{FB481A7F-7B9D-45C4-848C-7312ED61740F}" type="parTrans" cxnId="{5611E297-FF2C-4EE4-A11A-E1BAAF295B73}">
      <dgm:prSet/>
      <dgm:spPr/>
      <dgm:t>
        <a:bodyPr/>
        <a:lstStyle/>
        <a:p>
          <a:endParaRPr lang="en-US"/>
        </a:p>
      </dgm:t>
    </dgm:pt>
    <dgm:pt modelId="{5201A1B5-11FE-41DA-B1F5-58E06130D528}" type="sibTrans" cxnId="{5611E297-FF2C-4EE4-A11A-E1BAAF295B73}">
      <dgm:prSet/>
      <dgm:spPr/>
      <dgm:t>
        <a:bodyPr/>
        <a:lstStyle/>
        <a:p>
          <a:endParaRPr lang="en-US"/>
        </a:p>
      </dgm:t>
    </dgm:pt>
    <dgm:pt modelId="{154034E3-2D40-4078-A50C-6D664DCE83CD}" type="pres">
      <dgm:prSet presAssocID="{8562EF81-3AB8-4C90-A1F8-8EE62F77275C}" presName="Name0" presStyleCnt="0">
        <dgm:presLayoutVars>
          <dgm:dir/>
          <dgm:resizeHandles val="exact"/>
        </dgm:presLayoutVars>
      </dgm:prSet>
      <dgm:spPr/>
    </dgm:pt>
    <dgm:pt modelId="{513001A4-E0C7-47E0-8E5A-D37FF9769EB5}" type="pres">
      <dgm:prSet presAssocID="{A04E9776-4F38-43D5-B81C-646F29C1F4C4}" presName="node" presStyleLbl="node1" presStyleIdx="0" presStyleCnt="7">
        <dgm:presLayoutVars>
          <dgm:bulletEnabled val="1"/>
        </dgm:presLayoutVars>
      </dgm:prSet>
      <dgm:spPr/>
    </dgm:pt>
    <dgm:pt modelId="{58644490-3DF2-4A76-AD6C-C076848F2FC8}" type="pres">
      <dgm:prSet presAssocID="{89582D9D-6407-4FFE-B625-70666F838C27}" presName="sibTrans" presStyleLbl="sibTrans1D1" presStyleIdx="0" presStyleCnt="6"/>
      <dgm:spPr/>
    </dgm:pt>
    <dgm:pt modelId="{B77EE2F8-76DF-4143-BD83-E7A440A1D55F}" type="pres">
      <dgm:prSet presAssocID="{89582D9D-6407-4FFE-B625-70666F838C27}" presName="connectorText" presStyleLbl="sibTrans1D1" presStyleIdx="0" presStyleCnt="6"/>
      <dgm:spPr/>
    </dgm:pt>
    <dgm:pt modelId="{A7BD0AC1-B0AE-4BA3-811E-03DA1F4612C8}" type="pres">
      <dgm:prSet presAssocID="{6B712188-5C09-4983-8A2F-5B446C833843}" presName="node" presStyleLbl="node1" presStyleIdx="1" presStyleCnt="7">
        <dgm:presLayoutVars>
          <dgm:bulletEnabled val="1"/>
        </dgm:presLayoutVars>
      </dgm:prSet>
      <dgm:spPr/>
    </dgm:pt>
    <dgm:pt modelId="{555D8ED2-17F5-4C57-8C2C-009052BB2C43}" type="pres">
      <dgm:prSet presAssocID="{9633AD13-D1DD-4932-83D2-719B0A2AF8CD}" presName="sibTrans" presStyleLbl="sibTrans1D1" presStyleIdx="1" presStyleCnt="6"/>
      <dgm:spPr/>
    </dgm:pt>
    <dgm:pt modelId="{EA354375-9E49-4FD7-BDC6-ACD04704FF00}" type="pres">
      <dgm:prSet presAssocID="{9633AD13-D1DD-4932-83D2-719B0A2AF8CD}" presName="connectorText" presStyleLbl="sibTrans1D1" presStyleIdx="1" presStyleCnt="6"/>
      <dgm:spPr/>
    </dgm:pt>
    <dgm:pt modelId="{BF2576F9-9E4C-4863-8B83-56BBCD14C2CF}" type="pres">
      <dgm:prSet presAssocID="{A95E8643-6C23-4213-9E81-BF6421135E43}" presName="node" presStyleLbl="node1" presStyleIdx="2" presStyleCnt="7">
        <dgm:presLayoutVars>
          <dgm:bulletEnabled val="1"/>
        </dgm:presLayoutVars>
      </dgm:prSet>
      <dgm:spPr/>
    </dgm:pt>
    <dgm:pt modelId="{9141BEA7-7B4A-4304-8925-B63A9AF3411B}" type="pres">
      <dgm:prSet presAssocID="{674DEB51-917B-4DDA-94D1-5F9FDE17ADEC}" presName="sibTrans" presStyleLbl="sibTrans1D1" presStyleIdx="2" presStyleCnt="6"/>
      <dgm:spPr/>
    </dgm:pt>
    <dgm:pt modelId="{C4B197D2-A124-4B59-91DA-D8310805B3E7}" type="pres">
      <dgm:prSet presAssocID="{674DEB51-917B-4DDA-94D1-5F9FDE17ADEC}" presName="connectorText" presStyleLbl="sibTrans1D1" presStyleIdx="2" presStyleCnt="6"/>
      <dgm:spPr/>
    </dgm:pt>
    <dgm:pt modelId="{EC8E710E-BCD4-495F-A949-2B6E5129AD46}" type="pres">
      <dgm:prSet presAssocID="{7428CB93-237D-4B68-B87A-F1EFECB80C33}" presName="node" presStyleLbl="node1" presStyleIdx="3" presStyleCnt="7">
        <dgm:presLayoutVars>
          <dgm:bulletEnabled val="1"/>
        </dgm:presLayoutVars>
      </dgm:prSet>
      <dgm:spPr/>
    </dgm:pt>
    <dgm:pt modelId="{BFD743BD-EFF0-45C6-9BAF-89E7DA51907A}" type="pres">
      <dgm:prSet presAssocID="{D1285F94-671B-4759-9868-D9EF3A1E9B18}" presName="sibTrans" presStyleLbl="sibTrans1D1" presStyleIdx="3" presStyleCnt="6"/>
      <dgm:spPr/>
    </dgm:pt>
    <dgm:pt modelId="{A5BA2932-77D4-4A2A-B4E8-37E119A170AF}" type="pres">
      <dgm:prSet presAssocID="{D1285F94-671B-4759-9868-D9EF3A1E9B18}" presName="connectorText" presStyleLbl="sibTrans1D1" presStyleIdx="3" presStyleCnt="6"/>
      <dgm:spPr/>
    </dgm:pt>
    <dgm:pt modelId="{CA11E789-0F41-402F-9042-34D317A300E5}" type="pres">
      <dgm:prSet presAssocID="{833978B8-51C4-48B5-91A4-41D2F39FC8DA}" presName="node" presStyleLbl="node1" presStyleIdx="4" presStyleCnt="7">
        <dgm:presLayoutVars>
          <dgm:bulletEnabled val="1"/>
        </dgm:presLayoutVars>
      </dgm:prSet>
      <dgm:spPr/>
    </dgm:pt>
    <dgm:pt modelId="{99BADF59-CE3A-4EE1-BC1A-CBCD5C868BA8}" type="pres">
      <dgm:prSet presAssocID="{BF4DC73E-5973-4B01-9975-E0355144FA8C}" presName="sibTrans" presStyleLbl="sibTrans1D1" presStyleIdx="4" presStyleCnt="6"/>
      <dgm:spPr/>
    </dgm:pt>
    <dgm:pt modelId="{8CC22176-4E35-4317-8982-AA36AD2F726D}" type="pres">
      <dgm:prSet presAssocID="{BF4DC73E-5973-4B01-9975-E0355144FA8C}" presName="connectorText" presStyleLbl="sibTrans1D1" presStyleIdx="4" presStyleCnt="6"/>
      <dgm:spPr/>
    </dgm:pt>
    <dgm:pt modelId="{9E3B7526-E93B-47CB-A1B2-4E364E905646}" type="pres">
      <dgm:prSet presAssocID="{0EA8E7CB-3CA5-4267-8BF1-8A1306D918CA}" presName="node" presStyleLbl="node1" presStyleIdx="5" presStyleCnt="7">
        <dgm:presLayoutVars>
          <dgm:bulletEnabled val="1"/>
        </dgm:presLayoutVars>
      </dgm:prSet>
      <dgm:spPr/>
    </dgm:pt>
    <dgm:pt modelId="{CDBF7DD2-3261-4135-BE5D-17EB8011D30A}" type="pres">
      <dgm:prSet presAssocID="{C31E00E8-D137-414E-9BCC-ADA69C506C4A}" presName="sibTrans" presStyleLbl="sibTrans1D1" presStyleIdx="5" presStyleCnt="6"/>
      <dgm:spPr/>
    </dgm:pt>
    <dgm:pt modelId="{0AB2CA2F-1582-43B3-BB91-82BB797AA6A4}" type="pres">
      <dgm:prSet presAssocID="{C31E00E8-D137-414E-9BCC-ADA69C506C4A}" presName="connectorText" presStyleLbl="sibTrans1D1" presStyleIdx="5" presStyleCnt="6"/>
      <dgm:spPr/>
    </dgm:pt>
    <dgm:pt modelId="{25DAA599-9C82-42CB-B164-4241A7500440}" type="pres">
      <dgm:prSet presAssocID="{E79EF6D3-0169-41F9-9749-B78F3128CA7F}" presName="node" presStyleLbl="node1" presStyleIdx="6" presStyleCnt="7" custScaleX="117402">
        <dgm:presLayoutVars>
          <dgm:bulletEnabled val="1"/>
        </dgm:presLayoutVars>
      </dgm:prSet>
      <dgm:spPr/>
    </dgm:pt>
  </dgm:ptLst>
  <dgm:cxnLst>
    <dgm:cxn modelId="{09C7E127-3DCA-428C-AB55-3E1429D17589}" type="presOf" srcId="{D1285F94-671B-4759-9868-D9EF3A1E9B18}" destId="{BFD743BD-EFF0-45C6-9BAF-89E7DA51907A}" srcOrd="0" destOrd="0" presId="urn:microsoft.com/office/officeart/2016/7/layout/RepeatingBendingProcessNew"/>
    <dgm:cxn modelId="{EDD65F28-8D1C-47A9-A570-AD3C7561045B}" srcId="{8562EF81-3AB8-4C90-A1F8-8EE62F77275C}" destId="{A04E9776-4F38-43D5-B81C-646F29C1F4C4}" srcOrd="0" destOrd="0" parTransId="{F5338C37-9083-488C-A1C0-D880F6B27BD6}" sibTransId="{89582D9D-6407-4FFE-B625-70666F838C27}"/>
    <dgm:cxn modelId="{EDF2DC35-725E-40B5-8D54-96B8258CD2BC}" srcId="{8562EF81-3AB8-4C90-A1F8-8EE62F77275C}" destId="{6B712188-5C09-4983-8A2F-5B446C833843}" srcOrd="1" destOrd="0" parTransId="{7DA99C38-EED7-4B8C-9306-7B2EB1397CAF}" sibTransId="{9633AD13-D1DD-4932-83D2-719B0A2AF8CD}"/>
    <dgm:cxn modelId="{0C7FD161-1721-43B0-8ECF-8CA5EC1012AD}" srcId="{8562EF81-3AB8-4C90-A1F8-8EE62F77275C}" destId="{A95E8643-6C23-4213-9E81-BF6421135E43}" srcOrd="2" destOrd="0" parTransId="{274CC212-0117-44A9-97C2-5FDEFFF50BCC}" sibTransId="{674DEB51-917B-4DDA-94D1-5F9FDE17ADEC}"/>
    <dgm:cxn modelId="{8FB72142-B58D-4F0E-8250-973582BCB849}" type="presOf" srcId="{0EA8E7CB-3CA5-4267-8BF1-8A1306D918CA}" destId="{9E3B7526-E93B-47CB-A1B2-4E364E905646}" srcOrd="0" destOrd="0" presId="urn:microsoft.com/office/officeart/2016/7/layout/RepeatingBendingProcessNew"/>
    <dgm:cxn modelId="{5F6E7E43-D584-47F2-BE1E-9BF007094688}" srcId="{8562EF81-3AB8-4C90-A1F8-8EE62F77275C}" destId="{0EA8E7CB-3CA5-4267-8BF1-8A1306D918CA}" srcOrd="5" destOrd="0" parTransId="{2E0ADF03-D51C-4FB7-A1DF-F60F0CF63F6C}" sibTransId="{C31E00E8-D137-414E-9BCC-ADA69C506C4A}"/>
    <dgm:cxn modelId="{2CAF9069-97E5-4511-AC40-126FA0F52309}" type="presOf" srcId="{8562EF81-3AB8-4C90-A1F8-8EE62F77275C}" destId="{154034E3-2D40-4078-A50C-6D664DCE83CD}" srcOrd="0" destOrd="0" presId="urn:microsoft.com/office/officeart/2016/7/layout/RepeatingBendingProcessNew"/>
    <dgm:cxn modelId="{E5B02474-2B32-4220-94C3-AD92AE5E5A05}" type="presOf" srcId="{674DEB51-917B-4DDA-94D1-5F9FDE17ADEC}" destId="{C4B197D2-A124-4B59-91DA-D8310805B3E7}" srcOrd="1" destOrd="0" presId="urn:microsoft.com/office/officeart/2016/7/layout/RepeatingBendingProcessNew"/>
    <dgm:cxn modelId="{10B99A58-C37A-425F-B7F8-8D841BA7EA28}" type="presOf" srcId="{9633AD13-D1DD-4932-83D2-719B0A2AF8CD}" destId="{555D8ED2-17F5-4C57-8C2C-009052BB2C43}" srcOrd="0" destOrd="0" presId="urn:microsoft.com/office/officeart/2016/7/layout/RepeatingBendingProcessNew"/>
    <dgm:cxn modelId="{A4160C83-5FD8-4331-8DB4-2FA5BB0628A9}" type="presOf" srcId="{89582D9D-6407-4FFE-B625-70666F838C27}" destId="{58644490-3DF2-4A76-AD6C-C076848F2FC8}" srcOrd="0" destOrd="0" presId="urn:microsoft.com/office/officeart/2016/7/layout/RepeatingBendingProcessNew"/>
    <dgm:cxn modelId="{84BDA985-91AD-413C-908C-D4FD9DA8B13F}" srcId="{8562EF81-3AB8-4C90-A1F8-8EE62F77275C}" destId="{7428CB93-237D-4B68-B87A-F1EFECB80C33}" srcOrd="3" destOrd="0" parTransId="{4D8DB93A-2B0D-434A-993B-9B2C2462DBD7}" sibTransId="{D1285F94-671B-4759-9868-D9EF3A1E9B18}"/>
    <dgm:cxn modelId="{B84FF88E-C36A-4AD0-970A-B01EA6E30D13}" type="presOf" srcId="{833978B8-51C4-48B5-91A4-41D2F39FC8DA}" destId="{CA11E789-0F41-402F-9042-34D317A300E5}" srcOrd="0" destOrd="0" presId="urn:microsoft.com/office/officeart/2016/7/layout/RepeatingBendingProcessNew"/>
    <dgm:cxn modelId="{5611E297-FF2C-4EE4-A11A-E1BAAF295B73}" srcId="{8562EF81-3AB8-4C90-A1F8-8EE62F77275C}" destId="{E79EF6D3-0169-41F9-9749-B78F3128CA7F}" srcOrd="6" destOrd="0" parTransId="{FB481A7F-7B9D-45C4-848C-7312ED61740F}" sibTransId="{5201A1B5-11FE-41DA-B1F5-58E06130D528}"/>
    <dgm:cxn modelId="{CEBB649B-0C73-43D6-A5BB-D63DBF150567}" type="presOf" srcId="{A95E8643-6C23-4213-9E81-BF6421135E43}" destId="{BF2576F9-9E4C-4863-8B83-56BBCD14C2CF}" srcOrd="0" destOrd="0" presId="urn:microsoft.com/office/officeart/2016/7/layout/RepeatingBendingProcessNew"/>
    <dgm:cxn modelId="{0FDF2A9C-1D28-433B-B2B0-FACB65B5ED65}" srcId="{8562EF81-3AB8-4C90-A1F8-8EE62F77275C}" destId="{833978B8-51C4-48B5-91A4-41D2F39FC8DA}" srcOrd="4" destOrd="0" parTransId="{432C4C03-82BB-45EF-9FD2-3D912B4A126F}" sibTransId="{BF4DC73E-5973-4B01-9975-E0355144FA8C}"/>
    <dgm:cxn modelId="{6ABBD89E-C57D-4444-85AE-B96764223B03}" type="presOf" srcId="{BF4DC73E-5973-4B01-9975-E0355144FA8C}" destId="{99BADF59-CE3A-4EE1-BC1A-CBCD5C868BA8}" srcOrd="0" destOrd="0" presId="urn:microsoft.com/office/officeart/2016/7/layout/RepeatingBendingProcessNew"/>
    <dgm:cxn modelId="{198A28AC-F7AD-4B33-B9BF-767A84DD551E}" type="presOf" srcId="{7428CB93-237D-4B68-B87A-F1EFECB80C33}" destId="{EC8E710E-BCD4-495F-A949-2B6E5129AD46}" srcOrd="0" destOrd="0" presId="urn:microsoft.com/office/officeart/2016/7/layout/RepeatingBendingProcessNew"/>
    <dgm:cxn modelId="{E8739FB5-DE52-4351-9A22-8CB897A92502}" type="presOf" srcId="{89582D9D-6407-4FFE-B625-70666F838C27}" destId="{B77EE2F8-76DF-4143-BD83-E7A440A1D55F}" srcOrd="1" destOrd="0" presId="urn:microsoft.com/office/officeart/2016/7/layout/RepeatingBendingProcessNew"/>
    <dgm:cxn modelId="{21C0FFB6-4D1F-42E3-8AFA-50B7F6FF6CD6}" type="presOf" srcId="{9633AD13-D1DD-4932-83D2-719B0A2AF8CD}" destId="{EA354375-9E49-4FD7-BDC6-ACD04704FF00}" srcOrd="1" destOrd="0" presId="urn:microsoft.com/office/officeart/2016/7/layout/RepeatingBendingProcessNew"/>
    <dgm:cxn modelId="{7638E3B7-DC44-4556-BBDC-AE6E7E38608A}" type="presOf" srcId="{6B712188-5C09-4983-8A2F-5B446C833843}" destId="{A7BD0AC1-B0AE-4BA3-811E-03DA1F4612C8}" srcOrd="0" destOrd="0" presId="urn:microsoft.com/office/officeart/2016/7/layout/RepeatingBendingProcessNew"/>
    <dgm:cxn modelId="{BE8E05C9-E396-481E-B25E-C6A1B930944D}" type="presOf" srcId="{E79EF6D3-0169-41F9-9749-B78F3128CA7F}" destId="{25DAA599-9C82-42CB-B164-4241A7500440}" srcOrd="0" destOrd="0" presId="urn:microsoft.com/office/officeart/2016/7/layout/RepeatingBendingProcessNew"/>
    <dgm:cxn modelId="{67E314CD-5583-42B7-8F3C-387F61034601}" type="presOf" srcId="{C31E00E8-D137-414E-9BCC-ADA69C506C4A}" destId="{CDBF7DD2-3261-4135-BE5D-17EB8011D30A}" srcOrd="0" destOrd="0" presId="urn:microsoft.com/office/officeart/2016/7/layout/RepeatingBendingProcessNew"/>
    <dgm:cxn modelId="{C3128AD4-FCD2-4F92-A812-82DB7FC6398D}" type="presOf" srcId="{674DEB51-917B-4DDA-94D1-5F9FDE17ADEC}" destId="{9141BEA7-7B4A-4304-8925-B63A9AF3411B}" srcOrd="0" destOrd="0" presId="urn:microsoft.com/office/officeart/2016/7/layout/RepeatingBendingProcessNew"/>
    <dgm:cxn modelId="{27E092E2-454E-446C-984E-04615A8185BB}" type="presOf" srcId="{C31E00E8-D137-414E-9BCC-ADA69C506C4A}" destId="{0AB2CA2F-1582-43B3-BB91-82BB797AA6A4}" srcOrd="1" destOrd="0" presId="urn:microsoft.com/office/officeart/2016/7/layout/RepeatingBendingProcessNew"/>
    <dgm:cxn modelId="{151304EF-8ABF-4C49-96D0-77DF85482EEC}" type="presOf" srcId="{BF4DC73E-5973-4B01-9975-E0355144FA8C}" destId="{8CC22176-4E35-4317-8982-AA36AD2F726D}" srcOrd="1" destOrd="0" presId="urn:microsoft.com/office/officeart/2016/7/layout/RepeatingBendingProcessNew"/>
    <dgm:cxn modelId="{A99222F1-9C17-4FFF-AF69-53577AEB6473}" type="presOf" srcId="{D1285F94-671B-4759-9868-D9EF3A1E9B18}" destId="{A5BA2932-77D4-4A2A-B4E8-37E119A170AF}" srcOrd="1" destOrd="0" presId="urn:microsoft.com/office/officeart/2016/7/layout/RepeatingBendingProcessNew"/>
    <dgm:cxn modelId="{F9A678F4-521C-4E61-AC85-2E266CA6A38E}" type="presOf" srcId="{A04E9776-4F38-43D5-B81C-646F29C1F4C4}" destId="{513001A4-E0C7-47E0-8E5A-D37FF9769EB5}" srcOrd="0" destOrd="0" presId="urn:microsoft.com/office/officeart/2016/7/layout/RepeatingBendingProcessNew"/>
    <dgm:cxn modelId="{558EE5D1-35F6-425B-B269-8FD70C6AB41A}" type="presParOf" srcId="{154034E3-2D40-4078-A50C-6D664DCE83CD}" destId="{513001A4-E0C7-47E0-8E5A-D37FF9769EB5}" srcOrd="0" destOrd="0" presId="urn:microsoft.com/office/officeart/2016/7/layout/RepeatingBendingProcessNew"/>
    <dgm:cxn modelId="{B2C64A7C-8104-4C22-A0CD-9997832C8D79}" type="presParOf" srcId="{154034E3-2D40-4078-A50C-6D664DCE83CD}" destId="{58644490-3DF2-4A76-AD6C-C076848F2FC8}" srcOrd="1" destOrd="0" presId="urn:microsoft.com/office/officeart/2016/7/layout/RepeatingBendingProcessNew"/>
    <dgm:cxn modelId="{40E6AC05-9834-4086-A734-8815DEF44689}" type="presParOf" srcId="{58644490-3DF2-4A76-AD6C-C076848F2FC8}" destId="{B77EE2F8-76DF-4143-BD83-E7A440A1D55F}" srcOrd="0" destOrd="0" presId="urn:microsoft.com/office/officeart/2016/7/layout/RepeatingBendingProcessNew"/>
    <dgm:cxn modelId="{8714972A-3A15-4F1E-A015-691920DD5506}" type="presParOf" srcId="{154034E3-2D40-4078-A50C-6D664DCE83CD}" destId="{A7BD0AC1-B0AE-4BA3-811E-03DA1F4612C8}" srcOrd="2" destOrd="0" presId="urn:microsoft.com/office/officeart/2016/7/layout/RepeatingBendingProcessNew"/>
    <dgm:cxn modelId="{6FBA2803-9960-46FC-895D-06E34D16A627}" type="presParOf" srcId="{154034E3-2D40-4078-A50C-6D664DCE83CD}" destId="{555D8ED2-17F5-4C57-8C2C-009052BB2C43}" srcOrd="3" destOrd="0" presId="urn:microsoft.com/office/officeart/2016/7/layout/RepeatingBendingProcessNew"/>
    <dgm:cxn modelId="{748CA487-1837-4E92-8CB2-2241E11E68C8}" type="presParOf" srcId="{555D8ED2-17F5-4C57-8C2C-009052BB2C43}" destId="{EA354375-9E49-4FD7-BDC6-ACD04704FF00}" srcOrd="0" destOrd="0" presId="urn:microsoft.com/office/officeart/2016/7/layout/RepeatingBendingProcessNew"/>
    <dgm:cxn modelId="{0199F3B6-3080-42AE-AA02-383093DAEF7E}" type="presParOf" srcId="{154034E3-2D40-4078-A50C-6D664DCE83CD}" destId="{BF2576F9-9E4C-4863-8B83-56BBCD14C2CF}" srcOrd="4" destOrd="0" presId="urn:microsoft.com/office/officeart/2016/7/layout/RepeatingBendingProcessNew"/>
    <dgm:cxn modelId="{00ADE481-2429-4FAF-8F3D-9D24C0F49D8E}" type="presParOf" srcId="{154034E3-2D40-4078-A50C-6D664DCE83CD}" destId="{9141BEA7-7B4A-4304-8925-B63A9AF3411B}" srcOrd="5" destOrd="0" presId="urn:microsoft.com/office/officeart/2016/7/layout/RepeatingBendingProcessNew"/>
    <dgm:cxn modelId="{BE02F38F-A785-475F-AB55-6B55279F49F0}" type="presParOf" srcId="{9141BEA7-7B4A-4304-8925-B63A9AF3411B}" destId="{C4B197D2-A124-4B59-91DA-D8310805B3E7}" srcOrd="0" destOrd="0" presId="urn:microsoft.com/office/officeart/2016/7/layout/RepeatingBendingProcessNew"/>
    <dgm:cxn modelId="{F91EDBF1-8C3C-43CB-913B-F02FBAFDA4F1}" type="presParOf" srcId="{154034E3-2D40-4078-A50C-6D664DCE83CD}" destId="{EC8E710E-BCD4-495F-A949-2B6E5129AD46}" srcOrd="6" destOrd="0" presId="urn:microsoft.com/office/officeart/2016/7/layout/RepeatingBendingProcessNew"/>
    <dgm:cxn modelId="{AC9C5D05-D00E-4184-B7A4-DAF9D88AC608}" type="presParOf" srcId="{154034E3-2D40-4078-A50C-6D664DCE83CD}" destId="{BFD743BD-EFF0-45C6-9BAF-89E7DA51907A}" srcOrd="7" destOrd="0" presId="urn:microsoft.com/office/officeart/2016/7/layout/RepeatingBendingProcessNew"/>
    <dgm:cxn modelId="{A39CA088-60DA-4E2E-BD88-29B0229239FE}" type="presParOf" srcId="{BFD743BD-EFF0-45C6-9BAF-89E7DA51907A}" destId="{A5BA2932-77D4-4A2A-B4E8-37E119A170AF}" srcOrd="0" destOrd="0" presId="urn:microsoft.com/office/officeart/2016/7/layout/RepeatingBendingProcessNew"/>
    <dgm:cxn modelId="{A146C847-57C8-4D86-8C9C-0AFA8FA495E9}" type="presParOf" srcId="{154034E3-2D40-4078-A50C-6D664DCE83CD}" destId="{CA11E789-0F41-402F-9042-34D317A300E5}" srcOrd="8" destOrd="0" presId="urn:microsoft.com/office/officeart/2016/7/layout/RepeatingBendingProcessNew"/>
    <dgm:cxn modelId="{DAE2387B-1E25-4B0F-82CB-784916BFEF18}" type="presParOf" srcId="{154034E3-2D40-4078-A50C-6D664DCE83CD}" destId="{99BADF59-CE3A-4EE1-BC1A-CBCD5C868BA8}" srcOrd="9" destOrd="0" presId="urn:microsoft.com/office/officeart/2016/7/layout/RepeatingBendingProcessNew"/>
    <dgm:cxn modelId="{18C1DEB9-FB9A-40F3-B4F6-C156EFE73737}" type="presParOf" srcId="{99BADF59-CE3A-4EE1-BC1A-CBCD5C868BA8}" destId="{8CC22176-4E35-4317-8982-AA36AD2F726D}" srcOrd="0" destOrd="0" presId="urn:microsoft.com/office/officeart/2016/7/layout/RepeatingBendingProcessNew"/>
    <dgm:cxn modelId="{D33B2380-8BBB-4A0E-8045-5D110164B578}" type="presParOf" srcId="{154034E3-2D40-4078-A50C-6D664DCE83CD}" destId="{9E3B7526-E93B-47CB-A1B2-4E364E905646}" srcOrd="10" destOrd="0" presId="urn:microsoft.com/office/officeart/2016/7/layout/RepeatingBendingProcessNew"/>
    <dgm:cxn modelId="{94C9F9E8-0F5B-4920-9CF8-240EE9A64D31}" type="presParOf" srcId="{154034E3-2D40-4078-A50C-6D664DCE83CD}" destId="{CDBF7DD2-3261-4135-BE5D-17EB8011D30A}" srcOrd="11" destOrd="0" presId="urn:microsoft.com/office/officeart/2016/7/layout/RepeatingBendingProcessNew"/>
    <dgm:cxn modelId="{3D09E582-21AB-43C2-9472-10803EEDA602}" type="presParOf" srcId="{CDBF7DD2-3261-4135-BE5D-17EB8011D30A}" destId="{0AB2CA2F-1582-43B3-BB91-82BB797AA6A4}" srcOrd="0" destOrd="0" presId="urn:microsoft.com/office/officeart/2016/7/layout/RepeatingBendingProcessNew"/>
    <dgm:cxn modelId="{B7AF28C5-0EB6-4491-99A3-8045E9545B0F}" type="presParOf" srcId="{154034E3-2D40-4078-A50C-6D664DCE83CD}" destId="{25DAA599-9C82-42CB-B164-4241A7500440}" srcOrd="1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C5CD32-556E-4AFA-9FAF-4E9BE67F4EF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C49561F-AF22-4882-ADED-0D49865F20E2}">
      <dgm:prSet/>
      <dgm:spPr/>
      <dgm:t>
        <a:bodyPr/>
        <a:lstStyle/>
        <a:p>
          <a:pPr>
            <a:lnSpc>
              <a:spcPct val="100000"/>
            </a:lnSpc>
          </a:pPr>
          <a:r>
            <a:rPr lang="en-US" b="1" dirty="0"/>
            <a:t>CNN is a type of deep learning model, primarily designed for processing grid-like data such as images, but it has also been effectively applied to text data for tasks like sentiment analysis and emotion detection. </a:t>
          </a:r>
          <a:endParaRPr lang="en-US" dirty="0"/>
        </a:p>
      </dgm:t>
    </dgm:pt>
    <dgm:pt modelId="{34345AC9-230D-47D5-A319-DEBC83AC76B3}" type="parTrans" cxnId="{006657D4-2C77-4F4D-A896-03D19D729B37}">
      <dgm:prSet/>
      <dgm:spPr/>
      <dgm:t>
        <a:bodyPr/>
        <a:lstStyle/>
        <a:p>
          <a:endParaRPr lang="en-US"/>
        </a:p>
      </dgm:t>
    </dgm:pt>
    <dgm:pt modelId="{3C0A5F74-5C75-45A6-A7D5-56C730070381}" type="sibTrans" cxnId="{006657D4-2C77-4F4D-A896-03D19D729B37}">
      <dgm:prSet/>
      <dgm:spPr/>
      <dgm:t>
        <a:bodyPr/>
        <a:lstStyle/>
        <a:p>
          <a:endParaRPr lang="en-US"/>
        </a:p>
      </dgm:t>
    </dgm:pt>
    <dgm:pt modelId="{C6AD9B4F-F8B1-4EF6-8238-7E7EC9F2685F}">
      <dgm:prSet/>
      <dgm:spPr/>
      <dgm:t>
        <a:bodyPr/>
        <a:lstStyle/>
        <a:p>
          <a:pPr>
            <a:lnSpc>
              <a:spcPct val="100000"/>
            </a:lnSpc>
          </a:pPr>
          <a:r>
            <a:rPr lang="en-US" b="1"/>
            <a:t>CNN is particularly known for its ability to automatically and adaptively learn spatial hierarchies of features, from low-level patterns like edges in images to high-level concepts in text.</a:t>
          </a:r>
          <a:endParaRPr lang="en-US"/>
        </a:p>
      </dgm:t>
    </dgm:pt>
    <dgm:pt modelId="{A51ACCD2-977A-4786-AF65-F345A22E98D2}" type="parTrans" cxnId="{F0E524AA-8344-44EF-86CA-AAAEDCEE936E}">
      <dgm:prSet/>
      <dgm:spPr/>
      <dgm:t>
        <a:bodyPr/>
        <a:lstStyle/>
        <a:p>
          <a:endParaRPr lang="en-US"/>
        </a:p>
      </dgm:t>
    </dgm:pt>
    <dgm:pt modelId="{D3FC86D8-2B14-4D92-A98B-0444465F68DA}" type="sibTrans" cxnId="{F0E524AA-8344-44EF-86CA-AAAEDCEE936E}">
      <dgm:prSet/>
      <dgm:spPr/>
      <dgm:t>
        <a:bodyPr/>
        <a:lstStyle/>
        <a:p>
          <a:endParaRPr lang="en-US"/>
        </a:p>
      </dgm:t>
    </dgm:pt>
    <dgm:pt modelId="{E3624F52-43B7-49DD-9FFC-F9E639EDEC1D}" type="pres">
      <dgm:prSet presAssocID="{CFC5CD32-556E-4AFA-9FAF-4E9BE67F4EF4}" presName="root" presStyleCnt="0">
        <dgm:presLayoutVars>
          <dgm:dir/>
          <dgm:resizeHandles val="exact"/>
        </dgm:presLayoutVars>
      </dgm:prSet>
      <dgm:spPr/>
    </dgm:pt>
    <dgm:pt modelId="{176C1A79-33BF-40D6-88E6-6D8D9B9EAC7C}" type="pres">
      <dgm:prSet presAssocID="{2C49561F-AF22-4882-ADED-0D49865F20E2}" presName="compNode" presStyleCnt="0"/>
      <dgm:spPr/>
    </dgm:pt>
    <dgm:pt modelId="{5E37D3B6-3CA0-491C-A925-01BF663F0783}" type="pres">
      <dgm:prSet presAssocID="{2C49561F-AF22-4882-ADED-0D49865F20E2}" presName="bgRect" presStyleLbl="bgShp" presStyleIdx="0" presStyleCnt="2" custScaleY="137799"/>
      <dgm:spPr/>
    </dgm:pt>
    <dgm:pt modelId="{BAEC3248-3073-42BC-BE8D-1A33567C7044}" type="pres">
      <dgm:prSet presAssocID="{2C49561F-AF22-4882-ADED-0D49865F20E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698D2673-CD1B-4931-A831-48C31E4CD651}" type="pres">
      <dgm:prSet presAssocID="{2C49561F-AF22-4882-ADED-0D49865F20E2}" presName="spaceRect" presStyleCnt="0"/>
      <dgm:spPr/>
    </dgm:pt>
    <dgm:pt modelId="{DD4A71D4-C671-45D5-894D-B2134EBD8697}" type="pres">
      <dgm:prSet presAssocID="{2C49561F-AF22-4882-ADED-0D49865F20E2}" presName="parTx" presStyleLbl="revTx" presStyleIdx="0" presStyleCnt="2">
        <dgm:presLayoutVars>
          <dgm:chMax val="0"/>
          <dgm:chPref val="0"/>
        </dgm:presLayoutVars>
      </dgm:prSet>
      <dgm:spPr/>
    </dgm:pt>
    <dgm:pt modelId="{358D3DA0-B57C-4EBF-9D9B-ABB9DF109D26}" type="pres">
      <dgm:prSet presAssocID="{3C0A5F74-5C75-45A6-A7D5-56C730070381}" presName="sibTrans" presStyleCnt="0"/>
      <dgm:spPr/>
    </dgm:pt>
    <dgm:pt modelId="{7EB3DDD0-A4CA-4FD3-8C96-A6656AAD2088}" type="pres">
      <dgm:prSet presAssocID="{C6AD9B4F-F8B1-4EF6-8238-7E7EC9F2685F}" presName="compNode" presStyleCnt="0"/>
      <dgm:spPr/>
    </dgm:pt>
    <dgm:pt modelId="{1ACE12B8-6931-4D2B-B538-179F842D02F5}" type="pres">
      <dgm:prSet presAssocID="{C6AD9B4F-F8B1-4EF6-8238-7E7EC9F2685F}" presName="bgRect" presStyleLbl="bgShp" presStyleIdx="1" presStyleCnt="2" custScaleY="145590"/>
      <dgm:spPr/>
    </dgm:pt>
    <dgm:pt modelId="{0E908E9C-CCE3-439B-B3CB-5E262316E728}" type="pres">
      <dgm:prSet presAssocID="{C6AD9B4F-F8B1-4EF6-8238-7E7EC9F2685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D27617BD-B00C-4211-AE21-22C80A7E306D}" type="pres">
      <dgm:prSet presAssocID="{C6AD9B4F-F8B1-4EF6-8238-7E7EC9F2685F}" presName="spaceRect" presStyleCnt="0"/>
      <dgm:spPr/>
    </dgm:pt>
    <dgm:pt modelId="{BC235B24-8007-4603-B234-C0FCCEB282F8}" type="pres">
      <dgm:prSet presAssocID="{C6AD9B4F-F8B1-4EF6-8238-7E7EC9F2685F}" presName="parTx" presStyleLbl="revTx" presStyleIdx="1" presStyleCnt="2">
        <dgm:presLayoutVars>
          <dgm:chMax val="0"/>
          <dgm:chPref val="0"/>
        </dgm:presLayoutVars>
      </dgm:prSet>
      <dgm:spPr/>
    </dgm:pt>
  </dgm:ptLst>
  <dgm:cxnLst>
    <dgm:cxn modelId="{0C7B8344-811C-41B5-BA6D-49C73A57C8F3}" type="presOf" srcId="{2C49561F-AF22-4882-ADED-0D49865F20E2}" destId="{DD4A71D4-C671-45D5-894D-B2134EBD8697}" srcOrd="0" destOrd="0" presId="urn:microsoft.com/office/officeart/2018/2/layout/IconVerticalSolidList"/>
    <dgm:cxn modelId="{D3E0F278-FF69-4CDA-8836-0BC212078E3C}" type="presOf" srcId="{C6AD9B4F-F8B1-4EF6-8238-7E7EC9F2685F}" destId="{BC235B24-8007-4603-B234-C0FCCEB282F8}" srcOrd="0" destOrd="0" presId="urn:microsoft.com/office/officeart/2018/2/layout/IconVerticalSolidList"/>
    <dgm:cxn modelId="{5899727F-BBF7-4B0B-9328-F0E63DD9AD3B}" type="presOf" srcId="{CFC5CD32-556E-4AFA-9FAF-4E9BE67F4EF4}" destId="{E3624F52-43B7-49DD-9FFC-F9E639EDEC1D}" srcOrd="0" destOrd="0" presId="urn:microsoft.com/office/officeart/2018/2/layout/IconVerticalSolidList"/>
    <dgm:cxn modelId="{F0E524AA-8344-44EF-86CA-AAAEDCEE936E}" srcId="{CFC5CD32-556E-4AFA-9FAF-4E9BE67F4EF4}" destId="{C6AD9B4F-F8B1-4EF6-8238-7E7EC9F2685F}" srcOrd="1" destOrd="0" parTransId="{A51ACCD2-977A-4786-AF65-F345A22E98D2}" sibTransId="{D3FC86D8-2B14-4D92-A98B-0444465F68DA}"/>
    <dgm:cxn modelId="{006657D4-2C77-4F4D-A896-03D19D729B37}" srcId="{CFC5CD32-556E-4AFA-9FAF-4E9BE67F4EF4}" destId="{2C49561F-AF22-4882-ADED-0D49865F20E2}" srcOrd="0" destOrd="0" parTransId="{34345AC9-230D-47D5-A319-DEBC83AC76B3}" sibTransId="{3C0A5F74-5C75-45A6-A7D5-56C730070381}"/>
    <dgm:cxn modelId="{CA3AB756-8814-400D-AAB8-2CE83C2F6718}" type="presParOf" srcId="{E3624F52-43B7-49DD-9FFC-F9E639EDEC1D}" destId="{176C1A79-33BF-40D6-88E6-6D8D9B9EAC7C}" srcOrd="0" destOrd="0" presId="urn:microsoft.com/office/officeart/2018/2/layout/IconVerticalSolidList"/>
    <dgm:cxn modelId="{F7E05DAC-3441-4106-B263-CAF8875F5ED2}" type="presParOf" srcId="{176C1A79-33BF-40D6-88E6-6D8D9B9EAC7C}" destId="{5E37D3B6-3CA0-491C-A925-01BF663F0783}" srcOrd="0" destOrd="0" presId="urn:microsoft.com/office/officeart/2018/2/layout/IconVerticalSolidList"/>
    <dgm:cxn modelId="{FA88AD56-1F41-4B73-B235-7AFC46FC3144}" type="presParOf" srcId="{176C1A79-33BF-40D6-88E6-6D8D9B9EAC7C}" destId="{BAEC3248-3073-42BC-BE8D-1A33567C7044}" srcOrd="1" destOrd="0" presId="urn:microsoft.com/office/officeart/2018/2/layout/IconVerticalSolidList"/>
    <dgm:cxn modelId="{D971F642-7513-4A00-8A38-5C615A7E2719}" type="presParOf" srcId="{176C1A79-33BF-40D6-88E6-6D8D9B9EAC7C}" destId="{698D2673-CD1B-4931-A831-48C31E4CD651}" srcOrd="2" destOrd="0" presId="urn:microsoft.com/office/officeart/2018/2/layout/IconVerticalSolidList"/>
    <dgm:cxn modelId="{044E5B73-DB12-4FAC-84E0-CB3BF10622C2}" type="presParOf" srcId="{176C1A79-33BF-40D6-88E6-6D8D9B9EAC7C}" destId="{DD4A71D4-C671-45D5-894D-B2134EBD8697}" srcOrd="3" destOrd="0" presId="urn:microsoft.com/office/officeart/2018/2/layout/IconVerticalSolidList"/>
    <dgm:cxn modelId="{AA6EEC92-FACC-46B8-8EE4-0B55C3D2EED5}" type="presParOf" srcId="{E3624F52-43B7-49DD-9FFC-F9E639EDEC1D}" destId="{358D3DA0-B57C-4EBF-9D9B-ABB9DF109D26}" srcOrd="1" destOrd="0" presId="urn:microsoft.com/office/officeart/2018/2/layout/IconVerticalSolidList"/>
    <dgm:cxn modelId="{6D45CBBA-182D-46A2-B0EE-1E30FA95C22F}" type="presParOf" srcId="{E3624F52-43B7-49DD-9FFC-F9E639EDEC1D}" destId="{7EB3DDD0-A4CA-4FD3-8C96-A6656AAD2088}" srcOrd="2" destOrd="0" presId="urn:microsoft.com/office/officeart/2018/2/layout/IconVerticalSolidList"/>
    <dgm:cxn modelId="{275400B0-E915-4B43-ABE4-B93AC7109B5C}" type="presParOf" srcId="{7EB3DDD0-A4CA-4FD3-8C96-A6656AAD2088}" destId="{1ACE12B8-6931-4D2B-B538-179F842D02F5}" srcOrd="0" destOrd="0" presId="urn:microsoft.com/office/officeart/2018/2/layout/IconVerticalSolidList"/>
    <dgm:cxn modelId="{84410730-2958-4301-8175-B5D881F868A4}" type="presParOf" srcId="{7EB3DDD0-A4CA-4FD3-8C96-A6656AAD2088}" destId="{0E908E9C-CCE3-439B-B3CB-5E262316E728}" srcOrd="1" destOrd="0" presId="urn:microsoft.com/office/officeart/2018/2/layout/IconVerticalSolidList"/>
    <dgm:cxn modelId="{E6D98D7D-FF9E-4B78-A268-49B542F2ABC1}" type="presParOf" srcId="{7EB3DDD0-A4CA-4FD3-8C96-A6656AAD2088}" destId="{D27617BD-B00C-4211-AE21-22C80A7E306D}" srcOrd="2" destOrd="0" presId="urn:microsoft.com/office/officeart/2018/2/layout/IconVerticalSolidList"/>
    <dgm:cxn modelId="{7193EF78-D6BA-43F9-84FE-4B9A605C80E9}" type="presParOf" srcId="{7EB3DDD0-A4CA-4FD3-8C96-A6656AAD2088}" destId="{BC235B24-8007-4603-B234-C0FCCEB282F8}"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189725-BAB0-4293-9C36-DEC2570FC776}"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981A7B88-2F2D-4A3A-ADA0-13B0982925EA}">
      <dgm:prSet/>
      <dgm:spPr/>
      <dgm:t>
        <a:bodyPr/>
        <a:lstStyle/>
        <a:p>
          <a:r>
            <a:rPr lang="en-US" b="1"/>
            <a:t>Step 1: Embedding Layer</a:t>
          </a:r>
          <a:endParaRPr lang="en-US"/>
        </a:p>
      </dgm:t>
    </dgm:pt>
    <dgm:pt modelId="{0F35D52A-D58B-4588-BB8B-B5B22A813387}" type="parTrans" cxnId="{6999B97D-8856-4736-82AF-86C0742613B0}">
      <dgm:prSet/>
      <dgm:spPr/>
      <dgm:t>
        <a:bodyPr/>
        <a:lstStyle/>
        <a:p>
          <a:endParaRPr lang="en-US"/>
        </a:p>
      </dgm:t>
    </dgm:pt>
    <dgm:pt modelId="{54AF9EF6-71E7-40C0-87E0-6DDA370F27DD}" type="sibTrans" cxnId="{6999B97D-8856-4736-82AF-86C0742613B0}">
      <dgm:prSet/>
      <dgm:spPr/>
      <dgm:t>
        <a:bodyPr/>
        <a:lstStyle/>
        <a:p>
          <a:endParaRPr lang="en-US"/>
        </a:p>
      </dgm:t>
    </dgm:pt>
    <dgm:pt modelId="{254F54E8-87B4-4EE1-B588-3D3FB44FF669}">
      <dgm:prSet/>
      <dgm:spPr/>
      <dgm:t>
        <a:bodyPr/>
        <a:lstStyle/>
        <a:p>
          <a:r>
            <a:rPr lang="en-US"/>
            <a:t>Converts input text into numerical vectors using a pre-trained Word2Vec (W2V) model.</a:t>
          </a:r>
        </a:p>
      </dgm:t>
    </dgm:pt>
    <dgm:pt modelId="{75CA9EBE-3A9E-4E2F-8305-EAEB8D8D45ED}" type="parTrans" cxnId="{F70A44C6-5B18-4427-BBAC-2F04C415BDA2}">
      <dgm:prSet/>
      <dgm:spPr/>
      <dgm:t>
        <a:bodyPr/>
        <a:lstStyle/>
        <a:p>
          <a:endParaRPr lang="en-US"/>
        </a:p>
      </dgm:t>
    </dgm:pt>
    <dgm:pt modelId="{5844ECB9-B8EA-446C-BFB4-41E625F3CDFC}" type="sibTrans" cxnId="{F70A44C6-5B18-4427-BBAC-2F04C415BDA2}">
      <dgm:prSet/>
      <dgm:spPr/>
      <dgm:t>
        <a:bodyPr/>
        <a:lstStyle/>
        <a:p>
          <a:endParaRPr lang="en-US"/>
        </a:p>
      </dgm:t>
    </dgm:pt>
    <dgm:pt modelId="{D09ED3A7-C8D6-4DD5-9322-0EBBCDFA49A5}">
      <dgm:prSet/>
      <dgm:spPr/>
      <dgm:t>
        <a:bodyPr/>
        <a:lstStyle/>
        <a:p>
          <a:r>
            <a:rPr lang="en-US" b="1"/>
            <a:t>Step 2: Convolutional Layer (1D CNN)</a:t>
          </a:r>
          <a:endParaRPr lang="en-US"/>
        </a:p>
      </dgm:t>
    </dgm:pt>
    <dgm:pt modelId="{07446F66-FC28-429C-98E5-455E5507E169}" type="parTrans" cxnId="{90B9FC52-9CB0-47EC-B4BA-09CB2E1F4DB2}">
      <dgm:prSet/>
      <dgm:spPr/>
      <dgm:t>
        <a:bodyPr/>
        <a:lstStyle/>
        <a:p>
          <a:endParaRPr lang="en-US"/>
        </a:p>
      </dgm:t>
    </dgm:pt>
    <dgm:pt modelId="{165852FF-60EF-46C8-9525-32B7720BDA1E}" type="sibTrans" cxnId="{90B9FC52-9CB0-47EC-B4BA-09CB2E1F4DB2}">
      <dgm:prSet/>
      <dgm:spPr/>
      <dgm:t>
        <a:bodyPr/>
        <a:lstStyle/>
        <a:p>
          <a:endParaRPr lang="en-US"/>
        </a:p>
      </dgm:t>
    </dgm:pt>
    <dgm:pt modelId="{45AC9C38-532D-4D1A-A70D-A96CCC31E052}">
      <dgm:prSet/>
      <dgm:spPr/>
      <dgm:t>
        <a:bodyPr/>
        <a:lstStyle/>
        <a:p>
          <a:r>
            <a:rPr lang="en-US"/>
            <a:t>Extracts features from the text data by applying filters.</a:t>
          </a:r>
        </a:p>
      </dgm:t>
    </dgm:pt>
    <dgm:pt modelId="{6CA3E10B-5413-44C5-8D4F-ADCCF8FB299B}" type="parTrans" cxnId="{4BD69590-0CCE-4BD8-BACA-E1445CDA89F9}">
      <dgm:prSet/>
      <dgm:spPr/>
      <dgm:t>
        <a:bodyPr/>
        <a:lstStyle/>
        <a:p>
          <a:endParaRPr lang="en-US"/>
        </a:p>
      </dgm:t>
    </dgm:pt>
    <dgm:pt modelId="{5043BE8B-6266-46BD-B61A-5E58DC8E0C6F}" type="sibTrans" cxnId="{4BD69590-0CCE-4BD8-BACA-E1445CDA89F9}">
      <dgm:prSet/>
      <dgm:spPr/>
      <dgm:t>
        <a:bodyPr/>
        <a:lstStyle/>
        <a:p>
          <a:endParaRPr lang="en-US"/>
        </a:p>
      </dgm:t>
    </dgm:pt>
    <dgm:pt modelId="{20F84BC5-36A6-47A3-A42C-8E6E625A70A0}">
      <dgm:prSet/>
      <dgm:spPr/>
      <dgm:t>
        <a:bodyPr/>
        <a:lstStyle/>
        <a:p>
          <a:r>
            <a:rPr lang="en-US" b="1"/>
            <a:t>Step 3: Global Max Pooling</a:t>
          </a:r>
          <a:endParaRPr lang="en-US"/>
        </a:p>
      </dgm:t>
    </dgm:pt>
    <dgm:pt modelId="{DD6238A0-43B5-4AA0-95D2-BA7E5721B530}" type="parTrans" cxnId="{04320B8F-D7B4-4ED9-8002-6AAF351B3FAF}">
      <dgm:prSet/>
      <dgm:spPr/>
      <dgm:t>
        <a:bodyPr/>
        <a:lstStyle/>
        <a:p>
          <a:endParaRPr lang="en-US"/>
        </a:p>
      </dgm:t>
    </dgm:pt>
    <dgm:pt modelId="{64399489-3B98-48D8-9D8B-9F8B95A3B1DA}" type="sibTrans" cxnId="{04320B8F-D7B4-4ED9-8002-6AAF351B3FAF}">
      <dgm:prSet/>
      <dgm:spPr/>
      <dgm:t>
        <a:bodyPr/>
        <a:lstStyle/>
        <a:p>
          <a:endParaRPr lang="en-US"/>
        </a:p>
      </dgm:t>
    </dgm:pt>
    <dgm:pt modelId="{1B753EFA-69FD-4D6D-8B7E-AB79466E66EA}">
      <dgm:prSet/>
      <dgm:spPr/>
      <dgm:t>
        <a:bodyPr/>
        <a:lstStyle/>
        <a:p>
          <a:r>
            <a:rPr lang="en-US"/>
            <a:t>Selects the most important features and reduces dimensionality.</a:t>
          </a:r>
        </a:p>
      </dgm:t>
    </dgm:pt>
    <dgm:pt modelId="{B6628DBD-FF86-408D-8D7C-C70F7CC5E5BD}" type="parTrans" cxnId="{BC22B319-4049-4E19-8D9A-03F51D23B728}">
      <dgm:prSet/>
      <dgm:spPr/>
      <dgm:t>
        <a:bodyPr/>
        <a:lstStyle/>
        <a:p>
          <a:endParaRPr lang="en-US"/>
        </a:p>
      </dgm:t>
    </dgm:pt>
    <dgm:pt modelId="{373FB3BB-030B-4259-9BB3-BBA77670192B}" type="sibTrans" cxnId="{BC22B319-4049-4E19-8D9A-03F51D23B728}">
      <dgm:prSet/>
      <dgm:spPr/>
      <dgm:t>
        <a:bodyPr/>
        <a:lstStyle/>
        <a:p>
          <a:endParaRPr lang="en-US"/>
        </a:p>
      </dgm:t>
    </dgm:pt>
    <dgm:pt modelId="{2770C6B6-B1DE-46E9-809B-29D920943259}">
      <dgm:prSet/>
      <dgm:spPr/>
      <dgm:t>
        <a:bodyPr/>
        <a:lstStyle/>
        <a:p>
          <a:r>
            <a:rPr lang="en-US" b="1"/>
            <a:t>Step 4: Fully Connected Layers (Dense)</a:t>
          </a:r>
          <a:endParaRPr lang="en-US"/>
        </a:p>
      </dgm:t>
    </dgm:pt>
    <dgm:pt modelId="{EE4FD6C8-FEC6-4842-AD7A-CAD56077A3FC}" type="parTrans" cxnId="{5C499CD0-7E95-4497-BCBA-72DFDDB52DCA}">
      <dgm:prSet/>
      <dgm:spPr/>
      <dgm:t>
        <a:bodyPr/>
        <a:lstStyle/>
        <a:p>
          <a:endParaRPr lang="en-US"/>
        </a:p>
      </dgm:t>
    </dgm:pt>
    <dgm:pt modelId="{F2D823FF-5EE3-4692-B8AF-990F61454BFE}" type="sibTrans" cxnId="{5C499CD0-7E95-4497-BCBA-72DFDDB52DCA}">
      <dgm:prSet/>
      <dgm:spPr/>
      <dgm:t>
        <a:bodyPr/>
        <a:lstStyle/>
        <a:p>
          <a:endParaRPr lang="en-US"/>
        </a:p>
      </dgm:t>
    </dgm:pt>
    <dgm:pt modelId="{77AFBC63-2CD3-4E46-A5A2-F1BDD7F92C8C}">
      <dgm:prSet/>
      <dgm:spPr/>
      <dgm:t>
        <a:bodyPr/>
        <a:lstStyle/>
        <a:p>
          <a:r>
            <a:rPr lang="en-US"/>
            <a:t>Processes extracted features and learns complex patterns.</a:t>
          </a:r>
        </a:p>
      </dgm:t>
    </dgm:pt>
    <dgm:pt modelId="{325F98DF-CEEA-4E55-B8CC-F1819CC3C6E1}" type="parTrans" cxnId="{949FA136-67C8-473A-848A-F20D7809DD8A}">
      <dgm:prSet/>
      <dgm:spPr/>
      <dgm:t>
        <a:bodyPr/>
        <a:lstStyle/>
        <a:p>
          <a:endParaRPr lang="en-US"/>
        </a:p>
      </dgm:t>
    </dgm:pt>
    <dgm:pt modelId="{AD5AD4EF-8BBD-4FD4-B986-3EA935E64F22}" type="sibTrans" cxnId="{949FA136-67C8-473A-848A-F20D7809DD8A}">
      <dgm:prSet/>
      <dgm:spPr/>
      <dgm:t>
        <a:bodyPr/>
        <a:lstStyle/>
        <a:p>
          <a:endParaRPr lang="en-US"/>
        </a:p>
      </dgm:t>
    </dgm:pt>
    <dgm:pt modelId="{EFC41B68-8726-43F1-916D-6B63679E4165}">
      <dgm:prSet/>
      <dgm:spPr/>
      <dgm:t>
        <a:bodyPr/>
        <a:lstStyle/>
        <a:p>
          <a:r>
            <a:rPr lang="en-US" b="1"/>
            <a:t>Step 5: Softmax Output Layer</a:t>
          </a:r>
          <a:endParaRPr lang="en-US"/>
        </a:p>
      </dgm:t>
    </dgm:pt>
    <dgm:pt modelId="{59A0B6BD-67CE-447C-9950-59111378A253}" type="parTrans" cxnId="{434383A2-8226-41E2-AEB5-A5E11CDBB162}">
      <dgm:prSet/>
      <dgm:spPr/>
      <dgm:t>
        <a:bodyPr/>
        <a:lstStyle/>
        <a:p>
          <a:endParaRPr lang="en-US"/>
        </a:p>
      </dgm:t>
    </dgm:pt>
    <dgm:pt modelId="{4D86333E-8F8C-418F-9110-24A00F2A3CE0}" type="sibTrans" cxnId="{434383A2-8226-41E2-AEB5-A5E11CDBB162}">
      <dgm:prSet/>
      <dgm:spPr/>
      <dgm:t>
        <a:bodyPr/>
        <a:lstStyle/>
        <a:p>
          <a:endParaRPr lang="en-US"/>
        </a:p>
      </dgm:t>
    </dgm:pt>
    <dgm:pt modelId="{2E3FE114-D7B2-4B2D-A227-BA257ACD5436}">
      <dgm:prSet/>
      <dgm:spPr/>
      <dgm:t>
        <a:bodyPr/>
        <a:lstStyle/>
        <a:p>
          <a:r>
            <a:rPr lang="en-US"/>
            <a:t>Classifies the text into different emotion categories.</a:t>
          </a:r>
        </a:p>
      </dgm:t>
    </dgm:pt>
    <dgm:pt modelId="{F20E89D5-5780-4857-B587-AF5885F51C30}" type="parTrans" cxnId="{B2CBBC8E-8A67-4F24-B322-2582E4C4D10D}">
      <dgm:prSet/>
      <dgm:spPr/>
      <dgm:t>
        <a:bodyPr/>
        <a:lstStyle/>
        <a:p>
          <a:endParaRPr lang="en-US"/>
        </a:p>
      </dgm:t>
    </dgm:pt>
    <dgm:pt modelId="{97AB13BE-0790-467C-86CE-55882FCEDA3B}" type="sibTrans" cxnId="{B2CBBC8E-8A67-4F24-B322-2582E4C4D10D}">
      <dgm:prSet/>
      <dgm:spPr/>
      <dgm:t>
        <a:bodyPr/>
        <a:lstStyle/>
        <a:p>
          <a:endParaRPr lang="en-US"/>
        </a:p>
      </dgm:t>
    </dgm:pt>
    <dgm:pt modelId="{42D38C8E-9DA0-4ADB-9AA4-1BA3E07D4E7A}">
      <dgm:prSet/>
      <dgm:spPr/>
      <dgm:t>
        <a:bodyPr/>
        <a:lstStyle/>
        <a:p>
          <a:r>
            <a:rPr lang="en-US" b="1"/>
            <a:t>Emotion Prediction Output</a:t>
          </a:r>
          <a:endParaRPr lang="en-US"/>
        </a:p>
      </dgm:t>
    </dgm:pt>
    <dgm:pt modelId="{FE3835C9-2A27-441B-9AB1-8282F4923888}" type="parTrans" cxnId="{F8EFFF28-0FB9-4A64-90EC-C25E03351329}">
      <dgm:prSet/>
      <dgm:spPr/>
      <dgm:t>
        <a:bodyPr/>
        <a:lstStyle/>
        <a:p>
          <a:endParaRPr lang="en-US"/>
        </a:p>
      </dgm:t>
    </dgm:pt>
    <dgm:pt modelId="{18D5EFBF-7C18-48E1-A142-95B3334C88BD}" type="sibTrans" cxnId="{F8EFFF28-0FB9-4A64-90EC-C25E03351329}">
      <dgm:prSet/>
      <dgm:spPr/>
      <dgm:t>
        <a:bodyPr/>
        <a:lstStyle/>
        <a:p>
          <a:endParaRPr lang="en-US"/>
        </a:p>
      </dgm:t>
    </dgm:pt>
    <dgm:pt modelId="{C57DF696-65BF-4A48-B3B2-BC9748A1D45A}">
      <dgm:prSet/>
      <dgm:spPr/>
      <dgm:t>
        <a:bodyPr/>
        <a:lstStyle/>
        <a:p>
          <a:r>
            <a:rPr lang="en-US"/>
            <a:t>Detects emotions such as anger, disgust, fear, joy, happiness, sadness, shame, surprise, and neutral, represented by respective emojis.</a:t>
          </a:r>
        </a:p>
      </dgm:t>
    </dgm:pt>
    <dgm:pt modelId="{E6C04DFF-89AF-4FC3-8FED-06A87068E9DD}" type="parTrans" cxnId="{4BD27A91-5E34-46A6-9626-1F345FEE4038}">
      <dgm:prSet/>
      <dgm:spPr/>
      <dgm:t>
        <a:bodyPr/>
        <a:lstStyle/>
        <a:p>
          <a:endParaRPr lang="en-US"/>
        </a:p>
      </dgm:t>
    </dgm:pt>
    <dgm:pt modelId="{BACAC34A-B5E7-4F2D-BD61-F4B8B2542E3D}" type="sibTrans" cxnId="{4BD27A91-5E34-46A6-9626-1F345FEE4038}">
      <dgm:prSet/>
      <dgm:spPr/>
      <dgm:t>
        <a:bodyPr/>
        <a:lstStyle/>
        <a:p>
          <a:endParaRPr lang="en-US"/>
        </a:p>
      </dgm:t>
    </dgm:pt>
    <dgm:pt modelId="{5CC2D1FC-1717-41B4-8CA6-FEC40905A075}" type="pres">
      <dgm:prSet presAssocID="{DC189725-BAB0-4293-9C36-DEC2570FC776}" presName="Name0" presStyleCnt="0">
        <dgm:presLayoutVars>
          <dgm:dir/>
          <dgm:animLvl val="lvl"/>
          <dgm:resizeHandles val="exact"/>
        </dgm:presLayoutVars>
      </dgm:prSet>
      <dgm:spPr/>
    </dgm:pt>
    <dgm:pt modelId="{508FFBAC-1D4E-48F9-96B6-036A4C424417}" type="pres">
      <dgm:prSet presAssocID="{981A7B88-2F2D-4A3A-ADA0-13B0982925EA}" presName="linNode" presStyleCnt="0"/>
      <dgm:spPr/>
    </dgm:pt>
    <dgm:pt modelId="{7ECC37DF-4580-45E8-BE6A-ED5AABEBD8C6}" type="pres">
      <dgm:prSet presAssocID="{981A7B88-2F2D-4A3A-ADA0-13B0982925EA}" presName="parentText" presStyleLbl="node1" presStyleIdx="0" presStyleCnt="6">
        <dgm:presLayoutVars>
          <dgm:chMax val="1"/>
          <dgm:bulletEnabled val="1"/>
        </dgm:presLayoutVars>
      </dgm:prSet>
      <dgm:spPr/>
    </dgm:pt>
    <dgm:pt modelId="{B60FEF09-DCB3-44B2-A7AF-BFE84AFEAF77}" type="pres">
      <dgm:prSet presAssocID="{981A7B88-2F2D-4A3A-ADA0-13B0982925EA}" presName="descendantText" presStyleLbl="alignAccFollowNode1" presStyleIdx="0" presStyleCnt="6">
        <dgm:presLayoutVars>
          <dgm:bulletEnabled val="1"/>
        </dgm:presLayoutVars>
      </dgm:prSet>
      <dgm:spPr/>
    </dgm:pt>
    <dgm:pt modelId="{40BFDD59-0043-41D8-9ED0-6BB403461456}" type="pres">
      <dgm:prSet presAssocID="{54AF9EF6-71E7-40C0-87E0-6DDA370F27DD}" presName="sp" presStyleCnt="0"/>
      <dgm:spPr/>
    </dgm:pt>
    <dgm:pt modelId="{215ACD5C-5419-41DF-BD9B-2D432F26ABEE}" type="pres">
      <dgm:prSet presAssocID="{D09ED3A7-C8D6-4DD5-9322-0EBBCDFA49A5}" presName="linNode" presStyleCnt="0"/>
      <dgm:spPr/>
    </dgm:pt>
    <dgm:pt modelId="{77BA4BAB-1D75-4051-944D-F87B572ED765}" type="pres">
      <dgm:prSet presAssocID="{D09ED3A7-C8D6-4DD5-9322-0EBBCDFA49A5}" presName="parentText" presStyleLbl="node1" presStyleIdx="1" presStyleCnt="6">
        <dgm:presLayoutVars>
          <dgm:chMax val="1"/>
          <dgm:bulletEnabled val="1"/>
        </dgm:presLayoutVars>
      </dgm:prSet>
      <dgm:spPr/>
    </dgm:pt>
    <dgm:pt modelId="{1ED17F71-BF0E-4213-A292-ABBBD736B90E}" type="pres">
      <dgm:prSet presAssocID="{D09ED3A7-C8D6-4DD5-9322-0EBBCDFA49A5}" presName="descendantText" presStyleLbl="alignAccFollowNode1" presStyleIdx="1" presStyleCnt="6">
        <dgm:presLayoutVars>
          <dgm:bulletEnabled val="1"/>
        </dgm:presLayoutVars>
      </dgm:prSet>
      <dgm:spPr/>
    </dgm:pt>
    <dgm:pt modelId="{B921ACE5-6031-4115-8487-A533DA979224}" type="pres">
      <dgm:prSet presAssocID="{165852FF-60EF-46C8-9525-32B7720BDA1E}" presName="sp" presStyleCnt="0"/>
      <dgm:spPr/>
    </dgm:pt>
    <dgm:pt modelId="{758A4649-C388-4491-A55D-0B77A5F2214E}" type="pres">
      <dgm:prSet presAssocID="{20F84BC5-36A6-47A3-A42C-8E6E625A70A0}" presName="linNode" presStyleCnt="0"/>
      <dgm:spPr/>
    </dgm:pt>
    <dgm:pt modelId="{22D34460-B77C-41C8-9BE8-5204D1E55A14}" type="pres">
      <dgm:prSet presAssocID="{20F84BC5-36A6-47A3-A42C-8E6E625A70A0}" presName="parentText" presStyleLbl="node1" presStyleIdx="2" presStyleCnt="6">
        <dgm:presLayoutVars>
          <dgm:chMax val="1"/>
          <dgm:bulletEnabled val="1"/>
        </dgm:presLayoutVars>
      </dgm:prSet>
      <dgm:spPr/>
    </dgm:pt>
    <dgm:pt modelId="{2C06C2C3-69FF-4808-BDD7-8ED0778326DE}" type="pres">
      <dgm:prSet presAssocID="{20F84BC5-36A6-47A3-A42C-8E6E625A70A0}" presName="descendantText" presStyleLbl="alignAccFollowNode1" presStyleIdx="2" presStyleCnt="6">
        <dgm:presLayoutVars>
          <dgm:bulletEnabled val="1"/>
        </dgm:presLayoutVars>
      </dgm:prSet>
      <dgm:spPr/>
    </dgm:pt>
    <dgm:pt modelId="{1F96D078-DC64-4B06-9967-E9D83DC88D59}" type="pres">
      <dgm:prSet presAssocID="{64399489-3B98-48D8-9D8B-9F8B95A3B1DA}" presName="sp" presStyleCnt="0"/>
      <dgm:spPr/>
    </dgm:pt>
    <dgm:pt modelId="{B2CB0D93-83CB-47A5-9EF5-6AEF377E754E}" type="pres">
      <dgm:prSet presAssocID="{2770C6B6-B1DE-46E9-809B-29D920943259}" presName="linNode" presStyleCnt="0"/>
      <dgm:spPr/>
    </dgm:pt>
    <dgm:pt modelId="{B7952D01-101C-42C2-876A-05892CDBE305}" type="pres">
      <dgm:prSet presAssocID="{2770C6B6-B1DE-46E9-809B-29D920943259}" presName="parentText" presStyleLbl="node1" presStyleIdx="3" presStyleCnt="6">
        <dgm:presLayoutVars>
          <dgm:chMax val="1"/>
          <dgm:bulletEnabled val="1"/>
        </dgm:presLayoutVars>
      </dgm:prSet>
      <dgm:spPr/>
    </dgm:pt>
    <dgm:pt modelId="{C5E03F48-AC73-481C-B932-66113C742B88}" type="pres">
      <dgm:prSet presAssocID="{2770C6B6-B1DE-46E9-809B-29D920943259}" presName="descendantText" presStyleLbl="alignAccFollowNode1" presStyleIdx="3" presStyleCnt="6">
        <dgm:presLayoutVars>
          <dgm:bulletEnabled val="1"/>
        </dgm:presLayoutVars>
      </dgm:prSet>
      <dgm:spPr/>
    </dgm:pt>
    <dgm:pt modelId="{75B77B18-4661-416B-952E-E7BC59BDE463}" type="pres">
      <dgm:prSet presAssocID="{F2D823FF-5EE3-4692-B8AF-990F61454BFE}" presName="sp" presStyleCnt="0"/>
      <dgm:spPr/>
    </dgm:pt>
    <dgm:pt modelId="{676FF52A-CE85-4517-9E29-BCEF7F159E48}" type="pres">
      <dgm:prSet presAssocID="{EFC41B68-8726-43F1-916D-6B63679E4165}" presName="linNode" presStyleCnt="0"/>
      <dgm:spPr/>
    </dgm:pt>
    <dgm:pt modelId="{F39039D5-BA7C-4346-AF77-11F73215BB90}" type="pres">
      <dgm:prSet presAssocID="{EFC41B68-8726-43F1-916D-6B63679E4165}" presName="parentText" presStyleLbl="node1" presStyleIdx="4" presStyleCnt="6">
        <dgm:presLayoutVars>
          <dgm:chMax val="1"/>
          <dgm:bulletEnabled val="1"/>
        </dgm:presLayoutVars>
      </dgm:prSet>
      <dgm:spPr/>
    </dgm:pt>
    <dgm:pt modelId="{E51264B4-7353-4631-AE78-0BEA21B65191}" type="pres">
      <dgm:prSet presAssocID="{EFC41B68-8726-43F1-916D-6B63679E4165}" presName="descendantText" presStyleLbl="alignAccFollowNode1" presStyleIdx="4" presStyleCnt="6">
        <dgm:presLayoutVars>
          <dgm:bulletEnabled val="1"/>
        </dgm:presLayoutVars>
      </dgm:prSet>
      <dgm:spPr/>
    </dgm:pt>
    <dgm:pt modelId="{F98758D2-E801-4AA8-9496-3CACDC1D35B6}" type="pres">
      <dgm:prSet presAssocID="{4D86333E-8F8C-418F-9110-24A00F2A3CE0}" presName="sp" presStyleCnt="0"/>
      <dgm:spPr/>
    </dgm:pt>
    <dgm:pt modelId="{94955E49-2112-4207-8631-E00E41E1F4A9}" type="pres">
      <dgm:prSet presAssocID="{42D38C8E-9DA0-4ADB-9AA4-1BA3E07D4E7A}" presName="linNode" presStyleCnt="0"/>
      <dgm:spPr/>
    </dgm:pt>
    <dgm:pt modelId="{11E862F3-9507-41D2-852F-44DE83552481}" type="pres">
      <dgm:prSet presAssocID="{42D38C8E-9DA0-4ADB-9AA4-1BA3E07D4E7A}" presName="parentText" presStyleLbl="node1" presStyleIdx="5" presStyleCnt="6">
        <dgm:presLayoutVars>
          <dgm:chMax val="1"/>
          <dgm:bulletEnabled val="1"/>
        </dgm:presLayoutVars>
      </dgm:prSet>
      <dgm:spPr/>
    </dgm:pt>
    <dgm:pt modelId="{22CD3DC7-1F9D-4E8C-B30C-2FE4A12FEFE1}" type="pres">
      <dgm:prSet presAssocID="{42D38C8E-9DA0-4ADB-9AA4-1BA3E07D4E7A}" presName="descendantText" presStyleLbl="alignAccFollowNode1" presStyleIdx="5" presStyleCnt="6">
        <dgm:presLayoutVars>
          <dgm:bulletEnabled val="1"/>
        </dgm:presLayoutVars>
      </dgm:prSet>
      <dgm:spPr/>
    </dgm:pt>
  </dgm:ptLst>
  <dgm:cxnLst>
    <dgm:cxn modelId="{9C04D313-E979-4ADE-8304-AB2E9F70059E}" type="presOf" srcId="{45AC9C38-532D-4D1A-A70D-A96CCC31E052}" destId="{1ED17F71-BF0E-4213-A292-ABBBD736B90E}" srcOrd="0" destOrd="0" presId="urn:microsoft.com/office/officeart/2005/8/layout/vList5"/>
    <dgm:cxn modelId="{BC22B319-4049-4E19-8D9A-03F51D23B728}" srcId="{20F84BC5-36A6-47A3-A42C-8E6E625A70A0}" destId="{1B753EFA-69FD-4D6D-8B7E-AB79466E66EA}" srcOrd="0" destOrd="0" parTransId="{B6628DBD-FF86-408D-8D7C-C70F7CC5E5BD}" sibTransId="{373FB3BB-030B-4259-9BB3-BBA77670192B}"/>
    <dgm:cxn modelId="{A9860B22-04CB-4CBE-9693-37CEDD231819}" type="presOf" srcId="{D09ED3A7-C8D6-4DD5-9322-0EBBCDFA49A5}" destId="{77BA4BAB-1D75-4051-944D-F87B572ED765}" srcOrd="0" destOrd="0" presId="urn:microsoft.com/office/officeart/2005/8/layout/vList5"/>
    <dgm:cxn modelId="{51EBC123-20BD-42E0-8FEB-CF6904DE8271}" type="presOf" srcId="{2770C6B6-B1DE-46E9-809B-29D920943259}" destId="{B7952D01-101C-42C2-876A-05892CDBE305}" srcOrd="0" destOrd="0" presId="urn:microsoft.com/office/officeart/2005/8/layout/vList5"/>
    <dgm:cxn modelId="{F8EFFF28-0FB9-4A64-90EC-C25E03351329}" srcId="{DC189725-BAB0-4293-9C36-DEC2570FC776}" destId="{42D38C8E-9DA0-4ADB-9AA4-1BA3E07D4E7A}" srcOrd="5" destOrd="0" parTransId="{FE3835C9-2A27-441B-9AB1-8282F4923888}" sibTransId="{18D5EFBF-7C18-48E1-A142-95B3334C88BD}"/>
    <dgm:cxn modelId="{949FA136-67C8-473A-848A-F20D7809DD8A}" srcId="{2770C6B6-B1DE-46E9-809B-29D920943259}" destId="{77AFBC63-2CD3-4E46-A5A2-F1BDD7F92C8C}" srcOrd="0" destOrd="0" parTransId="{325F98DF-CEEA-4E55-B8CC-F1819CC3C6E1}" sibTransId="{AD5AD4EF-8BBD-4FD4-B986-3EA935E64F22}"/>
    <dgm:cxn modelId="{3F59A241-C0D0-4D76-8EBF-445813BEAE07}" type="presOf" srcId="{981A7B88-2F2D-4A3A-ADA0-13B0982925EA}" destId="{7ECC37DF-4580-45E8-BE6A-ED5AABEBD8C6}" srcOrd="0" destOrd="0" presId="urn:microsoft.com/office/officeart/2005/8/layout/vList5"/>
    <dgm:cxn modelId="{50B62C44-E920-4777-AEEF-C004FD060915}" type="presOf" srcId="{254F54E8-87B4-4EE1-B588-3D3FB44FF669}" destId="{B60FEF09-DCB3-44B2-A7AF-BFE84AFEAF77}" srcOrd="0" destOrd="0" presId="urn:microsoft.com/office/officeart/2005/8/layout/vList5"/>
    <dgm:cxn modelId="{14AF9B64-A8B0-45BD-82CB-6E61CC1AEEA3}" type="presOf" srcId="{77AFBC63-2CD3-4E46-A5A2-F1BDD7F92C8C}" destId="{C5E03F48-AC73-481C-B932-66113C742B88}" srcOrd="0" destOrd="0" presId="urn:microsoft.com/office/officeart/2005/8/layout/vList5"/>
    <dgm:cxn modelId="{09EA6E6C-EF7C-46ED-9EB7-58802D22C36B}" type="presOf" srcId="{C57DF696-65BF-4A48-B3B2-BC9748A1D45A}" destId="{22CD3DC7-1F9D-4E8C-B30C-2FE4A12FEFE1}" srcOrd="0" destOrd="0" presId="urn:microsoft.com/office/officeart/2005/8/layout/vList5"/>
    <dgm:cxn modelId="{90B9FC52-9CB0-47EC-B4BA-09CB2E1F4DB2}" srcId="{DC189725-BAB0-4293-9C36-DEC2570FC776}" destId="{D09ED3A7-C8D6-4DD5-9322-0EBBCDFA49A5}" srcOrd="1" destOrd="0" parTransId="{07446F66-FC28-429C-98E5-455E5507E169}" sibTransId="{165852FF-60EF-46C8-9525-32B7720BDA1E}"/>
    <dgm:cxn modelId="{04E05A54-D5E7-4F2D-844F-5D3CCD1454A0}" type="presOf" srcId="{EFC41B68-8726-43F1-916D-6B63679E4165}" destId="{F39039D5-BA7C-4346-AF77-11F73215BB90}" srcOrd="0" destOrd="0" presId="urn:microsoft.com/office/officeart/2005/8/layout/vList5"/>
    <dgm:cxn modelId="{DDB9F57C-95F7-4449-B3D3-849FBC513720}" type="presOf" srcId="{2E3FE114-D7B2-4B2D-A227-BA257ACD5436}" destId="{E51264B4-7353-4631-AE78-0BEA21B65191}" srcOrd="0" destOrd="0" presId="urn:microsoft.com/office/officeart/2005/8/layout/vList5"/>
    <dgm:cxn modelId="{6999B97D-8856-4736-82AF-86C0742613B0}" srcId="{DC189725-BAB0-4293-9C36-DEC2570FC776}" destId="{981A7B88-2F2D-4A3A-ADA0-13B0982925EA}" srcOrd="0" destOrd="0" parTransId="{0F35D52A-D58B-4588-BB8B-B5B22A813387}" sibTransId="{54AF9EF6-71E7-40C0-87E0-6DDA370F27DD}"/>
    <dgm:cxn modelId="{B60C357E-C1C1-447A-93CD-8D3BE1242A2A}" type="presOf" srcId="{DC189725-BAB0-4293-9C36-DEC2570FC776}" destId="{5CC2D1FC-1717-41B4-8CA6-FEC40905A075}" srcOrd="0" destOrd="0" presId="urn:microsoft.com/office/officeart/2005/8/layout/vList5"/>
    <dgm:cxn modelId="{B2CBBC8E-8A67-4F24-B322-2582E4C4D10D}" srcId="{EFC41B68-8726-43F1-916D-6B63679E4165}" destId="{2E3FE114-D7B2-4B2D-A227-BA257ACD5436}" srcOrd="0" destOrd="0" parTransId="{F20E89D5-5780-4857-B587-AF5885F51C30}" sibTransId="{97AB13BE-0790-467C-86CE-55882FCEDA3B}"/>
    <dgm:cxn modelId="{04320B8F-D7B4-4ED9-8002-6AAF351B3FAF}" srcId="{DC189725-BAB0-4293-9C36-DEC2570FC776}" destId="{20F84BC5-36A6-47A3-A42C-8E6E625A70A0}" srcOrd="2" destOrd="0" parTransId="{DD6238A0-43B5-4AA0-95D2-BA7E5721B530}" sibTransId="{64399489-3B98-48D8-9D8B-9F8B95A3B1DA}"/>
    <dgm:cxn modelId="{4BD69590-0CCE-4BD8-BACA-E1445CDA89F9}" srcId="{D09ED3A7-C8D6-4DD5-9322-0EBBCDFA49A5}" destId="{45AC9C38-532D-4D1A-A70D-A96CCC31E052}" srcOrd="0" destOrd="0" parTransId="{6CA3E10B-5413-44C5-8D4F-ADCCF8FB299B}" sibTransId="{5043BE8B-6266-46BD-B61A-5E58DC8E0C6F}"/>
    <dgm:cxn modelId="{4BD27A91-5E34-46A6-9626-1F345FEE4038}" srcId="{42D38C8E-9DA0-4ADB-9AA4-1BA3E07D4E7A}" destId="{C57DF696-65BF-4A48-B3B2-BC9748A1D45A}" srcOrd="0" destOrd="0" parTransId="{E6C04DFF-89AF-4FC3-8FED-06A87068E9DD}" sibTransId="{BACAC34A-B5E7-4F2D-BD61-F4B8B2542E3D}"/>
    <dgm:cxn modelId="{434383A2-8226-41E2-AEB5-A5E11CDBB162}" srcId="{DC189725-BAB0-4293-9C36-DEC2570FC776}" destId="{EFC41B68-8726-43F1-916D-6B63679E4165}" srcOrd="4" destOrd="0" parTransId="{59A0B6BD-67CE-447C-9950-59111378A253}" sibTransId="{4D86333E-8F8C-418F-9110-24A00F2A3CE0}"/>
    <dgm:cxn modelId="{42DB5EAF-CC1D-4977-8FA9-AE69A120C684}" type="presOf" srcId="{42D38C8E-9DA0-4ADB-9AA4-1BA3E07D4E7A}" destId="{11E862F3-9507-41D2-852F-44DE83552481}" srcOrd="0" destOrd="0" presId="urn:microsoft.com/office/officeart/2005/8/layout/vList5"/>
    <dgm:cxn modelId="{67F1D6B8-6D13-4D13-AC10-0F98FB959151}" type="presOf" srcId="{20F84BC5-36A6-47A3-A42C-8E6E625A70A0}" destId="{22D34460-B77C-41C8-9BE8-5204D1E55A14}" srcOrd="0" destOrd="0" presId="urn:microsoft.com/office/officeart/2005/8/layout/vList5"/>
    <dgm:cxn modelId="{E773DFBD-3DB0-43AA-8CC7-2E61BF061B0F}" type="presOf" srcId="{1B753EFA-69FD-4D6D-8B7E-AB79466E66EA}" destId="{2C06C2C3-69FF-4808-BDD7-8ED0778326DE}" srcOrd="0" destOrd="0" presId="urn:microsoft.com/office/officeart/2005/8/layout/vList5"/>
    <dgm:cxn modelId="{F70A44C6-5B18-4427-BBAC-2F04C415BDA2}" srcId="{981A7B88-2F2D-4A3A-ADA0-13B0982925EA}" destId="{254F54E8-87B4-4EE1-B588-3D3FB44FF669}" srcOrd="0" destOrd="0" parTransId="{75CA9EBE-3A9E-4E2F-8305-EAEB8D8D45ED}" sibTransId="{5844ECB9-B8EA-446C-BFB4-41E625F3CDFC}"/>
    <dgm:cxn modelId="{5C499CD0-7E95-4497-BCBA-72DFDDB52DCA}" srcId="{DC189725-BAB0-4293-9C36-DEC2570FC776}" destId="{2770C6B6-B1DE-46E9-809B-29D920943259}" srcOrd="3" destOrd="0" parTransId="{EE4FD6C8-FEC6-4842-AD7A-CAD56077A3FC}" sibTransId="{F2D823FF-5EE3-4692-B8AF-990F61454BFE}"/>
    <dgm:cxn modelId="{9DAA4C3C-5086-4253-BDE7-00C42FD7B570}" type="presParOf" srcId="{5CC2D1FC-1717-41B4-8CA6-FEC40905A075}" destId="{508FFBAC-1D4E-48F9-96B6-036A4C424417}" srcOrd="0" destOrd="0" presId="urn:microsoft.com/office/officeart/2005/8/layout/vList5"/>
    <dgm:cxn modelId="{65A75589-0034-4937-AD27-950303F2F42F}" type="presParOf" srcId="{508FFBAC-1D4E-48F9-96B6-036A4C424417}" destId="{7ECC37DF-4580-45E8-BE6A-ED5AABEBD8C6}" srcOrd="0" destOrd="0" presId="urn:microsoft.com/office/officeart/2005/8/layout/vList5"/>
    <dgm:cxn modelId="{B0311F63-9B01-4F82-A09C-641D30DE721B}" type="presParOf" srcId="{508FFBAC-1D4E-48F9-96B6-036A4C424417}" destId="{B60FEF09-DCB3-44B2-A7AF-BFE84AFEAF77}" srcOrd="1" destOrd="0" presId="urn:microsoft.com/office/officeart/2005/8/layout/vList5"/>
    <dgm:cxn modelId="{D2E65CB9-D10A-4ED0-86FD-A3201B564124}" type="presParOf" srcId="{5CC2D1FC-1717-41B4-8CA6-FEC40905A075}" destId="{40BFDD59-0043-41D8-9ED0-6BB403461456}" srcOrd="1" destOrd="0" presId="urn:microsoft.com/office/officeart/2005/8/layout/vList5"/>
    <dgm:cxn modelId="{58D4A30E-9E61-4D41-8DC1-0987E87CB56E}" type="presParOf" srcId="{5CC2D1FC-1717-41B4-8CA6-FEC40905A075}" destId="{215ACD5C-5419-41DF-BD9B-2D432F26ABEE}" srcOrd="2" destOrd="0" presId="urn:microsoft.com/office/officeart/2005/8/layout/vList5"/>
    <dgm:cxn modelId="{8D45770A-4F09-42C9-BE57-21871A9FC87D}" type="presParOf" srcId="{215ACD5C-5419-41DF-BD9B-2D432F26ABEE}" destId="{77BA4BAB-1D75-4051-944D-F87B572ED765}" srcOrd="0" destOrd="0" presId="urn:microsoft.com/office/officeart/2005/8/layout/vList5"/>
    <dgm:cxn modelId="{5DB9417D-A5AA-4EEB-854F-75F1462BE6FB}" type="presParOf" srcId="{215ACD5C-5419-41DF-BD9B-2D432F26ABEE}" destId="{1ED17F71-BF0E-4213-A292-ABBBD736B90E}" srcOrd="1" destOrd="0" presId="urn:microsoft.com/office/officeart/2005/8/layout/vList5"/>
    <dgm:cxn modelId="{7E33B423-759A-4496-9069-727D091D1879}" type="presParOf" srcId="{5CC2D1FC-1717-41B4-8CA6-FEC40905A075}" destId="{B921ACE5-6031-4115-8487-A533DA979224}" srcOrd="3" destOrd="0" presId="urn:microsoft.com/office/officeart/2005/8/layout/vList5"/>
    <dgm:cxn modelId="{0427DC52-5159-48DB-B13B-8B415EEFDF4D}" type="presParOf" srcId="{5CC2D1FC-1717-41B4-8CA6-FEC40905A075}" destId="{758A4649-C388-4491-A55D-0B77A5F2214E}" srcOrd="4" destOrd="0" presId="urn:microsoft.com/office/officeart/2005/8/layout/vList5"/>
    <dgm:cxn modelId="{51D75D2D-203B-4734-9E60-0D0083394F75}" type="presParOf" srcId="{758A4649-C388-4491-A55D-0B77A5F2214E}" destId="{22D34460-B77C-41C8-9BE8-5204D1E55A14}" srcOrd="0" destOrd="0" presId="urn:microsoft.com/office/officeart/2005/8/layout/vList5"/>
    <dgm:cxn modelId="{B5C0E854-715B-451D-B2F1-D4A983F83E6E}" type="presParOf" srcId="{758A4649-C388-4491-A55D-0B77A5F2214E}" destId="{2C06C2C3-69FF-4808-BDD7-8ED0778326DE}" srcOrd="1" destOrd="0" presId="urn:microsoft.com/office/officeart/2005/8/layout/vList5"/>
    <dgm:cxn modelId="{6EC59471-FC45-42FB-BEED-36BB796B86F5}" type="presParOf" srcId="{5CC2D1FC-1717-41B4-8CA6-FEC40905A075}" destId="{1F96D078-DC64-4B06-9967-E9D83DC88D59}" srcOrd="5" destOrd="0" presId="urn:microsoft.com/office/officeart/2005/8/layout/vList5"/>
    <dgm:cxn modelId="{A146D571-DD9D-4921-AE6C-D12BA78A42D7}" type="presParOf" srcId="{5CC2D1FC-1717-41B4-8CA6-FEC40905A075}" destId="{B2CB0D93-83CB-47A5-9EF5-6AEF377E754E}" srcOrd="6" destOrd="0" presId="urn:microsoft.com/office/officeart/2005/8/layout/vList5"/>
    <dgm:cxn modelId="{BC86E2DC-9968-47A0-A80C-125CFFCBF965}" type="presParOf" srcId="{B2CB0D93-83CB-47A5-9EF5-6AEF377E754E}" destId="{B7952D01-101C-42C2-876A-05892CDBE305}" srcOrd="0" destOrd="0" presId="urn:microsoft.com/office/officeart/2005/8/layout/vList5"/>
    <dgm:cxn modelId="{EC92CC3A-2A50-44B6-8F5B-B2FBFEEFEDFC}" type="presParOf" srcId="{B2CB0D93-83CB-47A5-9EF5-6AEF377E754E}" destId="{C5E03F48-AC73-481C-B932-66113C742B88}" srcOrd="1" destOrd="0" presId="urn:microsoft.com/office/officeart/2005/8/layout/vList5"/>
    <dgm:cxn modelId="{455BCFCB-3BA4-4DEF-88F3-67FF744C6D6F}" type="presParOf" srcId="{5CC2D1FC-1717-41B4-8CA6-FEC40905A075}" destId="{75B77B18-4661-416B-952E-E7BC59BDE463}" srcOrd="7" destOrd="0" presId="urn:microsoft.com/office/officeart/2005/8/layout/vList5"/>
    <dgm:cxn modelId="{387EA4EF-E986-440B-AF56-E985750858DB}" type="presParOf" srcId="{5CC2D1FC-1717-41B4-8CA6-FEC40905A075}" destId="{676FF52A-CE85-4517-9E29-BCEF7F159E48}" srcOrd="8" destOrd="0" presId="urn:microsoft.com/office/officeart/2005/8/layout/vList5"/>
    <dgm:cxn modelId="{30AFE78B-4629-4942-9C37-9682F3E2876D}" type="presParOf" srcId="{676FF52A-CE85-4517-9E29-BCEF7F159E48}" destId="{F39039D5-BA7C-4346-AF77-11F73215BB90}" srcOrd="0" destOrd="0" presId="urn:microsoft.com/office/officeart/2005/8/layout/vList5"/>
    <dgm:cxn modelId="{AFB73197-E220-46D6-ABF4-B04BBDB0417C}" type="presParOf" srcId="{676FF52A-CE85-4517-9E29-BCEF7F159E48}" destId="{E51264B4-7353-4631-AE78-0BEA21B65191}" srcOrd="1" destOrd="0" presId="urn:microsoft.com/office/officeart/2005/8/layout/vList5"/>
    <dgm:cxn modelId="{22446B70-D8BF-45E0-8F05-0A3688E78BA9}" type="presParOf" srcId="{5CC2D1FC-1717-41B4-8CA6-FEC40905A075}" destId="{F98758D2-E801-4AA8-9496-3CACDC1D35B6}" srcOrd="9" destOrd="0" presId="urn:microsoft.com/office/officeart/2005/8/layout/vList5"/>
    <dgm:cxn modelId="{DEEB387C-F47B-417D-93AA-A27BFA831952}" type="presParOf" srcId="{5CC2D1FC-1717-41B4-8CA6-FEC40905A075}" destId="{94955E49-2112-4207-8631-E00E41E1F4A9}" srcOrd="10" destOrd="0" presId="urn:microsoft.com/office/officeart/2005/8/layout/vList5"/>
    <dgm:cxn modelId="{AC105B41-ABC7-453E-AA5B-5C39848DDF7C}" type="presParOf" srcId="{94955E49-2112-4207-8631-E00E41E1F4A9}" destId="{11E862F3-9507-41D2-852F-44DE83552481}" srcOrd="0" destOrd="0" presId="urn:microsoft.com/office/officeart/2005/8/layout/vList5"/>
    <dgm:cxn modelId="{5829E7B4-0ADD-4CAC-AF2B-BD220B83412C}" type="presParOf" srcId="{94955E49-2112-4207-8631-E00E41E1F4A9}" destId="{22CD3DC7-1F9D-4E8C-B30C-2FE4A12FEFE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644490-3DF2-4A76-AD6C-C076848F2FC8}">
      <dsp:nvSpPr>
        <dsp:cNvPr id="0" name=""/>
        <dsp:cNvSpPr/>
      </dsp:nvSpPr>
      <dsp:spPr>
        <a:xfrm>
          <a:off x="2632575" y="964158"/>
          <a:ext cx="573701" cy="91440"/>
        </a:xfrm>
        <a:custGeom>
          <a:avLst/>
          <a:gdLst/>
          <a:ahLst/>
          <a:cxnLst/>
          <a:rect l="0" t="0" r="0" b="0"/>
          <a:pathLst>
            <a:path>
              <a:moveTo>
                <a:pt x="0" y="45720"/>
              </a:moveTo>
              <a:lnTo>
                <a:pt x="573701"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04318" y="1006856"/>
        <a:ext cx="30215" cy="6043"/>
      </dsp:txXfrm>
    </dsp:sp>
    <dsp:sp modelId="{513001A4-E0C7-47E0-8E5A-D37FF9769EB5}">
      <dsp:nvSpPr>
        <dsp:cNvPr id="0" name=""/>
        <dsp:cNvSpPr/>
      </dsp:nvSpPr>
      <dsp:spPr>
        <a:xfrm>
          <a:off x="6979" y="221659"/>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IN" sz="1800" kern="1200"/>
            <a:t>A lexicon-based sentiment analysis tool, specifically tuned for social media text.</a:t>
          </a:r>
          <a:endParaRPr lang="en-US" sz="1800" kern="1200"/>
        </a:p>
      </dsp:txBody>
      <dsp:txXfrm>
        <a:off x="6979" y="221659"/>
        <a:ext cx="2627396" cy="1576437"/>
      </dsp:txXfrm>
    </dsp:sp>
    <dsp:sp modelId="{555D8ED2-17F5-4C57-8C2C-009052BB2C43}">
      <dsp:nvSpPr>
        <dsp:cNvPr id="0" name=""/>
        <dsp:cNvSpPr/>
      </dsp:nvSpPr>
      <dsp:spPr>
        <a:xfrm>
          <a:off x="5864273" y="964158"/>
          <a:ext cx="573701" cy="91440"/>
        </a:xfrm>
        <a:custGeom>
          <a:avLst/>
          <a:gdLst/>
          <a:ahLst/>
          <a:cxnLst/>
          <a:rect l="0" t="0" r="0" b="0"/>
          <a:pathLst>
            <a:path>
              <a:moveTo>
                <a:pt x="0" y="45720"/>
              </a:moveTo>
              <a:lnTo>
                <a:pt x="573701"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36016" y="1006856"/>
        <a:ext cx="30215" cy="6043"/>
      </dsp:txXfrm>
    </dsp:sp>
    <dsp:sp modelId="{A7BD0AC1-B0AE-4BA3-811E-03DA1F4612C8}">
      <dsp:nvSpPr>
        <dsp:cNvPr id="0" name=""/>
        <dsp:cNvSpPr/>
      </dsp:nvSpPr>
      <dsp:spPr>
        <a:xfrm>
          <a:off x="3238676" y="221659"/>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US" sz="1800" b="1" kern="1200"/>
            <a:t>Purpose</a:t>
          </a:r>
          <a:r>
            <a:rPr lang="en-US" sz="1800" kern="1200"/>
            <a:t>: It helps determine the sentiment polarity (positive, negative, or neutral) of textual data.</a:t>
          </a:r>
        </a:p>
      </dsp:txBody>
      <dsp:txXfrm>
        <a:off x="3238676" y="221659"/>
        <a:ext cx="2627396" cy="1576437"/>
      </dsp:txXfrm>
    </dsp:sp>
    <dsp:sp modelId="{9141BEA7-7B4A-4304-8925-B63A9AF3411B}">
      <dsp:nvSpPr>
        <dsp:cNvPr id="0" name=""/>
        <dsp:cNvSpPr/>
      </dsp:nvSpPr>
      <dsp:spPr>
        <a:xfrm>
          <a:off x="1320677" y="1796297"/>
          <a:ext cx="6463394" cy="573701"/>
        </a:xfrm>
        <a:custGeom>
          <a:avLst/>
          <a:gdLst/>
          <a:ahLst/>
          <a:cxnLst/>
          <a:rect l="0" t="0" r="0" b="0"/>
          <a:pathLst>
            <a:path>
              <a:moveTo>
                <a:pt x="6463394" y="0"/>
              </a:moveTo>
              <a:lnTo>
                <a:pt x="6463394" y="303950"/>
              </a:lnTo>
              <a:lnTo>
                <a:pt x="0" y="303950"/>
              </a:lnTo>
              <a:lnTo>
                <a:pt x="0" y="573701"/>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90085" y="2080126"/>
        <a:ext cx="324579" cy="6043"/>
      </dsp:txXfrm>
    </dsp:sp>
    <dsp:sp modelId="{BF2576F9-9E4C-4863-8B83-56BBCD14C2CF}">
      <dsp:nvSpPr>
        <dsp:cNvPr id="0" name=""/>
        <dsp:cNvSpPr/>
      </dsp:nvSpPr>
      <dsp:spPr>
        <a:xfrm>
          <a:off x="6470374" y="221659"/>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US" sz="1800" b="1" kern="1200"/>
            <a:t>Outputs Sentiment Scores</a:t>
          </a:r>
          <a:r>
            <a:rPr lang="en-US" sz="1800" kern="1200"/>
            <a:t>:</a:t>
          </a:r>
        </a:p>
      </dsp:txBody>
      <dsp:txXfrm>
        <a:off x="6470374" y="221659"/>
        <a:ext cx="2627396" cy="1576437"/>
      </dsp:txXfrm>
    </dsp:sp>
    <dsp:sp modelId="{BFD743BD-EFF0-45C6-9BAF-89E7DA51907A}">
      <dsp:nvSpPr>
        <dsp:cNvPr id="0" name=""/>
        <dsp:cNvSpPr/>
      </dsp:nvSpPr>
      <dsp:spPr>
        <a:xfrm>
          <a:off x="2632575" y="3144897"/>
          <a:ext cx="573701" cy="91440"/>
        </a:xfrm>
        <a:custGeom>
          <a:avLst/>
          <a:gdLst/>
          <a:ahLst/>
          <a:cxnLst/>
          <a:rect l="0" t="0" r="0" b="0"/>
          <a:pathLst>
            <a:path>
              <a:moveTo>
                <a:pt x="0" y="45720"/>
              </a:moveTo>
              <a:lnTo>
                <a:pt x="573701"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04318" y="3187595"/>
        <a:ext cx="30215" cy="6043"/>
      </dsp:txXfrm>
    </dsp:sp>
    <dsp:sp modelId="{EC8E710E-BCD4-495F-A949-2B6E5129AD46}">
      <dsp:nvSpPr>
        <dsp:cNvPr id="0" name=""/>
        <dsp:cNvSpPr/>
      </dsp:nvSpPr>
      <dsp:spPr>
        <a:xfrm>
          <a:off x="6979" y="2402398"/>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US" sz="1800" b="1" kern="1200"/>
            <a:t>Positive</a:t>
          </a:r>
          <a:r>
            <a:rPr lang="en-US" sz="1800" kern="1200"/>
            <a:t>: Proportion of positive sentiment in the text.</a:t>
          </a:r>
        </a:p>
      </dsp:txBody>
      <dsp:txXfrm>
        <a:off x="6979" y="2402398"/>
        <a:ext cx="2627396" cy="1576437"/>
      </dsp:txXfrm>
    </dsp:sp>
    <dsp:sp modelId="{99BADF59-CE3A-4EE1-BC1A-CBCD5C868BA8}">
      <dsp:nvSpPr>
        <dsp:cNvPr id="0" name=""/>
        <dsp:cNvSpPr/>
      </dsp:nvSpPr>
      <dsp:spPr>
        <a:xfrm>
          <a:off x="5864273" y="3144897"/>
          <a:ext cx="573701" cy="91440"/>
        </a:xfrm>
        <a:custGeom>
          <a:avLst/>
          <a:gdLst/>
          <a:ahLst/>
          <a:cxnLst/>
          <a:rect l="0" t="0" r="0" b="0"/>
          <a:pathLst>
            <a:path>
              <a:moveTo>
                <a:pt x="0" y="45720"/>
              </a:moveTo>
              <a:lnTo>
                <a:pt x="573701"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36016" y="3187595"/>
        <a:ext cx="30215" cy="6043"/>
      </dsp:txXfrm>
    </dsp:sp>
    <dsp:sp modelId="{CA11E789-0F41-402F-9042-34D317A300E5}">
      <dsp:nvSpPr>
        <dsp:cNvPr id="0" name=""/>
        <dsp:cNvSpPr/>
      </dsp:nvSpPr>
      <dsp:spPr>
        <a:xfrm>
          <a:off x="3238676" y="2402398"/>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US" sz="1800" b="1" kern="1200"/>
            <a:t>Negative</a:t>
          </a:r>
          <a:r>
            <a:rPr lang="en-US" sz="1800" kern="1200"/>
            <a:t>: Proportion of negative sentiment.</a:t>
          </a:r>
        </a:p>
      </dsp:txBody>
      <dsp:txXfrm>
        <a:off x="3238676" y="2402398"/>
        <a:ext cx="2627396" cy="1576437"/>
      </dsp:txXfrm>
    </dsp:sp>
    <dsp:sp modelId="{CDBF7DD2-3261-4135-BE5D-17EB8011D30A}">
      <dsp:nvSpPr>
        <dsp:cNvPr id="0" name=""/>
        <dsp:cNvSpPr/>
      </dsp:nvSpPr>
      <dsp:spPr>
        <a:xfrm>
          <a:off x="1320677" y="3977035"/>
          <a:ext cx="6463394" cy="573701"/>
        </a:xfrm>
        <a:custGeom>
          <a:avLst/>
          <a:gdLst/>
          <a:ahLst/>
          <a:cxnLst/>
          <a:rect l="0" t="0" r="0" b="0"/>
          <a:pathLst>
            <a:path>
              <a:moveTo>
                <a:pt x="6463394" y="0"/>
              </a:moveTo>
              <a:lnTo>
                <a:pt x="6463394" y="303950"/>
              </a:lnTo>
              <a:lnTo>
                <a:pt x="0" y="303950"/>
              </a:lnTo>
              <a:lnTo>
                <a:pt x="0" y="573701"/>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90085" y="4260864"/>
        <a:ext cx="324579" cy="6043"/>
      </dsp:txXfrm>
    </dsp:sp>
    <dsp:sp modelId="{9E3B7526-E93B-47CB-A1B2-4E364E905646}">
      <dsp:nvSpPr>
        <dsp:cNvPr id="0" name=""/>
        <dsp:cNvSpPr/>
      </dsp:nvSpPr>
      <dsp:spPr>
        <a:xfrm>
          <a:off x="6470374" y="2402398"/>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US" sz="1800" b="1" kern="1200"/>
            <a:t>Neutral</a:t>
          </a:r>
          <a:r>
            <a:rPr lang="en-US" sz="1800" kern="1200"/>
            <a:t>: Proportion of neutral sentiment.</a:t>
          </a:r>
        </a:p>
      </dsp:txBody>
      <dsp:txXfrm>
        <a:off x="6470374" y="2402398"/>
        <a:ext cx="2627396" cy="1576437"/>
      </dsp:txXfrm>
    </dsp:sp>
    <dsp:sp modelId="{25DAA599-9C82-42CB-B164-4241A7500440}">
      <dsp:nvSpPr>
        <dsp:cNvPr id="0" name=""/>
        <dsp:cNvSpPr/>
      </dsp:nvSpPr>
      <dsp:spPr>
        <a:xfrm>
          <a:off x="6979" y="4583136"/>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US" sz="1800" b="1" kern="1200"/>
            <a:t>Compound Score</a:t>
          </a:r>
          <a:r>
            <a:rPr lang="en-US" sz="1800" kern="1200"/>
            <a:t>: A normalized score ranging from -1 (most negative) to +1 (most positive).</a:t>
          </a:r>
        </a:p>
      </dsp:txBody>
      <dsp:txXfrm>
        <a:off x="6979" y="4583136"/>
        <a:ext cx="2627396" cy="15764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644490-3DF2-4A76-AD6C-C076848F2FC8}">
      <dsp:nvSpPr>
        <dsp:cNvPr id="0" name=""/>
        <dsp:cNvSpPr/>
      </dsp:nvSpPr>
      <dsp:spPr>
        <a:xfrm>
          <a:off x="2632575" y="964158"/>
          <a:ext cx="573701" cy="91440"/>
        </a:xfrm>
        <a:custGeom>
          <a:avLst/>
          <a:gdLst/>
          <a:ahLst/>
          <a:cxnLst/>
          <a:rect l="0" t="0" r="0" b="0"/>
          <a:pathLst>
            <a:path>
              <a:moveTo>
                <a:pt x="0" y="45720"/>
              </a:moveTo>
              <a:lnTo>
                <a:pt x="573701"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04318" y="1006856"/>
        <a:ext cx="30215" cy="6043"/>
      </dsp:txXfrm>
    </dsp:sp>
    <dsp:sp modelId="{513001A4-E0C7-47E0-8E5A-D37FF9769EB5}">
      <dsp:nvSpPr>
        <dsp:cNvPr id="0" name=""/>
        <dsp:cNvSpPr/>
      </dsp:nvSpPr>
      <dsp:spPr>
        <a:xfrm>
          <a:off x="6979" y="221659"/>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US" sz="1800" kern="1200" dirty="0"/>
            <a:t>A deep learning-based model using Bidirectional LSTM for sentiment analysis</a:t>
          </a:r>
        </a:p>
      </dsp:txBody>
      <dsp:txXfrm>
        <a:off x="6979" y="221659"/>
        <a:ext cx="2627396" cy="1576437"/>
      </dsp:txXfrm>
    </dsp:sp>
    <dsp:sp modelId="{555D8ED2-17F5-4C57-8C2C-009052BB2C43}">
      <dsp:nvSpPr>
        <dsp:cNvPr id="0" name=""/>
        <dsp:cNvSpPr/>
      </dsp:nvSpPr>
      <dsp:spPr>
        <a:xfrm>
          <a:off x="5864273" y="964158"/>
          <a:ext cx="573701" cy="91440"/>
        </a:xfrm>
        <a:custGeom>
          <a:avLst/>
          <a:gdLst/>
          <a:ahLst/>
          <a:cxnLst/>
          <a:rect l="0" t="0" r="0" b="0"/>
          <a:pathLst>
            <a:path>
              <a:moveTo>
                <a:pt x="0" y="45720"/>
              </a:moveTo>
              <a:lnTo>
                <a:pt x="573701"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36016" y="1006856"/>
        <a:ext cx="30215" cy="6043"/>
      </dsp:txXfrm>
    </dsp:sp>
    <dsp:sp modelId="{A7BD0AC1-B0AE-4BA3-811E-03DA1F4612C8}">
      <dsp:nvSpPr>
        <dsp:cNvPr id="0" name=""/>
        <dsp:cNvSpPr/>
      </dsp:nvSpPr>
      <dsp:spPr>
        <a:xfrm>
          <a:off x="3238676" y="221659"/>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US" sz="1800" b="1" kern="1200" dirty="0"/>
            <a:t>Purpose</a:t>
          </a:r>
          <a:r>
            <a:rPr lang="en-US" sz="1800" kern="1200" dirty="0"/>
            <a:t>: Captures context from both directions to classify sentiment as positive, negative or neutral.</a:t>
          </a:r>
        </a:p>
      </dsp:txBody>
      <dsp:txXfrm>
        <a:off x="3238676" y="221659"/>
        <a:ext cx="2627396" cy="1576437"/>
      </dsp:txXfrm>
    </dsp:sp>
    <dsp:sp modelId="{9141BEA7-7B4A-4304-8925-B63A9AF3411B}">
      <dsp:nvSpPr>
        <dsp:cNvPr id="0" name=""/>
        <dsp:cNvSpPr/>
      </dsp:nvSpPr>
      <dsp:spPr>
        <a:xfrm>
          <a:off x="1320677" y="1796297"/>
          <a:ext cx="6463394" cy="573701"/>
        </a:xfrm>
        <a:custGeom>
          <a:avLst/>
          <a:gdLst/>
          <a:ahLst/>
          <a:cxnLst/>
          <a:rect l="0" t="0" r="0" b="0"/>
          <a:pathLst>
            <a:path>
              <a:moveTo>
                <a:pt x="6463394" y="0"/>
              </a:moveTo>
              <a:lnTo>
                <a:pt x="6463394" y="303950"/>
              </a:lnTo>
              <a:lnTo>
                <a:pt x="0" y="303950"/>
              </a:lnTo>
              <a:lnTo>
                <a:pt x="0" y="573701"/>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90085" y="2080126"/>
        <a:ext cx="324579" cy="6043"/>
      </dsp:txXfrm>
    </dsp:sp>
    <dsp:sp modelId="{BF2576F9-9E4C-4863-8B83-56BBCD14C2CF}">
      <dsp:nvSpPr>
        <dsp:cNvPr id="0" name=""/>
        <dsp:cNvSpPr/>
      </dsp:nvSpPr>
      <dsp:spPr>
        <a:xfrm>
          <a:off x="6470374" y="221659"/>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US" sz="1800" b="1" kern="1200" dirty="0"/>
            <a:t>Outputs Sentiment Scores</a:t>
          </a:r>
          <a:r>
            <a:rPr lang="en-US" sz="1800" kern="1200" dirty="0"/>
            <a:t>: Uses word embeddings to convert text into numerical form.  </a:t>
          </a:r>
        </a:p>
      </dsp:txBody>
      <dsp:txXfrm>
        <a:off x="6470374" y="221659"/>
        <a:ext cx="2627396" cy="1576437"/>
      </dsp:txXfrm>
    </dsp:sp>
    <dsp:sp modelId="{BFD743BD-EFF0-45C6-9BAF-89E7DA51907A}">
      <dsp:nvSpPr>
        <dsp:cNvPr id="0" name=""/>
        <dsp:cNvSpPr/>
      </dsp:nvSpPr>
      <dsp:spPr>
        <a:xfrm>
          <a:off x="2632575" y="3144897"/>
          <a:ext cx="573701" cy="91440"/>
        </a:xfrm>
        <a:custGeom>
          <a:avLst/>
          <a:gdLst/>
          <a:ahLst/>
          <a:cxnLst/>
          <a:rect l="0" t="0" r="0" b="0"/>
          <a:pathLst>
            <a:path>
              <a:moveTo>
                <a:pt x="0" y="45720"/>
              </a:moveTo>
              <a:lnTo>
                <a:pt x="573701"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04318" y="3187595"/>
        <a:ext cx="30215" cy="6043"/>
      </dsp:txXfrm>
    </dsp:sp>
    <dsp:sp modelId="{EC8E710E-BCD4-495F-A949-2B6E5129AD46}">
      <dsp:nvSpPr>
        <dsp:cNvPr id="0" name=""/>
        <dsp:cNvSpPr/>
      </dsp:nvSpPr>
      <dsp:spPr>
        <a:xfrm>
          <a:off x="6979" y="2402398"/>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IN" sz="1800" b="1" kern="1200" dirty="0"/>
            <a:t>Positive: </a:t>
          </a:r>
          <a:r>
            <a:rPr lang="en-IN" sz="1800" b="0" kern="1200" dirty="0"/>
            <a:t>Detected when model identifies positive pattern in word sequence.</a:t>
          </a:r>
          <a:endParaRPr lang="en-US" sz="1800" kern="1200" dirty="0"/>
        </a:p>
      </dsp:txBody>
      <dsp:txXfrm>
        <a:off x="6979" y="2402398"/>
        <a:ext cx="2627396" cy="1576437"/>
      </dsp:txXfrm>
    </dsp:sp>
    <dsp:sp modelId="{99BADF59-CE3A-4EE1-BC1A-CBCD5C868BA8}">
      <dsp:nvSpPr>
        <dsp:cNvPr id="0" name=""/>
        <dsp:cNvSpPr/>
      </dsp:nvSpPr>
      <dsp:spPr>
        <a:xfrm>
          <a:off x="5864273" y="3144897"/>
          <a:ext cx="573701" cy="91440"/>
        </a:xfrm>
        <a:custGeom>
          <a:avLst/>
          <a:gdLst/>
          <a:ahLst/>
          <a:cxnLst/>
          <a:rect l="0" t="0" r="0" b="0"/>
          <a:pathLst>
            <a:path>
              <a:moveTo>
                <a:pt x="0" y="45720"/>
              </a:moveTo>
              <a:lnTo>
                <a:pt x="573701"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36016" y="3187595"/>
        <a:ext cx="30215" cy="6043"/>
      </dsp:txXfrm>
    </dsp:sp>
    <dsp:sp modelId="{CA11E789-0F41-402F-9042-34D317A300E5}">
      <dsp:nvSpPr>
        <dsp:cNvPr id="0" name=""/>
        <dsp:cNvSpPr/>
      </dsp:nvSpPr>
      <dsp:spPr>
        <a:xfrm>
          <a:off x="3238676" y="2402398"/>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IN" sz="1800" b="1" kern="1200" dirty="0"/>
            <a:t>Negative: </a:t>
          </a:r>
          <a:r>
            <a:rPr lang="en-IN" sz="1800" b="0" kern="1200" dirty="0"/>
            <a:t>Detected from patterns linked to negative expressions.</a:t>
          </a:r>
          <a:endParaRPr lang="en-US" sz="1800" kern="1200" dirty="0"/>
        </a:p>
      </dsp:txBody>
      <dsp:txXfrm>
        <a:off x="3238676" y="2402398"/>
        <a:ext cx="2627396" cy="1576437"/>
      </dsp:txXfrm>
    </dsp:sp>
    <dsp:sp modelId="{CDBF7DD2-3261-4135-BE5D-17EB8011D30A}">
      <dsp:nvSpPr>
        <dsp:cNvPr id="0" name=""/>
        <dsp:cNvSpPr/>
      </dsp:nvSpPr>
      <dsp:spPr>
        <a:xfrm>
          <a:off x="1549287" y="3977035"/>
          <a:ext cx="6234784" cy="573701"/>
        </a:xfrm>
        <a:custGeom>
          <a:avLst/>
          <a:gdLst/>
          <a:ahLst/>
          <a:cxnLst/>
          <a:rect l="0" t="0" r="0" b="0"/>
          <a:pathLst>
            <a:path>
              <a:moveTo>
                <a:pt x="6234784" y="0"/>
              </a:moveTo>
              <a:lnTo>
                <a:pt x="6234784" y="303950"/>
              </a:lnTo>
              <a:lnTo>
                <a:pt x="0" y="303950"/>
              </a:lnTo>
              <a:lnTo>
                <a:pt x="0" y="573701"/>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10079" y="4260864"/>
        <a:ext cx="313200" cy="6043"/>
      </dsp:txXfrm>
    </dsp:sp>
    <dsp:sp modelId="{9E3B7526-E93B-47CB-A1B2-4E364E905646}">
      <dsp:nvSpPr>
        <dsp:cNvPr id="0" name=""/>
        <dsp:cNvSpPr/>
      </dsp:nvSpPr>
      <dsp:spPr>
        <a:xfrm>
          <a:off x="6470374" y="2402398"/>
          <a:ext cx="2627396"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US" sz="1800" b="1" kern="1200" dirty="0"/>
            <a:t>Neutral</a:t>
          </a:r>
          <a:r>
            <a:rPr lang="en-US" sz="1800" kern="1200" dirty="0"/>
            <a:t>: Output when no strong sentiment is found.</a:t>
          </a:r>
        </a:p>
      </dsp:txBody>
      <dsp:txXfrm>
        <a:off x="6470374" y="2402398"/>
        <a:ext cx="2627396" cy="1576437"/>
      </dsp:txXfrm>
    </dsp:sp>
    <dsp:sp modelId="{25DAA599-9C82-42CB-B164-4241A7500440}">
      <dsp:nvSpPr>
        <dsp:cNvPr id="0" name=""/>
        <dsp:cNvSpPr/>
      </dsp:nvSpPr>
      <dsp:spPr>
        <a:xfrm>
          <a:off x="6979" y="4583136"/>
          <a:ext cx="3084615" cy="15764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745" tIns="135140" rIns="128745" bIns="135140" numCol="1" spcCol="1270" anchor="ctr" anchorCtr="0">
          <a:noAutofit/>
        </a:bodyPr>
        <a:lstStyle/>
        <a:p>
          <a:pPr marL="0" lvl="0" indent="0" algn="ctr" defTabSz="800100">
            <a:lnSpc>
              <a:spcPct val="90000"/>
            </a:lnSpc>
            <a:spcBef>
              <a:spcPct val="0"/>
            </a:spcBef>
            <a:spcAft>
              <a:spcPct val="35000"/>
            </a:spcAft>
            <a:buNone/>
          </a:pPr>
          <a:r>
            <a:rPr lang="en-US" sz="1800" b="1" kern="1200" dirty="0"/>
            <a:t>Final Output:</a:t>
          </a:r>
          <a:r>
            <a:rPr lang="en-US" sz="1800" kern="1200" dirty="0"/>
            <a:t> Probabilities for each class (e.g., Positive: 0.75, Negative: 0.15, Neutral: 0.10)</a:t>
          </a:r>
        </a:p>
      </dsp:txBody>
      <dsp:txXfrm>
        <a:off x="6979" y="4583136"/>
        <a:ext cx="3084615" cy="15764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7D3B6-3CA0-491C-A925-01BF663F0783}">
      <dsp:nvSpPr>
        <dsp:cNvPr id="0" name=""/>
        <dsp:cNvSpPr/>
      </dsp:nvSpPr>
      <dsp:spPr>
        <a:xfrm>
          <a:off x="0" y="228604"/>
          <a:ext cx="7964279" cy="25257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EC3248-3073-42BC-BE8D-1A33567C7044}">
      <dsp:nvSpPr>
        <dsp:cNvPr id="0" name=""/>
        <dsp:cNvSpPr/>
      </dsp:nvSpPr>
      <dsp:spPr>
        <a:xfrm>
          <a:off x="554456" y="987421"/>
          <a:ext cx="1008103" cy="10081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4A71D4-C671-45D5-894D-B2134EBD8697}">
      <dsp:nvSpPr>
        <dsp:cNvPr id="0" name=""/>
        <dsp:cNvSpPr/>
      </dsp:nvSpPr>
      <dsp:spPr>
        <a:xfrm>
          <a:off x="2117016" y="575015"/>
          <a:ext cx="5847262" cy="1832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983" tIns="193983" rIns="193983" bIns="193983" numCol="1" spcCol="1270" anchor="ctr" anchorCtr="0">
          <a:noAutofit/>
        </a:bodyPr>
        <a:lstStyle/>
        <a:p>
          <a:pPr marL="0" lvl="0" indent="0" algn="l" defTabSz="844550">
            <a:lnSpc>
              <a:spcPct val="100000"/>
            </a:lnSpc>
            <a:spcBef>
              <a:spcPct val="0"/>
            </a:spcBef>
            <a:spcAft>
              <a:spcPct val="35000"/>
            </a:spcAft>
            <a:buNone/>
          </a:pPr>
          <a:r>
            <a:rPr lang="en-US" sz="1900" b="1" kern="1200" dirty="0"/>
            <a:t>CNN is a type of deep learning model, primarily designed for processing grid-like data such as images, but it has also been effectively applied to text data for tasks like sentiment analysis and emotion detection. </a:t>
          </a:r>
          <a:endParaRPr lang="en-US" sz="1900" kern="1200" dirty="0"/>
        </a:p>
      </dsp:txBody>
      <dsp:txXfrm>
        <a:off x="2117016" y="575015"/>
        <a:ext cx="5847262" cy="1832914"/>
      </dsp:txXfrm>
    </dsp:sp>
    <dsp:sp modelId="{1ACE12B8-6931-4D2B-B538-179F842D02F5}">
      <dsp:nvSpPr>
        <dsp:cNvPr id="0" name=""/>
        <dsp:cNvSpPr/>
      </dsp:nvSpPr>
      <dsp:spPr>
        <a:xfrm>
          <a:off x="0" y="3212571"/>
          <a:ext cx="7964279" cy="266854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908E9C-CCE3-439B-B3CB-5E262316E728}">
      <dsp:nvSpPr>
        <dsp:cNvPr id="0" name=""/>
        <dsp:cNvSpPr/>
      </dsp:nvSpPr>
      <dsp:spPr>
        <a:xfrm>
          <a:off x="554456" y="4042789"/>
          <a:ext cx="1008103" cy="10081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235B24-8007-4603-B234-C0FCCEB282F8}">
      <dsp:nvSpPr>
        <dsp:cNvPr id="0" name=""/>
        <dsp:cNvSpPr/>
      </dsp:nvSpPr>
      <dsp:spPr>
        <a:xfrm>
          <a:off x="2117016" y="3630384"/>
          <a:ext cx="5847262" cy="1832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983" tIns="193983" rIns="193983" bIns="193983" numCol="1" spcCol="1270" anchor="ctr" anchorCtr="0">
          <a:noAutofit/>
        </a:bodyPr>
        <a:lstStyle/>
        <a:p>
          <a:pPr marL="0" lvl="0" indent="0" algn="l" defTabSz="844550">
            <a:lnSpc>
              <a:spcPct val="100000"/>
            </a:lnSpc>
            <a:spcBef>
              <a:spcPct val="0"/>
            </a:spcBef>
            <a:spcAft>
              <a:spcPct val="35000"/>
            </a:spcAft>
            <a:buNone/>
          </a:pPr>
          <a:r>
            <a:rPr lang="en-US" sz="1900" b="1" kern="1200"/>
            <a:t>CNN is particularly known for its ability to automatically and adaptively learn spatial hierarchies of features, from low-level patterns like edges in images to high-level concepts in text.</a:t>
          </a:r>
          <a:endParaRPr lang="en-US" sz="1900" kern="1200"/>
        </a:p>
      </dsp:txBody>
      <dsp:txXfrm>
        <a:off x="2117016" y="3630384"/>
        <a:ext cx="5847262" cy="18329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0FEF09-DCB3-44B2-A7AF-BFE84AFEAF77}">
      <dsp:nvSpPr>
        <dsp:cNvPr id="0" name=""/>
        <dsp:cNvSpPr/>
      </dsp:nvSpPr>
      <dsp:spPr>
        <a:xfrm rot="5400000">
          <a:off x="5352346" y="-2174962"/>
          <a:ext cx="877341" cy="54503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Converts input text into numerical vectors using a pre-trained Word2Vec (W2V) model.</a:t>
          </a:r>
        </a:p>
      </dsp:txBody>
      <dsp:txXfrm rot="-5400000">
        <a:off x="3065833" y="154379"/>
        <a:ext cx="5407540" cy="791685"/>
      </dsp:txXfrm>
    </dsp:sp>
    <dsp:sp modelId="{7ECC37DF-4580-45E8-BE6A-ED5AABEBD8C6}">
      <dsp:nvSpPr>
        <dsp:cNvPr id="0" name=""/>
        <dsp:cNvSpPr/>
      </dsp:nvSpPr>
      <dsp:spPr>
        <a:xfrm>
          <a:off x="0" y="1883"/>
          <a:ext cx="3065832" cy="10966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a:t>Step 1: Embedding Layer</a:t>
          </a:r>
          <a:endParaRPr lang="en-US" sz="2200" kern="1200"/>
        </a:p>
      </dsp:txBody>
      <dsp:txXfrm>
        <a:off x="53535" y="55418"/>
        <a:ext cx="2958762" cy="989606"/>
      </dsp:txXfrm>
    </dsp:sp>
    <dsp:sp modelId="{1ED17F71-BF0E-4213-A292-ABBBD736B90E}">
      <dsp:nvSpPr>
        <dsp:cNvPr id="0" name=""/>
        <dsp:cNvSpPr/>
      </dsp:nvSpPr>
      <dsp:spPr>
        <a:xfrm rot="5400000">
          <a:off x="5352346" y="-1023451"/>
          <a:ext cx="877341" cy="54503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Extracts features from the text data by applying filters.</a:t>
          </a:r>
        </a:p>
      </dsp:txBody>
      <dsp:txXfrm rot="-5400000">
        <a:off x="3065833" y="1305890"/>
        <a:ext cx="5407540" cy="791685"/>
      </dsp:txXfrm>
    </dsp:sp>
    <dsp:sp modelId="{77BA4BAB-1D75-4051-944D-F87B572ED765}">
      <dsp:nvSpPr>
        <dsp:cNvPr id="0" name=""/>
        <dsp:cNvSpPr/>
      </dsp:nvSpPr>
      <dsp:spPr>
        <a:xfrm>
          <a:off x="0" y="1153394"/>
          <a:ext cx="3065832" cy="10966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a:t>Step 2: Convolutional Layer (1D CNN)</a:t>
          </a:r>
          <a:endParaRPr lang="en-US" sz="2200" kern="1200"/>
        </a:p>
      </dsp:txBody>
      <dsp:txXfrm>
        <a:off x="53535" y="1206929"/>
        <a:ext cx="2958762" cy="989606"/>
      </dsp:txXfrm>
    </dsp:sp>
    <dsp:sp modelId="{2C06C2C3-69FF-4808-BDD7-8ED0778326DE}">
      <dsp:nvSpPr>
        <dsp:cNvPr id="0" name=""/>
        <dsp:cNvSpPr/>
      </dsp:nvSpPr>
      <dsp:spPr>
        <a:xfrm rot="5400000">
          <a:off x="5352346" y="128058"/>
          <a:ext cx="877341" cy="54503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Selects the most important features and reduces dimensionality.</a:t>
          </a:r>
        </a:p>
      </dsp:txBody>
      <dsp:txXfrm rot="-5400000">
        <a:off x="3065833" y="2457399"/>
        <a:ext cx="5407540" cy="791685"/>
      </dsp:txXfrm>
    </dsp:sp>
    <dsp:sp modelId="{22D34460-B77C-41C8-9BE8-5204D1E55A14}">
      <dsp:nvSpPr>
        <dsp:cNvPr id="0" name=""/>
        <dsp:cNvSpPr/>
      </dsp:nvSpPr>
      <dsp:spPr>
        <a:xfrm>
          <a:off x="0" y="2304904"/>
          <a:ext cx="3065832" cy="10966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a:t>Step 3: Global Max Pooling</a:t>
          </a:r>
          <a:endParaRPr lang="en-US" sz="2200" kern="1200"/>
        </a:p>
      </dsp:txBody>
      <dsp:txXfrm>
        <a:off x="53535" y="2358439"/>
        <a:ext cx="2958762" cy="989606"/>
      </dsp:txXfrm>
    </dsp:sp>
    <dsp:sp modelId="{C5E03F48-AC73-481C-B932-66113C742B88}">
      <dsp:nvSpPr>
        <dsp:cNvPr id="0" name=""/>
        <dsp:cNvSpPr/>
      </dsp:nvSpPr>
      <dsp:spPr>
        <a:xfrm rot="5400000">
          <a:off x="5352346" y="1279568"/>
          <a:ext cx="877341" cy="54503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Processes extracted features and learns complex patterns.</a:t>
          </a:r>
        </a:p>
      </dsp:txBody>
      <dsp:txXfrm rot="-5400000">
        <a:off x="3065833" y="3608909"/>
        <a:ext cx="5407540" cy="791685"/>
      </dsp:txXfrm>
    </dsp:sp>
    <dsp:sp modelId="{B7952D01-101C-42C2-876A-05892CDBE305}">
      <dsp:nvSpPr>
        <dsp:cNvPr id="0" name=""/>
        <dsp:cNvSpPr/>
      </dsp:nvSpPr>
      <dsp:spPr>
        <a:xfrm>
          <a:off x="0" y="3456414"/>
          <a:ext cx="3065832" cy="10966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a:t>Step 4: Fully Connected Layers (Dense)</a:t>
          </a:r>
          <a:endParaRPr lang="en-US" sz="2200" kern="1200"/>
        </a:p>
      </dsp:txBody>
      <dsp:txXfrm>
        <a:off x="53535" y="3509949"/>
        <a:ext cx="2958762" cy="989606"/>
      </dsp:txXfrm>
    </dsp:sp>
    <dsp:sp modelId="{E51264B4-7353-4631-AE78-0BEA21B65191}">
      <dsp:nvSpPr>
        <dsp:cNvPr id="0" name=""/>
        <dsp:cNvSpPr/>
      </dsp:nvSpPr>
      <dsp:spPr>
        <a:xfrm rot="5400000">
          <a:off x="5352346" y="2431079"/>
          <a:ext cx="877341" cy="54503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Classifies the text into different emotion categories.</a:t>
          </a:r>
        </a:p>
      </dsp:txBody>
      <dsp:txXfrm rot="-5400000">
        <a:off x="3065833" y="4760420"/>
        <a:ext cx="5407540" cy="791685"/>
      </dsp:txXfrm>
    </dsp:sp>
    <dsp:sp modelId="{F39039D5-BA7C-4346-AF77-11F73215BB90}">
      <dsp:nvSpPr>
        <dsp:cNvPr id="0" name=""/>
        <dsp:cNvSpPr/>
      </dsp:nvSpPr>
      <dsp:spPr>
        <a:xfrm>
          <a:off x="0" y="4607925"/>
          <a:ext cx="3065832" cy="10966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a:t>Step 5: Softmax Output Layer</a:t>
          </a:r>
          <a:endParaRPr lang="en-US" sz="2200" kern="1200"/>
        </a:p>
      </dsp:txBody>
      <dsp:txXfrm>
        <a:off x="53535" y="4661460"/>
        <a:ext cx="2958762" cy="989606"/>
      </dsp:txXfrm>
    </dsp:sp>
    <dsp:sp modelId="{22CD3DC7-1F9D-4E8C-B30C-2FE4A12FEFE1}">
      <dsp:nvSpPr>
        <dsp:cNvPr id="0" name=""/>
        <dsp:cNvSpPr/>
      </dsp:nvSpPr>
      <dsp:spPr>
        <a:xfrm rot="5400000">
          <a:off x="5352346" y="3582589"/>
          <a:ext cx="877341" cy="54503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Detects emotions such as anger, disgust, fear, joy, happiness, sadness, shame, surprise, and neutral, represented by respective emojis.</a:t>
          </a:r>
        </a:p>
      </dsp:txBody>
      <dsp:txXfrm rot="-5400000">
        <a:off x="3065833" y="5911930"/>
        <a:ext cx="5407540" cy="791685"/>
      </dsp:txXfrm>
    </dsp:sp>
    <dsp:sp modelId="{11E862F3-9507-41D2-852F-44DE83552481}">
      <dsp:nvSpPr>
        <dsp:cNvPr id="0" name=""/>
        <dsp:cNvSpPr/>
      </dsp:nvSpPr>
      <dsp:spPr>
        <a:xfrm>
          <a:off x="0" y="5759435"/>
          <a:ext cx="3065832" cy="10966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a:t>Emotion Prediction Output</a:t>
          </a:r>
          <a:endParaRPr lang="en-US" sz="2200" kern="1200"/>
        </a:p>
      </dsp:txBody>
      <dsp:txXfrm>
        <a:off x="53535" y="5812970"/>
        <a:ext cx="2958762" cy="989606"/>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7.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7.jpeg"/><Relationship Id="rId7" Type="http://schemas.openxmlformats.org/officeDocument/2006/relationships/diagramQuickStyle" Target="../diagrams/quickStyle3.xml"/><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8.png"/><Relationship Id="rId9" Type="http://schemas.microsoft.com/office/2007/relationships/diagramDrawing" Target="../diagrams/drawing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a:extLst>
            <a:ext uri="{FF2B5EF4-FFF2-40B4-BE49-F238E27FC236}">
              <a16:creationId xmlns:a16="http://schemas.microsoft.com/office/drawing/2014/main" id="{70A164E8-FB44-EBEC-3B55-CF365927C09A}"/>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28AEF6AA-F52F-9180-C777-8844131B1DCA}"/>
              </a:ext>
            </a:extLst>
          </p:cNvPr>
          <p:cNvSpPr txBox="1"/>
          <p:nvPr/>
        </p:nvSpPr>
        <p:spPr>
          <a:xfrm>
            <a:off x="8839200" y="1409700"/>
            <a:ext cx="10210797" cy="3323987"/>
          </a:xfrm>
          <a:prstGeom prst="rect">
            <a:avLst/>
          </a:prstGeom>
        </p:spPr>
        <p:txBody>
          <a:bodyPr wrap="square" lIns="0" tIns="0" rIns="0" bIns="0" rtlCol="0" anchor="t">
            <a:spAutoFit/>
          </a:bodyPr>
          <a:lstStyle/>
          <a:p>
            <a:pPr algn="l"/>
            <a:r>
              <a:rPr lang="en-US" sz="7200" b="1" dirty="0">
                <a:solidFill>
                  <a:srgbClr val="3D2E12"/>
                </a:solidFill>
                <a:latin typeface="Cormorant Garamond Light"/>
                <a:ea typeface="Cormorant Garamond Light"/>
                <a:cs typeface="Cormorant Garamond Light"/>
                <a:sym typeface="Cormorant Garamond Light"/>
              </a:rPr>
              <a:t>SENTIMENTAL ANALYSIS FROM SOCIAL MEDIA TEXT </a:t>
            </a:r>
          </a:p>
        </p:txBody>
      </p:sp>
      <p:sp>
        <p:nvSpPr>
          <p:cNvPr id="5" name="TextBox 5">
            <a:extLst>
              <a:ext uri="{FF2B5EF4-FFF2-40B4-BE49-F238E27FC236}">
                <a16:creationId xmlns:a16="http://schemas.microsoft.com/office/drawing/2014/main" id="{C3198D6F-F699-76BF-E5A1-12E2D394942C}"/>
              </a:ext>
            </a:extLst>
          </p:cNvPr>
          <p:cNvSpPr txBox="1"/>
          <p:nvPr/>
        </p:nvSpPr>
        <p:spPr>
          <a:xfrm>
            <a:off x="13106400" y="7579251"/>
            <a:ext cx="5695949" cy="2154436"/>
          </a:xfrm>
          <a:prstGeom prst="rect">
            <a:avLst/>
          </a:prstGeom>
        </p:spPr>
        <p:txBody>
          <a:bodyPr wrap="square" lIns="0" tIns="0" rIns="0" bIns="0" rtlCol="0" anchor="t">
            <a:spAutoFit/>
          </a:bodyPr>
          <a:lstStyle/>
          <a:p>
            <a:pPr algn="l">
              <a:spcBef>
                <a:spcPct val="0"/>
              </a:spcBef>
            </a:pPr>
            <a:r>
              <a:rPr lang="en-US" sz="2800" b="1" dirty="0">
                <a:solidFill>
                  <a:srgbClr val="3D2E12"/>
                </a:solidFill>
                <a:latin typeface="Cormorant Garamond Light"/>
                <a:ea typeface="Cormorant Garamond Light"/>
                <a:cs typeface="Cormorant Garamond Light"/>
                <a:sym typeface="Cormorant Garamond Light"/>
              </a:rPr>
              <a:t>PRESENTED BY:</a:t>
            </a:r>
          </a:p>
          <a:p>
            <a:pPr algn="l">
              <a:spcBef>
                <a:spcPct val="0"/>
              </a:spcBef>
            </a:pPr>
            <a:r>
              <a:rPr lang="en-US" sz="2800" b="1" dirty="0">
                <a:solidFill>
                  <a:srgbClr val="3D2E12"/>
                </a:solidFill>
                <a:latin typeface="Cormorant Garamond Light"/>
                <a:ea typeface="Cormorant Garamond Light"/>
                <a:cs typeface="Cormorant Garamond Light"/>
                <a:sym typeface="Cormorant Garamond Light"/>
              </a:rPr>
              <a:t>Suraj Panda		2101020052</a:t>
            </a:r>
          </a:p>
          <a:p>
            <a:pPr algn="l">
              <a:spcBef>
                <a:spcPct val="0"/>
              </a:spcBef>
            </a:pPr>
            <a:r>
              <a:rPr lang="en-US" sz="2800" b="1" dirty="0">
                <a:solidFill>
                  <a:srgbClr val="3D2E12"/>
                </a:solidFill>
                <a:latin typeface="Cormorant Garamond Light"/>
                <a:ea typeface="Cormorant Garamond Light"/>
                <a:cs typeface="Cormorant Garamond Light"/>
                <a:sym typeface="Cormorant Garamond Light"/>
              </a:rPr>
              <a:t>Vaibhav Raj		2101010035</a:t>
            </a:r>
          </a:p>
          <a:p>
            <a:pPr algn="l">
              <a:spcBef>
                <a:spcPct val="0"/>
              </a:spcBef>
            </a:pPr>
            <a:r>
              <a:rPr lang="en-US" sz="2800" b="1" dirty="0">
                <a:solidFill>
                  <a:srgbClr val="3D2E12"/>
                </a:solidFill>
                <a:latin typeface="Cormorant Garamond Light"/>
                <a:ea typeface="Cormorant Garamond Light"/>
                <a:cs typeface="Cormorant Garamond Light"/>
                <a:sym typeface="Cormorant Garamond Light"/>
              </a:rPr>
              <a:t>Ishika Rani		2101020046</a:t>
            </a:r>
          </a:p>
          <a:p>
            <a:pPr algn="l">
              <a:spcBef>
                <a:spcPct val="0"/>
              </a:spcBef>
            </a:pPr>
            <a:r>
              <a:rPr lang="en-US" sz="2800" b="1" dirty="0">
                <a:solidFill>
                  <a:srgbClr val="3D2E12"/>
                </a:solidFill>
                <a:latin typeface="Cormorant Garamond Light"/>
                <a:ea typeface="Cormorant Garamond Light"/>
                <a:cs typeface="Cormorant Garamond Light"/>
                <a:sym typeface="Cormorant Garamond Light"/>
              </a:rPr>
              <a:t>Nishant Kumar	2101020040</a:t>
            </a:r>
          </a:p>
        </p:txBody>
      </p:sp>
      <p:sp>
        <p:nvSpPr>
          <p:cNvPr id="6" name="AutoShape 6">
            <a:extLst>
              <a:ext uri="{FF2B5EF4-FFF2-40B4-BE49-F238E27FC236}">
                <a16:creationId xmlns:a16="http://schemas.microsoft.com/office/drawing/2014/main" id="{E719A5FD-B578-DAA5-BE60-6E5272DEF0B7}"/>
              </a:ext>
              <a:ext uri="{C183D7F6-B498-43B3-948B-1728B52AA6E4}">
                <adec:decorative xmlns:adec="http://schemas.microsoft.com/office/drawing/2017/decorative" val="1"/>
              </a:ext>
            </a:extLst>
          </p:cNvPr>
          <p:cNvSpPr/>
          <p:nvPr/>
        </p:nvSpPr>
        <p:spPr>
          <a:xfrm rot="5400000">
            <a:off x="11857697" y="8891017"/>
            <a:ext cx="1887806" cy="0"/>
          </a:xfrm>
          <a:prstGeom prst="line">
            <a:avLst/>
          </a:prstGeom>
          <a:ln w="9525" cap="flat">
            <a:solidFill>
              <a:srgbClr val="726753"/>
            </a:solidFill>
            <a:prstDash val="solid"/>
            <a:headEnd type="none" w="sm" len="sm"/>
            <a:tailEnd type="none" w="sm" len="sm"/>
          </a:ln>
        </p:spPr>
        <p:txBody>
          <a:bodyPr/>
          <a:lstStyle/>
          <a:p>
            <a:endParaRPr lang="en-IN"/>
          </a:p>
        </p:txBody>
      </p:sp>
      <p:pic>
        <p:nvPicPr>
          <p:cNvPr id="10" name="Picture 9">
            <a:extLst>
              <a:ext uri="{FF2B5EF4-FFF2-40B4-BE49-F238E27FC236}">
                <a16:creationId xmlns:a16="http://schemas.microsoft.com/office/drawing/2014/main" id="{84A9784C-8890-B91F-AB4B-293A865A45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 y="291733"/>
            <a:ext cx="7010399" cy="9543187"/>
          </a:xfrm>
          <a:prstGeom prst="rect">
            <a:avLst/>
          </a:prstGeom>
          <a:ln>
            <a:noFill/>
          </a:ln>
          <a:effectLst>
            <a:outerShdw blurRad="292100" dist="139700" dir="2700000" algn="tl" rotWithShape="0">
              <a:srgbClr val="333333">
                <a:alpha val="65000"/>
              </a:srgbClr>
            </a:outerShdw>
          </a:effectLst>
        </p:spPr>
      </p:pic>
      <p:sp>
        <p:nvSpPr>
          <p:cNvPr id="11" name="Rectangle 5">
            <a:extLst>
              <a:ext uri="{FF2B5EF4-FFF2-40B4-BE49-F238E27FC236}">
                <a16:creationId xmlns:a16="http://schemas.microsoft.com/office/drawing/2014/main" id="{4AA7949C-D55E-D33C-7096-6522D9317142}"/>
              </a:ext>
            </a:extLst>
          </p:cNvPr>
          <p:cNvSpPr>
            <a:spLocks noChangeArrowheads="1"/>
          </p:cNvSpPr>
          <p:nvPr/>
        </p:nvSpPr>
        <p:spPr bwMode="auto">
          <a:xfrm>
            <a:off x="1043513" y="8413963"/>
            <a:ext cx="421196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3600" b="1" dirty="0">
                <a:latin typeface="Cormorant Garamond Light" panose="020B0604020202020204" charset="0"/>
                <a:cs typeface="Times New Roman" panose="02020603050405020304" pitchFamily="18" charset="0"/>
              </a:rPr>
              <a:t>Guided By:</a:t>
            </a:r>
            <a:endParaRPr lang="en-US" altLang="en-US" sz="3600" dirty="0">
              <a:latin typeface="Cormorant Garamond Light" panose="020B0604020202020204" charset="0"/>
              <a:cs typeface="Times New Roman" panose="02020603050405020304" pitchFamily="18" charset="0"/>
            </a:endParaRPr>
          </a:p>
          <a:p>
            <a:pPr eaLnBrk="1" hangingPunct="1">
              <a:spcBef>
                <a:spcPct val="0"/>
              </a:spcBef>
              <a:buFontTx/>
              <a:buNone/>
            </a:pPr>
            <a:r>
              <a:rPr lang="en-US" altLang="en-US" sz="3600" dirty="0">
                <a:latin typeface="Cormorant Garamond Light" panose="020B0604020202020204" charset="0"/>
                <a:cs typeface="Times New Roman" panose="02020603050405020304" pitchFamily="18" charset="0"/>
              </a:rPr>
              <a:t>Dr. Mamata Sahu</a:t>
            </a:r>
          </a:p>
        </p:txBody>
      </p:sp>
      <p:pic>
        <p:nvPicPr>
          <p:cNvPr id="13" name="Picture 12">
            <a:extLst>
              <a:ext uri="{FF2B5EF4-FFF2-40B4-BE49-F238E27FC236}">
                <a16:creationId xmlns:a16="http://schemas.microsoft.com/office/drawing/2014/main" id="{75DF6E60-86A2-AFE8-3DB5-DC0F257A31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02699" y="-342900"/>
            <a:ext cx="2349741" cy="3323987"/>
          </a:xfrm>
          <a:prstGeom prst="rect">
            <a:avLst/>
          </a:prstGeom>
        </p:spPr>
      </p:pic>
    </p:spTree>
    <p:extLst>
      <p:ext uri="{BB962C8B-B14F-4D97-AF65-F5344CB8AC3E}">
        <p14:creationId xmlns:p14="http://schemas.microsoft.com/office/powerpoint/2010/main" val="3789311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26753"/>
        </a:solidFill>
        <a:effectLst/>
      </p:bgPr>
    </p:bg>
    <p:spTree>
      <p:nvGrpSpPr>
        <p:cNvPr id="1" name=""/>
        <p:cNvGrpSpPr/>
        <p:nvPr/>
      </p:nvGrpSpPr>
      <p:grpSpPr>
        <a:xfrm>
          <a:off x="0" y="0"/>
          <a:ext cx="0" cy="0"/>
          <a:chOff x="0" y="0"/>
          <a:chExt cx="0" cy="0"/>
        </a:xfrm>
      </p:grpSpPr>
      <p:sp>
        <p:nvSpPr>
          <p:cNvPr id="4" name="TextBox 4"/>
          <p:cNvSpPr txBox="1"/>
          <p:nvPr/>
        </p:nvSpPr>
        <p:spPr>
          <a:xfrm>
            <a:off x="1155390" y="1885874"/>
            <a:ext cx="6955459" cy="2699778"/>
          </a:xfrm>
          <a:prstGeom prst="rect">
            <a:avLst/>
          </a:prstGeom>
        </p:spPr>
        <p:txBody>
          <a:bodyPr lIns="0" tIns="0" rIns="0" bIns="0" rtlCol="0" anchor="t">
            <a:spAutoFit/>
          </a:bodyPr>
          <a:lstStyle/>
          <a:p>
            <a:pPr marL="0" lvl="0" indent="0" algn="l">
              <a:lnSpc>
                <a:spcPts val="10560"/>
              </a:lnSpc>
            </a:pPr>
            <a:r>
              <a:rPr lang="en-US" sz="8800" b="1" dirty="0">
                <a:solidFill>
                  <a:srgbClr val="FFFFFF"/>
                </a:solidFill>
                <a:latin typeface="Cormorant Garamond Light"/>
                <a:ea typeface="Cormorant Garamond Light"/>
                <a:cs typeface="Cormorant Garamond Light"/>
                <a:sym typeface="Cormorant Garamond Light"/>
              </a:rPr>
              <a:t>Table of Content</a:t>
            </a:r>
          </a:p>
        </p:txBody>
      </p:sp>
      <p:sp>
        <p:nvSpPr>
          <p:cNvPr id="5" name="AutoShape 5">
            <a:extLst>
              <a:ext uri="{C183D7F6-B498-43B3-948B-1728B52AA6E4}">
                <adec:decorative xmlns:adec="http://schemas.microsoft.com/office/drawing/2017/decorative" val="1"/>
              </a:ext>
            </a:extLst>
          </p:cNvPr>
          <p:cNvSpPr/>
          <p:nvPr/>
        </p:nvSpPr>
        <p:spPr>
          <a:xfrm>
            <a:off x="1206309" y="1394387"/>
            <a:ext cx="15875381" cy="0"/>
          </a:xfrm>
          <a:prstGeom prst="line">
            <a:avLst/>
          </a:prstGeom>
          <a:ln w="9525" cap="flat">
            <a:solidFill>
              <a:srgbClr val="FFFFFF"/>
            </a:solidFill>
            <a:prstDash val="solid"/>
            <a:headEnd type="none" w="sm" len="sm"/>
            <a:tailEnd type="none" w="sm" len="sm"/>
          </a:ln>
        </p:spPr>
        <p:txBody>
          <a:bodyPr/>
          <a:lstStyle/>
          <a:p>
            <a:endParaRPr lang="en-IN"/>
          </a:p>
        </p:txBody>
      </p:sp>
      <p:sp>
        <p:nvSpPr>
          <p:cNvPr id="3" name="TextBox 4">
            <a:extLst>
              <a:ext uri="{FF2B5EF4-FFF2-40B4-BE49-F238E27FC236}">
                <a16:creationId xmlns:a16="http://schemas.microsoft.com/office/drawing/2014/main" id="{8BB562FF-347B-9991-3F92-4D7D542AC1DA}"/>
              </a:ext>
            </a:extLst>
          </p:cNvPr>
          <p:cNvSpPr txBox="1"/>
          <p:nvPr/>
        </p:nvSpPr>
        <p:spPr>
          <a:xfrm>
            <a:off x="8763000" y="2171700"/>
            <a:ext cx="6955459" cy="6832640"/>
          </a:xfrm>
          <a:prstGeom prst="rect">
            <a:avLst/>
          </a:prstGeom>
        </p:spPr>
        <p:txBody>
          <a:bodyPr lIns="0" tIns="0" rIns="0" bIns="0" rtlCol="0" anchor="t">
            <a:spAutoFit/>
          </a:bodyPr>
          <a:lstStyle/>
          <a:p>
            <a:pPr marL="571500" lvl="0" indent="-571500" algn="l">
              <a:spcAft>
                <a:spcPts val="1800"/>
              </a:spcAft>
              <a:buFont typeface="Wingdings" panose="05000000000000000000" pitchFamily="2" charset="2"/>
              <a:buChar char="Ø"/>
            </a:pPr>
            <a:r>
              <a:rPr lang="en-US" sz="3600" dirty="0">
                <a:solidFill>
                  <a:srgbClr val="FFFFFF"/>
                </a:solidFill>
                <a:latin typeface="Cormorant Garamond Light"/>
                <a:ea typeface="Cormorant Garamond Light"/>
                <a:cs typeface="Cormorant Garamond Light"/>
                <a:sym typeface="Cormorant Garamond Light"/>
              </a:rPr>
              <a:t>INTRODUCTION</a:t>
            </a:r>
          </a:p>
          <a:p>
            <a:pPr marL="571500" lvl="0" indent="-571500" algn="l">
              <a:spcAft>
                <a:spcPts val="1800"/>
              </a:spcAft>
              <a:buFont typeface="Wingdings" panose="05000000000000000000" pitchFamily="2" charset="2"/>
              <a:buChar char="Ø"/>
            </a:pPr>
            <a:r>
              <a:rPr lang="en-US" sz="3600" dirty="0">
                <a:solidFill>
                  <a:srgbClr val="FFFFFF"/>
                </a:solidFill>
                <a:latin typeface="Cormorant Garamond Light"/>
                <a:ea typeface="Cormorant Garamond Light"/>
                <a:cs typeface="Cormorant Garamond Light"/>
                <a:sym typeface="Cormorant Garamond Light"/>
              </a:rPr>
              <a:t>PROPOSED METHODOLOGY</a:t>
            </a:r>
          </a:p>
          <a:p>
            <a:pPr marL="571500" lvl="0" indent="-571500" algn="l">
              <a:spcAft>
                <a:spcPts val="1800"/>
              </a:spcAft>
              <a:buFont typeface="Wingdings" panose="05000000000000000000" pitchFamily="2" charset="2"/>
              <a:buChar char="Ø"/>
            </a:pPr>
            <a:r>
              <a:rPr lang="en-US" sz="3600" dirty="0">
                <a:solidFill>
                  <a:srgbClr val="FFFFFF"/>
                </a:solidFill>
                <a:latin typeface="Cormorant Garamond Light"/>
                <a:ea typeface="Cormorant Garamond Light"/>
                <a:cs typeface="Cormorant Garamond Light"/>
                <a:sym typeface="Cormorant Garamond Light"/>
              </a:rPr>
              <a:t>VADER MODEL</a:t>
            </a:r>
          </a:p>
          <a:p>
            <a:pPr marL="571500" lvl="0" indent="-571500" algn="l">
              <a:spcAft>
                <a:spcPts val="1800"/>
              </a:spcAft>
              <a:buFont typeface="Wingdings" panose="05000000000000000000" pitchFamily="2" charset="2"/>
              <a:buChar char="Ø"/>
            </a:pPr>
            <a:r>
              <a:rPr lang="en-US" sz="3600" dirty="0">
                <a:solidFill>
                  <a:srgbClr val="FFFFFF"/>
                </a:solidFill>
                <a:latin typeface="Cormorant Garamond Light"/>
                <a:ea typeface="Cormorant Garamond Light"/>
                <a:cs typeface="Cormorant Garamond Light"/>
                <a:sym typeface="Cormorant Garamond Light"/>
              </a:rPr>
              <a:t>BI-LSTM MODEL</a:t>
            </a:r>
          </a:p>
          <a:p>
            <a:pPr marL="571500" lvl="0" indent="-571500" algn="l">
              <a:spcAft>
                <a:spcPts val="1800"/>
              </a:spcAft>
              <a:buFont typeface="Wingdings" panose="05000000000000000000" pitchFamily="2" charset="2"/>
              <a:buChar char="Ø"/>
            </a:pPr>
            <a:r>
              <a:rPr lang="en-US" sz="3600" dirty="0">
                <a:solidFill>
                  <a:srgbClr val="FFFFFF"/>
                </a:solidFill>
                <a:latin typeface="Cormorant Garamond Light"/>
                <a:ea typeface="Cormorant Garamond Light"/>
                <a:cs typeface="Cormorant Garamond Light"/>
                <a:sym typeface="Cormorant Garamond Light"/>
              </a:rPr>
              <a:t>COMPARISION</a:t>
            </a:r>
          </a:p>
          <a:p>
            <a:pPr marL="571500" lvl="0" indent="-571500" algn="l">
              <a:spcAft>
                <a:spcPts val="1800"/>
              </a:spcAft>
              <a:buFont typeface="Wingdings" panose="05000000000000000000" pitchFamily="2" charset="2"/>
              <a:buChar char="Ø"/>
            </a:pPr>
            <a:r>
              <a:rPr lang="en-US" sz="3600" dirty="0">
                <a:solidFill>
                  <a:srgbClr val="FFFFFF"/>
                </a:solidFill>
                <a:latin typeface="Cormorant Garamond Light"/>
                <a:ea typeface="Cormorant Garamond Light"/>
                <a:cs typeface="Cormorant Garamond Light"/>
                <a:sym typeface="Cormorant Garamond Light"/>
              </a:rPr>
              <a:t>TRADITIONAL MODEL</a:t>
            </a:r>
          </a:p>
          <a:p>
            <a:pPr marL="571500" lvl="0" indent="-571500" algn="l">
              <a:spcAft>
                <a:spcPts val="1800"/>
              </a:spcAft>
              <a:buFont typeface="Wingdings" panose="05000000000000000000" pitchFamily="2" charset="2"/>
              <a:buChar char="Ø"/>
            </a:pPr>
            <a:r>
              <a:rPr lang="en-US" sz="3600" dirty="0">
                <a:solidFill>
                  <a:srgbClr val="FFFFFF"/>
                </a:solidFill>
                <a:latin typeface="Cormorant Garamond Light"/>
                <a:ea typeface="Cormorant Garamond Light"/>
                <a:cs typeface="Cormorant Garamond Light"/>
                <a:sym typeface="Cormorant Garamond Light"/>
              </a:rPr>
              <a:t>CNN MODEL</a:t>
            </a:r>
          </a:p>
          <a:p>
            <a:pPr marL="571500" lvl="0" indent="-571500" algn="l">
              <a:spcAft>
                <a:spcPts val="1800"/>
              </a:spcAft>
              <a:buFont typeface="Wingdings" panose="05000000000000000000" pitchFamily="2" charset="2"/>
              <a:buChar char="Ø"/>
            </a:pPr>
            <a:r>
              <a:rPr lang="en-US" sz="3600" dirty="0">
                <a:solidFill>
                  <a:srgbClr val="FFFFFF"/>
                </a:solidFill>
                <a:latin typeface="Cormorant Garamond Light"/>
                <a:ea typeface="Cormorant Garamond Light"/>
                <a:cs typeface="Cormorant Garamond Light"/>
                <a:sym typeface="Cormorant Garamond Light"/>
              </a:rPr>
              <a:t>PERFORMANCE TABLE</a:t>
            </a:r>
          </a:p>
          <a:p>
            <a:pPr marL="571500" lvl="0" indent="-571500" algn="l">
              <a:spcAft>
                <a:spcPts val="1800"/>
              </a:spcAft>
              <a:buFont typeface="Wingdings" panose="05000000000000000000" pitchFamily="2" charset="2"/>
              <a:buChar char="Ø"/>
            </a:pPr>
            <a:r>
              <a:rPr lang="en-US" sz="3600" dirty="0">
                <a:solidFill>
                  <a:srgbClr val="FFFFFF"/>
                </a:solidFill>
                <a:latin typeface="Cormorant Garamond Light"/>
                <a:ea typeface="Cormorant Garamond Light"/>
                <a:cs typeface="Cormorant Garamond Light"/>
                <a:sym typeface="Cormorant Garamond Light"/>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p:cNvGrpSpPr/>
        <p:nvPr/>
      </p:nvGrpSpPr>
      <p:grpSpPr>
        <a:xfrm>
          <a:off x="0" y="0"/>
          <a:ext cx="0" cy="0"/>
          <a:chOff x="0" y="0"/>
          <a:chExt cx="0" cy="0"/>
        </a:xfrm>
      </p:grpSpPr>
      <p:sp>
        <p:nvSpPr>
          <p:cNvPr id="2" name="TextBox 2"/>
          <p:cNvSpPr txBox="1"/>
          <p:nvPr/>
        </p:nvSpPr>
        <p:spPr>
          <a:xfrm>
            <a:off x="1562100" y="540042"/>
            <a:ext cx="15178408" cy="1494155"/>
          </a:xfrm>
          <a:prstGeom prst="rect">
            <a:avLst/>
          </a:prstGeom>
        </p:spPr>
        <p:txBody>
          <a:bodyPr lIns="0" tIns="0" rIns="0" bIns="0" rtlCol="0" anchor="t">
            <a:spAutoFit/>
          </a:bodyPr>
          <a:lstStyle/>
          <a:p>
            <a:pPr marL="0" lvl="0" indent="0" algn="l">
              <a:lnSpc>
                <a:spcPts val="12319"/>
              </a:lnSpc>
              <a:spcBef>
                <a:spcPct val="0"/>
              </a:spcBef>
            </a:pPr>
            <a:r>
              <a:rPr lang="en-US" sz="8800" b="1" dirty="0">
                <a:solidFill>
                  <a:srgbClr val="3D2E12"/>
                </a:solidFill>
                <a:latin typeface="Cormorant Garamond Light"/>
                <a:ea typeface="Cormorant Garamond Light"/>
                <a:cs typeface="Cormorant Garamond Light"/>
                <a:sym typeface="Cormorant Garamond Light"/>
              </a:rPr>
              <a:t>Introduction:</a:t>
            </a:r>
          </a:p>
        </p:txBody>
      </p:sp>
      <p:cxnSp>
        <p:nvCxnSpPr>
          <p:cNvPr id="5" name="Straight Connector 4">
            <a:extLst>
              <a:ext uri="{FF2B5EF4-FFF2-40B4-BE49-F238E27FC236}">
                <a16:creationId xmlns:a16="http://schemas.microsoft.com/office/drawing/2014/main" id="{FFEB7CCC-C6E8-D582-C35A-022DDCCD0EB6}"/>
              </a:ext>
            </a:extLst>
          </p:cNvPr>
          <p:cNvCxnSpPr/>
          <p:nvPr/>
        </p:nvCxnSpPr>
        <p:spPr>
          <a:xfrm>
            <a:off x="533400" y="2034197"/>
            <a:ext cx="17068800" cy="0"/>
          </a:xfrm>
          <a:prstGeom prst="line">
            <a:avLst/>
          </a:prstGeom>
        </p:spPr>
        <p:style>
          <a:lnRef idx="1">
            <a:schemeClr val="dk1"/>
          </a:lnRef>
          <a:fillRef idx="0">
            <a:schemeClr val="dk1"/>
          </a:fillRef>
          <a:effectRef idx="0">
            <a:schemeClr val="dk1"/>
          </a:effectRef>
          <a:fontRef idx="minor">
            <a:schemeClr val="tx1"/>
          </a:fontRef>
        </p:style>
      </p:cxnSp>
      <p:pic>
        <p:nvPicPr>
          <p:cNvPr id="6" name="Picture 5" descr="A diagram of different colored circles&#10;&#10;Description automatically generated">
            <a:extLst>
              <a:ext uri="{FF2B5EF4-FFF2-40B4-BE49-F238E27FC236}">
                <a16:creationId xmlns:a16="http://schemas.microsoft.com/office/drawing/2014/main" id="{472A74EB-5088-BACC-AE06-7DBCBC9B6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51257" y="2781300"/>
            <a:ext cx="5535390" cy="3001143"/>
          </a:xfrm>
          <a:prstGeom prst="rect">
            <a:avLst/>
          </a:prstGeom>
          <a:ln>
            <a:noFill/>
          </a:ln>
          <a:effectLst>
            <a:outerShdw blurRad="190500" algn="tl" rotWithShape="0">
              <a:srgbClr val="000000">
                <a:alpha val="70000"/>
              </a:srgbClr>
            </a:outerShdw>
          </a:effectLst>
        </p:spPr>
      </p:pic>
      <p:pic>
        <p:nvPicPr>
          <p:cNvPr id="7" name="Picture 6" descr="Exploring Sentiment Analysis: Understanding Emotion in Text Data with  Machine Learning">
            <a:extLst>
              <a:ext uri="{FF2B5EF4-FFF2-40B4-BE49-F238E27FC236}">
                <a16:creationId xmlns:a16="http://schemas.microsoft.com/office/drawing/2014/main" id="{6F5AEECA-AAE7-D616-4581-8CA2826ACE1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8679" b="22206"/>
          <a:stretch/>
        </p:blipFill>
        <p:spPr bwMode="auto">
          <a:xfrm>
            <a:off x="12551258" y="6529546"/>
            <a:ext cx="5535390" cy="2045023"/>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8" name="Content Placeholder 5">
            <a:extLst>
              <a:ext uri="{FF2B5EF4-FFF2-40B4-BE49-F238E27FC236}">
                <a16:creationId xmlns:a16="http://schemas.microsoft.com/office/drawing/2014/main" id="{1934E19B-2351-A079-9F75-D0DE84C19E8A}"/>
              </a:ext>
            </a:extLst>
          </p:cNvPr>
          <p:cNvSpPr txBox="1">
            <a:spLocks/>
          </p:cNvSpPr>
          <p:nvPr/>
        </p:nvSpPr>
        <p:spPr>
          <a:xfrm>
            <a:off x="1087574" y="2781300"/>
            <a:ext cx="11104426" cy="670560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b="1" dirty="0"/>
              <a:t>What is a Sentiment? </a:t>
            </a:r>
            <a:r>
              <a:rPr lang="en-US" dirty="0"/>
              <a:t>: The emotional tone or feeling expressed in a person’s words, reflecting attitudes or opinions.</a:t>
            </a:r>
          </a:p>
          <a:p>
            <a:pPr algn="just"/>
            <a:r>
              <a:rPr lang="en-US" dirty="0"/>
              <a:t>Sentiment analysis, is the process of analyzing emotions and opinions behind words, expressed on online platforms.</a:t>
            </a:r>
          </a:p>
          <a:p>
            <a:pPr algn="just"/>
            <a:r>
              <a:rPr lang="en-US" dirty="0"/>
              <a:t>It helps in understanding opinions, attitudes, and emotions expressed in social media data which has wide applications in social sciences, political science, marketing, e-commerce, and customer satisfaction.</a:t>
            </a:r>
          </a:p>
          <a:p>
            <a:pPr algn="just"/>
            <a:r>
              <a:rPr lang="en-US" dirty="0"/>
              <a:t>Sentiment analysis of social media posts helps gauge public opinion and identify sentiment trends.</a:t>
            </a:r>
          </a:p>
          <a:p>
            <a:pPr algn="just"/>
            <a:r>
              <a:rPr lang="en-US" dirty="0"/>
              <a:t>We explore traditional and deep learning approaches for accurate sentiment detection.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p:cNvGrpSpPr/>
        <p:nvPr/>
      </p:nvGrpSpPr>
      <p:grpSpPr>
        <a:xfrm>
          <a:off x="0" y="0"/>
          <a:ext cx="0" cy="0"/>
          <a:chOff x="0" y="0"/>
          <a:chExt cx="0" cy="0"/>
        </a:xfrm>
      </p:grpSpPr>
      <p:sp>
        <p:nvSpPr>
          <p:cNvPr id="2" name="TextBox 2"/>
          <p:cNvSpPr txBox="1"/>
          <p:nvPr/>
        </p:nvSpPr>
        <p:spPr>
          <a:xfrm>
            <a:off x="1028700" y="1152525"/>
            <a:ext cx="6591300" cy="2699778"/>
          </a:xfrm>
          <a:prstGeom prst="rect">
            <a:avLst/>
          </a:prstGeom>
        </p:spPr>
        <p:txBody>
          <a:bodyPr wrap="square" lIns="0" tIns="0" rIns="0" bIns="0" rtlCol="0" anchor="t">
            <a:spAutoFit/>
          </a:bodyPr>
          <a:lstStyle/>
          <a:p>
            <a:pPr marL="0" lvl="0" indent="0" algn="l">
              <a:lnSpc>
                <a:spcPts val="10560"/>
              </a:lnSpc>
            </a:pPr>
            <a:r>
              <a:rPr lang="en-US" sz="8800" b="1" dirty="0">
                <a:solidFill>
                  <a:srgbClr val="3D2E12"/>
                </a:solidFill>
                <a:latin typeface="Cormorant Garamond Light"/>
                <a:ea typeface="Cormorant Garamond Light"/>
                <a:cs typeface="Cormorant Garamond Light"/>
                <a:sym typeface="Cormorant Garamond Light"/>
              </a:rPr>
              <a:t>Proposed</a:t>
            </a:r>
            <a:br>
              <a:rPr lang="en-US" sz="8800" b="1" dirty="0">
                <a:solidFill>
                  <a:srgbClr val="3D2E12"/>
                </a:solidFill>
                <a:latin typeface="Cormorant Garamond Light"/>
                <a:ea typeface="Cormorant Garamond Light"/>
                <a:cs typeface="Cormorant Garamond Light"/>
                <a:sym typeface="Cormorant Garamond Light"/>
              </a:rPr>
            </a:br>
            <a:r>
              <a:rPr lang="en-US" sz="8800" b="1" dirty="0">
                <a:solidFill>
                  <a:srgbClr val="3D2E12"/>
                </a:solidFill>
                <a:latin typeface="Cormorant Garamond Light"/>
                <a:ea typeface="Cormorant Garamond Light"/>
                <a:cs typeface="Cormorant Garamond Light"/>
                <a:sym typeface="Cormorant Garamond Light"/>
              </a:rPr>
              <a:t>Methodology</a:t>
            </a:r>
          </a:p>
        </p:txBody>
      </p:sp>
      <p:sp>
        <p:nvSpPr>
          <p:cNvPr id="3" name="TextBox 3"/>
          <p:cNvSpPr txBox="1"/>
          <p:nvPr/>
        </p:nvSpPr>
        <p:spPr>
          <a:xfrm>
            <a:off x="9427876" y="1143000"/>
            <a:ext cx="6846556" cy="486833"/>
          </a:xfrm>
          <a:prstGeom prst="rect">
            <a:avLst/>
          </a:prstGeom>
        </p:spPr>
        <p:txBody>
          <a:bodyPr lIns="0" tIns="0" rIns="0" bIns="0" rtlCol="0" anchor="t">
            <a:spAutoFit/>
          </a:bodyPr>
          <a:lstStyle/>
          <a:p>
            <a:pPr marL="0" lvl="0" indent="0" algn="l">
              <a:lnSpc>
                <a:spcPts val="3840"/>
              </a:lnSpc>
            </a:pPr>
            <a:r>
              <a:rPr lang="en-US" sz="3200" b="1" dirty="0">
                <a:solidFill>
                  <a:srgbClr val="3D2E12"/>
                </a:solidFill>
                <a:latin typeface="Cormorant Garamond Medium Bold"/>
                <a:ea typeface="Cormorant Garamond Medium Bold"/>
                <a:cs typeface="Cormorant Garamond Medium Bold"/>
                <a:sym typeface="Cormorant Garamond Medium Bold"/>
              </a:rPr>
              <a:t>VADER Model</a:t>
            </a:r>
          </a:p>
        </p:txBody>
      </p:sp>
      <p:sp>
        <p:nvSpPr>
          <p:cNvPr id="4" name="TextBox 4"/>
          <p:cNvSpPr txBox="1"/>
          <p:nvPr/>
        </p:nvSpPr>
        <p:spPr>
          <a:xfrm>
            <a:off x="9427876" y="3078759"/>
            <a:ext cx="6846556" cy="486833"/>
          </a:xfrm>
          <a:prstGeom prst="rect">
            <a:avLst/>
          </a:prstGeom>
        </p:spPr>
        <p:txBody>
          <a:bodyPr lIns="0" tIns="0" rIns="0" bIns="0" rtlCol="0" anchor="t">
            <a:spAutoFit/>
          </a:bodyPr>
          <a:lstStyle/>
          <a:p>
            <a:pPr marL="0" lvl="0" indent="0" algn="l">
              <a:lnSpc>
                <a:spcPts val="3840"/>
              </a:lnSpc>
            </a:pPr>
            <a:r>
              <a:rPr lang="en-US" sz="3200" b="1" dirty="0">
                <a:solidFill>
                  <a:srgbClr val="3D2E12"/>
                </a:solidFill>
                <a:latin typeface="Cormorant Garamond Medium Bold"/>
                <a:ea typeface="Cormorant Garamond Medium Bold"/>
                <a:cs typeface="Cormorant Garamond Medium Bold"/>
                <a:sym typeface="Cormorant Garamond Medium Bold"/>
              </a:rPr>
              <a:t>BI-LSTM Model</a:t>
            </a:r>
          </a:p>
        </p:txBody>
      </p:sp>
      <p:sp>
        <p:nvSpPr>
          <p:cNvPr id="5" name="TextBox 5"/>
          <p:cNvSpPr txBox="1"/>
          <p:nvPr/>
        </p:nvSpPr>
        <p:spPr>
          <a:xfrm>
            <a:off x="9427876" y="5014518"/>
            <a:ext cx="6846556" cy="486833"/>
          </a:xfrm>
          <a:prstGeom prst="rect">
            <a:avLst/>
          </a:prstGeom>
        </p:spPr>
        <p:txBody>
          <a:bodyPr lIns="0" tIns="0" rIns="0" bIns="0" rtlCol="0" anchor="t">
            <a:spAutoFit/>
          </a:bodyPr>
          <a:lstStyle/>
          <a:p>
            <a:pPr marL="0" lvl="0" indent="0" algn="l">
              <a:lnSpc>
                <a:spcPts val="3840"/>
              </a:lnSpc>
            </a:pPr>
            <a:r>
              <a:rPr lang="en-US" sz="3200" b="1" dirty="0">
                <a:solidFill>
                  <a:srgbClr val="3D2E12"/>
                </a:solidFill>
                <a:latin typeface="Cormorant Garamond Medium Bold"/>
                <a:ea typeface="Cormorant Garamond Medium Bold"/>
                <a:cs typeface="Cormorant Garamond Medium Bold"/>
                <a:sym typeface="Cormorant Garamond Medium Bold"/>
              </a:rPr>
              <a:t>Traditional Model</a:t>
            </a:r>
          </a:p>
        </p:txBody>
      </p:sp>
      <p:sp>
        <p:nvSpPr>
          <p:cNvPr id="6" name="TextBox 6"/>
          <p:cNvSpPr txBox="1"/>
          <p:nvPr/>
        </p:nvSpPr>
        <p:spPr>
          <a:xfrm>
            <a:off x="9427876" y="6950277"/>
            <a:ext cx="6846556" cy="486833"/>
          </a:xfrm>
          <a:prstGeom prst="rect">
            <a:avLst/>
          </a:prstGeom>
        </p:spPr>
        <p:txBody>
          <a:bodyPr lIns="0" tIns="0" rIns="0" bIns="0" rtlCol="0" anchor="t">
            <a:spAutoFit/>
          </a:bodyPr>
          <a:lstStyle/>
          <a:p>
            <a:pPr marL="0" lvl="0" indent="0" algn="l">
              <a:lnSpc>
                <a:spcPts val="3840"/>
              </a:lnSpc>
            </a:pPr>
            <a:r>
              <a:rPr lang="en-US" sz="3200" b="1" dirty="0">
                <a:solidFill>
                  <a:srgbClr val="3D2E12"/>
                </a:solidFill>
                <a:latin typeface="Cormorant Garamond Medium Bold"/>
                <a:ea typeface="Cormorant Garamond Medium Bold"/>
                <a:cs typeface="Cormorant Garamond Medium Bold"/>
                <a:sym typeface="Cormorant Garamond Medium Bold"/>
              </a:rPr>
              <a:t>CNN Model</a:t>
            </a:r>
          </a:p>
        </p:txBody>
      </p:sp>
      <p:sp>
        <p:nvSpPr>
          <p:cNvPr id="7" name="TextBox 7"/>
          <p:cNvSpPr txBox="1"/>
          <p:nvPr/>
        </p:nvSpPr>
        <p:spPr>
          <a:xfrm>
            <a:off x="9427876" y="1757378"/>
            <a:ext cx="6846556" cy="421782"/>
          </a:xfrm>
          <a:prstGeom prst="rect">
            <a:avLst/>
          </a:prstGeom>
        </p:spPr>
        <p:txBody>
          <a:bodyPr lIns="0" tIns="0" rIns="0" bIns="0" rtlCol="0" anchor="t">
            <a:spAutoFit/>
          </a:bodyPr>
          <a:lstStyle/>
          <a:p>
            <a:pPr marL="0" lvl="0" indent="0" algn="l">
              <a:lnSpc>
                <a:spcPts val="3380"/>
              </a:lnSpc>
            </a:pPr>
            <a:r>
              <a:rPr lang="en-US" sz="2600" dirty="0">
                <a:solidFill>
                  <a:srgbClr val="3D2E12"/>
                </a:solidFill>
                <a:latin typeface="Cormorant Garamond Light"/>
                <a:ea typeface="Cormorant Garamond Light"/>
                <a:cs typeface="Cormorant Garamond Light"/>
                <a:sym typeface="Cormorant Garamond Light"/>
              </a:rPr>
              <a:t> Valence Aware Dictionary for Sentiment Reasoning</a:t>
            </a:r>
          </a:p>
        </p:txBody>
      </p:sp>
      <p:sp>
        <p:nvSpPr>
          <p:cNvPr id="8" name="TextBox 8"/>
          <p:cNvSpPr txBox="1"/>
          <p:nvPr/>
        </p:nvSpPr>
        <p:spPr>
          <a:xfrm>
            <a:off x="9427876" y="3693137"/>
            <a:ext cx="6846556" cy="421782"/>
          </a:xfrm>
          <a:prstGeom prst="rect">
            <a:avLst/>
          </a:prstGeom>
        </p:spPr>
        <p:txBody>
          <a:bodyPr lIns="0" tIns="0" rIns="0" bIns="0" rtlCol="0" anchor="t">
            <a:spAutoFit/>
          </a:bodyPr>
          <a:lstStyle/>
          <a:p>
            <a:pPr marL="0" lvl="0" indent="0" algn="l">
              <a:lnSpc>
                <a:spcPts val="3380"/>
              </a:lnSpc>
            </a:pPr>
            <a:r>
              <a:rPr lang="en-US" sz="2600" dirty="0">
                <a:solidFill>
                  <a:srgbClr val="3D2E12"/>
                </a:solidFill>
                <a:latin typeface="Cormorant Garamond Light"/>
                <a:ea typeface="Cormorant Garamond Light"/>
                <a:cs typeface="Cormorant Garamond Light"/>
                <a:sym typeface="Cormorant Garamond Light"/>
              </a:rPr>
              <a:t>Bidirectional Long Short-Term Memory Network </a:t>
            </a:r>
          </a:p>
        </p:txBody>
      </p:sp>
      <p:sp>
        <p:nvSpPr>
          <p:cNvPr id="9" name="TextBox 9"/>
          <p:cNvSpPr txBox="1"/>
          <p:nvPr/>
        </p:nvSpPr>
        <p:spPr>
          <a:xfrm>
            <a:off x="9427876" y="5628896"/>
            <a:ext cx="6846556" cy="857799"/>
          </a:xfrm>
          <a:prstGeom prst="rect">
            <a:avLst/>
          </a:prstGeom>
        </p:spPr>
        <p:txBody>
          <a:bodyPr lIns="0" tIns="0" rIns="0" bIns="0" rtlCol="0" anchor="t">
            <a:spAutoFit/>
          </a:bodyPr>
          <a:lstStyle/>
          <a:p>
            <a:pPr marL="0" lvl="0" indent="0" algn="l">
              <a:lnSpc>
                <a:spcPts val="3380"/>
              </a:lnSpc>
            </a:pPr>
            <a:r>
              <a:rPr lang="en-US" sz="2600" dirty="0">
                <a:solidFill>
                  <a:srgbClr val="3D2E12"/>
                </a:solidFill>
                <a:latin typeface="Cormorant Garamond Light"/>
                <a:ea typeface="Cormorant Garamond Light"/>
                <a:cs typeface="Cormorant Garamond Light"/>
                <a:sym typeface="Cormorant Garamond Light"/>
              </a:rPr>
              <a:t>(Support vector Machine, Random Forest, Logistic Regression) </a:t>
            </a:r>
          </a:p>
        </p:txBody>
      </p:sp>
      <p:sp>
        <p:nvSpPr>
          <p:cNvPr id="10" name="TextBox 10"/>
          <p:cNvSpPr txBox="1"/>
          <p:nvPr/>
        </p:nvSpPr>
        <p:spPr>
          <a:xfrm>
            <a:off x="9427876" y="7564655"/>
            <a:ext cx="6846556" cy="421782"/>
          </a:xfrm>
          <a:prstGeom prst="rect">
            <a:avLst/>
          </a:prstGeom>
        </p:spPr>
        <p:txBody>
          <a:bodyPr lIns="0" tIns="0" rIns="0" bIns="0" rtlCol="0" anchor="t">
            <a:spAutoFit/>
          </a:bodyPr>
          <a:lstStyle/>
          <a:p>
            <a:pPr marL="0" lvl="0" indent="0" algn="l">
              <a:lnSpc>
                <a:spcPts val="3380"/>
              </a:lnSpc>
            </a:pPr>
            <a:r>
              <a:rPr lang="en-US" sz="2600" dirty="0">
                <a:solidFill>
                  <a:srgbClr val="3D2E12"/>
                </a:solidFill>
                <a:latin typeface="Cormorant Garamond Light"/>
                <a:ea typeface="Cormorant Garamond Light"/>
                <a:cs typeface="Cormorant Garamond Light"/>
                <a:sym typeface="Cormorant Garamond Light"/>
              </a:rPr>
              <a:t>Convolutional Neural Network </a:t>
            </a:r>
          </a:p>
        </p:txBody>
      </p:sp>
      <p:sp>
        <p:nvSpPr>
          <p:cNvPr id="11" name="AutoShape 11">
            <a:extLst>
              <a:ext uri="{C183D7F6-B498-43B3-948B-1728B52AA6E4}">
                <adec:decorative xmlns:adec="http://schemas.microsoft.com/office/drawing/2017/decorative" val="1"/>
              </a:ext>
            </a:extLst>
          </p:cNvPr>
          <p:cNvSpPr/>
          <p:nvPr/>
        </p:nvSpPr>
        <p:spPr>
          <a:xfrm>
            <a:off x="9427876" y="2595170"/>
            <a:ext cx="7139516" cy="0"/>
          </a:xfrm>
          <a:prstGeom prst="line">
            <a:avLst/>
          </a:prstGeom>
          <a:ln w="9525" cap="flat">
            <a:solidFill>
              <a:srgbClr val="988A71"/>
            </a:solidFill>
            <a:prstDash val="solid"/>
            <a:headEnd type="none" w="sm" len="sm"/>
            <a:tailEnd type="none" w="sm" len="sm"/>
          </a:ln>
        </p:spPr>
        <p:txBody>
          <a:bodyPr/>
          <a:lstStyle/>
          <a:p>
            <a:endParaRPr lang="en-IN"/>
          </a:p>
        </p:txBody>
      </p:sp>
      <p:sp>
        <p:nvSpPr>
          <p:cNvPr id="12" name="AutoShape 12">
            <a:extLst>
              <a:ext uri="{C183D7F6-B498-43B3-948B-1728B52AA6E4}">
                <adec:decorative xmlns:adec="http://schemas.microsoft.com/office/drawing/2017/decorative" val="1"/>
              </a:ext>
            </a:extLst>
          </p:cNvPr>
          <p:cNvSpPr/>
          <p:nvPr/>
        </p:nvSpPr>
        <p:spPr>
          <a:xfrm>
            <a:off x="9427876" y="6561494"/>
            <a:ext cx="7139516" cy="0"/>
          </a:xfrm>
          <a:prstGeom prst="line">
            <a:avLst/>
          </a:prstGeom>
          <a:ln w="9525" cap="flat">
            <a:solidFill>
              <a:srgbClr val="988A71"/>
            </a:solidFill>
            <a:prstDash val="solid"/>
            <a:headEnd type="none" w="sm" len="sm"/>
            <a:tailEnd type="none" w="sm" len="sm"/>
          </a:ln>
        </p:spPr>
        <p:txBody>
          <a:bodyPr/>
          <a:lstStyle/>
          <a:p>
            <a:endParaRPr lang="en-IN"/>
          </a:p>
        </p:txBody>
      </p:sp>
      <p:sp>
        <p:nvSpPr>
          <p:cNvPr id="13" name="AutoShape 13">
            <a:extLst>
              <a:ext uri="{C183D7F6-B498-43B3-948B-1728B52AA6E4}">
                <adec:decorative xmlns:adec="http://schemas.microsoft.com/office/drawing/2017/decorative" val="1"/>
              </a:ext>
            </a:extLst>
          </p:cNvPr>
          <p:cNvSpPr/>
          <p:nvPr/>
        </p:nvSpPr>
        <p:spPr>
          <a:xfrm>
            <a:off x="9427876" y="4630066"/>
            <a:ext cx="7139516" cy="0"/>
          </a:xfrm>
          <a:prstGeom prst="line">
            <a:avLst/>
          </a:prstGeom>
          <a:ln w="9525" cap="flat">
            <a:solidFill>
              <a:srgbClr val="988A71"/>
            </a:solidFill>
            <a:prstDash val="solid"/>
            <a:headEnd type="none" w="sm" len="sm"/>
            <a:tailEnd type="none" w="sm" len="sm"/>
          </a:ln>
        </p:spPr>
        <p:txBody>
          <a:bodyPr/>
          <a:lstStyle/>
          <a:p>
            <a:endParaRPr lang="en-IN"/>
          </a:p>
        </p:txBody>
      </p:sp>
      <p:pic>
        <p:nvPicPr>
          <p:cNvPr id="16" name="Picture 15" descr="A computer screen with many blue lines&#10;&#10;AI-generated content may be incorrect.">
            <a:extLst>
              <a:ext uri="{FF2B5EF4-FFF2-40B4-BE49-F238E27FC236}">
                <a16:creationId xmlns:a16="http://schemas.microsoft.com/office/drawing/2014/main" id="{E503D5DB-8BCF-40B9-877B-D3FB450BA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700" y="4556656"/>
            <a:ext cx="7139265" cy="40158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reflection blurRad="6350" stA="52000" endA="300" endPos="35000" dir="5400000" sy="-100000" algn="bl" rotWithShape="0"/>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p:cNvGrpSpPr/>
        <p:nvPr/>
      </p:nvGrpSpPr>
      <p:grpSpPr>
        <a:xfrm>
          <a:off x="0" y="0"/>
          <a:ext cx="0" cy="0"/>
          <a:chOff x="0" y="0"/>
          <a:chExt cx="0" cy="0"/>
        </a:xfrm>
      </p:grpSpPr>
      <p:sp>
        <p:nvSpPr>
          <p:cNvPr id="2" name="TextBox 2"/>
          <p:cNvSpPr txBox="1"/>
          <p:nvPr/>
        </p:nvSpPr>
        <p:spPr>
          <a:xfrm>
            <a:off x="1243256" y="53955"/>
            <a:ext cx="7018599" cy="1340432"/>
          </a:xfrm>
          <a:prstGeom prst="rect">
            <a:avLst/>
          </a:prstGeom>
        </p:spPr>
        <p:txBody>
          <a:bodyPr lIns="0" tIns="0" rIns="0" bIns="0" rtlCol="0" anchor="t">
            <a:spAutoFit/>
          </a:bodyPr>
          <a:lstStyle/>
          <a:p>
            <a:pPr marL="0" lvl="0" indent="0" algn="l">
              <a:lnSpc>
                <a:spcPts val="10560"/>
              </a:lnSpc>
            </a:pPr>
            <a:r>
              <a:rPr lang="en-US" sz="8800" b="1" dirty="0">
                <a:solidFill>
                  <a:srgbClr val="3D2E12"/>
                </a:solidFill>
                <a:latin typeface="Cormorant Garamond Light"/>
                <a:ea typeface="Cormorant Garamond Light"/>
                <a:cs typeface="Cormorant Garamond Light"/>
                <a:sym typeface="Cormorant Garamond Light"/>
              </a:rPr>
              <a:t>VADER Model</a:t>
            </a:r>
          </a:p>
        </p:txBody>
      </p:sp>
      <p:sp>
        <p:nvSpPr>
          <p:cNvPr id="4" name="AutoShape 4">
            <a:extLst>
              <a:ext uri="{C183D7F6-B498-43B3-948B-1728B52AA6E4}">
                <adec:decorative xmlns:adec="http://schemas.microsoft.com/office/drawing/2017/decorative" val="1"/>
              </a:ext>
            </a:extLst>
          </p:cNvPr>
          <p:cNvSpPr/>
          <p:nvPr/>
        </p:nvSpPr>
        <p:spPr>
          <a:xfrm>
            <a:off x="1206309" y="1394387"/>
            <a:ext cx="15875381" cy="0"/>
          </a:xfrm>
          <a:prstGeom prst="line">
            <a:avLst/>
          </a:prstGeom>
          <a:ln w="9525" cap="flat">
            <a:solidFill>
              <a:srgbClr val="988A71"/>
            </a:solidFill>
            <a:prstDash val="solid"/>
            <a:headEnd type="none" w="sm" len="sm"/>
            <a:tailEnd type="none" w="sm" len="sm"/>
          </a:ln>
        </p:spPr>
        <p:txBody>
          <a:bodyPr/>
          <a:lstStyle/>
          <a:p>
            <a:endParaRPr lang="en-IN"/>
          </a:p>
        </p:txBody>
      </p:sp>
      <p:pic>
        <p:nvPicPr>
          <p:cNvPr id="8" name="Picture 7">
            <a:extLst>
              <a:ext uri="{FF2B5EF4-FFF2-40B4-BE49-F238E27FC236}">
                <a16:creationId xmlns:a16="http://schemas.microsoft.com/office/drawing/2014/main" id="{D7B9AD41-CC42-C35E-5240-AC17A13A950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14400" y="2171700"/>
            <a:ext cx="6858000" cy="7095273"/>
          </a:xfrm>
          <a:prstGeom prst="rect">
            <a:avLst/>
          </a:prstGeom>
          <a:solidFill>
            <a:srgbClr val="FFFFFF">
              <a:shade val="85000"/>
            </a:srgbClr>
          </a:solidFill>
          <a:ln w="88900" cap="sq">
            <a:solidFill>
              <a:srgbClr val="FFFFFF"/>
            </a:solidFill>
            <a:miter lim="800000"/>
          </a:ln>
          <a:effectLst>
            <a:outerShdw blurRad="63500" sx="102000" sy="102000" algn="ctr" rotWithShape="0">
              <a:prstClr val="black">
                <a:alpha val="40000"/>
              </a:prstClr>
            </a:outerShdw>
          </a:effectLst>
          <a:scene3d>
            <a:camera prst="orthographicFront"/>
            <a:lightRig rig="twoPt" dir="t">
              <a:rot lat="0" lon="0" rev="7200000"/>
            </a:lightRig>
          </a:scene3d>
          <a:sp3d>
            <a:bevelT w="25400" h="19050"/>
            <a:contourClr>
              <a:srgbClr val="FFFFFF"/>
            </a:contourClr>
          </a:sp3d>
        </p:spPr>
      </p:pic>
      <p:sp>
        <p:nvSpPr>
          <p:cNvPr id="14" name="Rectangle: Rounded Corners 13">
            <a:extLst>
              <a:ext uri="{FF2B5EF4-FFF2-40B4-BE49-F238E27FC236}">
                <a16:creationId xmlns:a16="http://schemas.microsoft.com/office/drawing/2014/main" id="{C0F3FFC9-F94A-264C-B5B0-E48D27F65C00}"/>
              </a:ext>
            </a:extLst>
          </p:cNvPr>
          <p:cNvSpPr/>
          <p:nvPr/>
        </p:nvSpPr>
        <p:spPr>
          <a:xfrm>
            <a:off x="8839200" y="7962900"/>
            <a:ext cx="8458200" cy="175260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br>
              <a:rPr lang="en-US" dirty="0"/>
            </a:br>
            <a:r>
              <a:rPr lang="en-US" sz="2600" b="1" dirty="0"/>
              <a:t>Text:</a:t>
            </a:r>
            <a:r>
              <a:rPr lang="en-US" sz="2600" dirty="0"/>
              <a:t> “I love this product! It's amazing 😍”</a:t>
            </a:r>
            <a:br>
              <a:rPr lang="en-US" sz="2600" dirty="0"/>
            </a:br>
            <a:r>
              <a:rPr lang="en-IN" sz="2600" b="1" dirty="0"/>
              <a:t>Output:</a:t>
            </a:r>
            <a:r>
              <a:rPr lang="en-IN" sz="2600" dirty="0"/>
              <a:t> {‘</a:t>
            </a:r>
            <a:r>
              <a:rPr lang="en-IN" sz="2600" dirty="0" err="1"/>
              <a:t>pos</a:t>
            </a:r>
            <a:r>
              <a:rPr lang="en-IN" sz="2600" dirty="0"/>
              <a:t>’: 0.85, ‘neg’: 0.0, ‘neu’: 0.15, ‘compound’: 0.92}</a:t>
            </a:r>
            <a:endParaRPr lang="en-US" sz="2600" dirty="0"/>
          </a:p>
          <a:p>
            <a:pPr algn="ctr"/>
            <a:endParaRPr lang="en-IN" dirty="0"/>
          </a:p>
        </p:txBody>
      </p:sp>
      <p:graphicFrame>
        <p:nvGraphicFramePr>
          <p:cNvPr id="16" name="TextBox 3">
            <a:extLst>
              <a:ext uri="{FF2B5EF4-FFF2-40B4-BE49-F238E27FC236}">
                <a16:creationId xmlns:a16="http://schemas.microsoft.com/office/drawing/2014/main" id="{02173247-78F9-2102-C47E-78DD8C1165A9}"/>
              </a:ext>
            </a:extLst>
          </p:cNvPr>
          <p:cNvGraphicFramePr/>
          <p:nvPr>
            <p:extLst>
              <p:ext uri="{D42A27DB-BD31-4B8C-83A1-F6EECF244321}">
                <p14:modId xmlns:p14="http://schemas.microsoft.com/office/powerpoint/2010/main" val="2838303853"/>
              </p:ext>
            </p:extLst>
          </p:nvPr>
        </p:nvGraphicFramePr>
        <p:xfrm>
          <a:off x="8458200" y="1790700"/>
          <a:ext cx="9104750" cy="63812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a:extLst>
            <a:ext uri="{FF2B5EF4-FFF2-40B4-BE49-F238E27FC236}">
              <a16:creationId xmlns:a16="http://schemas.microsoft.com/office/drawing/2014/main" id="{E8D9994C-9BA4-F0FE-5B28-EA071B721F7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1F847FB-9519-BCD6-56CB-7CC243AC44B0}"/>
              </a:ext>
            </a:extLst>
          </p:cNvPr>
          <p:cNvSpPr txBox="1"/>
          <p:nvPr/>
        </p:nvSpPr>
        <p:spPr>
          <a:xfrm>
            <a:off x="1243256" y="53955"/>
            <a:ext cx="11482144" cy="1340432"/>
          </a:xfrm>
          <a:prstGeom prst="rect">
            <a:avLst/>
          </a:prstGeom>
        </p:spPr>
        <p:txBody>
          <a:bodyPr wrap="square" lIns="0" tIns="0" rIns="0" bIns="0" rtlCol="0" anchor="t">
            <a:spAutoFit/>
          </a:bodyPr>
          <a:lstStyle/>
          <a:p>
            <a:pPr marL="0" lvl="0" indent="0" algn="l">
              <a:lnSpc>
                <a:spcPts val="10560"/>
              </a:lnSpc>
            </a:pPr>
            <a:r>
              <a:rPr lang="en-US" sz="8800" b="1" dirty="0">
                <a:solidFill>
                  <a:srgbClr val="3D2E12"/>
                </a:solidFill>
                <a:latin typeface="Cormorant Garamond Light"/>
                <a:ea typeface="Cormorant Garamond Light"/>
                <a:cs typeface="Cormorant Garamond Light"/>
                <a:sym typeface="Cormorant Garamond Light"/>
              </a:rPr>
              <a:t>BI-LSTM MODEL</a:t>
            </a:r>
          </a:p>
        </p:txBody>
      </p:sp>
      <p:sp>
        <p:nvSpPr>
          <p:cNvPr id="4" name="AutoShape 4">
            <a:extLst>
              <a:ext uri="{FF2B5EF4-FFF2-40B4-BE49-F238E27FC236}">
                <a16:creationId xmlns:a16="http://schemas.microsoft.com/office/drawing/2014/main" id="{8A56A48A-6E18-BD49-5ED4-AB26CCFCDD51}"/>
              </a:ext>
              <a:ext uri="{C183D7F6-B498-43B3-948B-1728B52AA6E4}">
                <adec:decorative xmlns:adec="http://schemas.microsoft.com/office/drawing/2017/decorative" val="1"/>
              </a:ext>
            </a:extLst>
          </p:cNvPr>
          <p:cNvSpPr/>
          <p:nvPr/>
        </p:nvSpPr>
        <p:spPr>
          <a:xfrm>
            <a:off x="1206309" y="1394387"/>
            <a:ext cx="15875381" cy="0"/>
          </a:xfrm>
          <a:prstGeom prst="line">
            <a:avLst/>
          </a:prstGeom>
          <a:ln w="9525" cap="flat">
            <a:solidFill>
              <a:srgbClr val="988A71"/>
            </a:solidFill>
            <a:prstDash val="solid"/>
            <a:headEnd type="none" w="sm" len="sm"/>
            <a:tailEnd type="none" w="sm" len="sm"/>
          </a:ln>
        </p:spPr>
        <p:txBody>
          <a:bodyPr/>
          <a:lstStyle/>
          <a:p>
            <a:endParaRPr lang="en-IN"/>
          </a:p>
        </p:txBody>
      </p:sp>
      <p:sp>
        <p:nvSpPr>
          <p:cNvPr id="14" name="Rectangle: Rounded Corners 13">
            <a:extLst>
              <a:ext uri="{FF2B5EF4-FFF2-40B4-BE49-F238E27FC236}">
                <a16:creationId xmlns:a16="http://schemas.microsoft.com/office/drawing/2014/main" id="{70835CB8-FB7F-9612-0C71-C6897C504F1E}"/>
              </a:ext>
            </a:extLst>
          </p:cNvPr>
          <p:cNvSpPr/>
          <p:nvPr/>
        </p:nvSpPr>
        <p:spPr>
          <a:xfrm>
            <a:off x="1243256" y="8149074"/>
            <a:ext cx="8458200" cy="175260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br>
              <a:rPr lang="en-US" dirty="0"/>
            </a:br>
            <a:r>
              <a:rPr lang="en-US" sz="2600" b="1" dirty="0"/>
              <a:t>Text:</a:t>
            </a:r>
            <a:r>
              <a:rPr lang="en-US" sz="2600" dirty="0"/>
              <a:t> “He is a bad boy”</a:t>
            </a:r>
            <a:br>
              <a:rPr lang="en-US" sz="2600" dirty="0"/>
            </a:br>
            <a:r>
              <a:rPr lang="en-IN" sz="2600" b="1" dirty="0"/>
              <a:t>Output:{</a:t>
            </a:r>
            <a:r>
              <a:rPr lang="en-IN" sz="2600" dirty="0"/>
              <a:t>Negative}</a:t>
            </a:r>
            <a:endParaRPr lang="en-US" sz="2600" dirty="0"/>
          </a:p>
          <a:p>
            <a:pPr algn="ctr"/>
            <a:endParaRPr lang="en-IN" dirty="0"/>
          </a:p>
        </p:txBody>
      </p:sp>
      <p:graphicFrame>
        <p:nvGraphicFramePr>
          <p:cNvPr id="16" name="TextBox 3">
            <a:extLst>
              <a:ext uri="{FF2B5EF4-FFF2-40B4-BE49-F238E27FC236}">
                <a16:creationId xmlns:a16="http://schemas.microsoft.com/office/drawing/2014/main" id="{EAAB8FAB-6EAB-A4A1-48F7-796671B47125}"/>
              </a:ext>
            </a:extLst>
          </p:cNvPr>
          <p:cNvGraphicFramePr/>
          <p:nvPr>
            <p:extLst>
              <p:ext uri="{D42A27DB-BD31-4B8C-83A1-F6EECF244321}">
                <p14:modId xmlns:p14="http://schemas.microsoft.com/office/powerpoint/2010/main" val="2520092463"/>
              </p:ext>
            </p:extLst>
          </p:nvPr>
        </p:nvGraphicFramePr>
        <p:xfrm>
          <a:off x="914400" y="1790700"/>
          <a:ext cx="9104750" cy="6381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F250520F-C703-26BE-EEC6-9323183C638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982781" y="1943100"/>
            <a:ext cx="6532657" cy="7400855"/>
          </a:xfrm>
          <a:prstGeom prst="rect">
            <a:avLst/>
          </a:prstGeom>
          <a:solidFill>
            <a:srgbClr val="FFFFFF">
              <a:shade val="85000"/>
            </a:srgbClr>
          </a:solidFill>
          <a:ln w="88900" cap="sq">
            <a:solidFill>
              <a:srgbClr val="FFFFFF"/>
            </a:solidFill>
            <a:miter lim="800000"/>
          </a:ln>
          <a:effectLst>
            <a:outerShdw blurRad="63500" sx="102000" sy="102000" algn="ctr"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41793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a:extLst>
            <a:ext uri="{FF2B5EF4-FFF2-40B4-BE49-F238E27FC236}">
              <a16:creationId xmlns:a16="http://schemas.microsoft.com/office/drawing/2014/main" id="{BC5F72FF-5E17-A75D-C8C2-28EE71EB9D1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458BB82-FCC9-6108-64F5-A5C9E0FBA7AA}"/>
              </a:ext>
            </a:extLst>
          </p:cNvPr>
          <p:cNvSpPr txBox="1"/>
          <p:nvPr/>
        </p:nvSpPr>
        <p:spPr>
          <a:xfrm>
            <a:off x="1243256" y="53955"/>
            <a:ext cx="14072944" cy="1340432"/>
          </a:xfrm>
          <a:prstGeom prst="rect">
            <a:avLst/>
          </a:prstGeom>
        </p:spPr>
        <p:txBody>
          <a:bodyPr wrap="square" lIns="0" tIns="0" rIns="0" bIns="0" rtlCol="0" anchor="t">
            <a:spAutoFit/>
          </a:bodyPr>
          <a:lstStyle/>
          <a:p>
            <a:pPr marL="0" lvl="0" indent="0" algn="l">
              <a:lnSpc>
                <a:spcPts val="10560"/>
              </a:lnSpc>
            </a:pPr>
            <a:r>
              <a:rPr lang="en-US" sz="8800" b="1" dirty="0">
                <a:solidFill>
                  <a:srgbClr val="3D2E12"/>
                </a:solidFill>
                <a:latin typeface="Cormorant Garamond Light"/>
                <a:ea typeface="Cormorant Garamond Light"/>
                <a:cs typeface="Cormorant Garamond Light"/>
                <a:sym typeface="Cormorant Garamond Light"/>
              </a:rPr>
              <a:t>BI-LSTM MODEL Results</a:t>
            </a:r>
          </a:p>
        </p:txBody>
      </p:sp>
      <p:sp>
        <p:nvSpPr>
          <p:cNvPr id="4" name="AutoShape 4">
            <a:extLst>
              <a:ext uri="{FF2B5EF4-FFF2-40B4-BE49-F238E27FC236}">
                <a16:creationId xmlns:a16="http://schemas.microsoft.com/office/drawing/2014/main" id="{9A60D802-F5FB-0832-743F-36808C44497B}"/>
              </a:ext>
              <a:ext uri="{C183D7F6-B498-43B3-948B-1728B52AA6E4}">
                <adec:decorative xmlns:adec="http://schemas.microsoft.com/office/drawing/2017/decorative" val="1"/>
              </a:ext>
            </a:extLst>
          </p:cNvPr>
          <p:cNvSpPr/>
          <p:nvPr/>
        </p:nvSpPr>
        <p:spPr>
          <a:xfrm>
            <a:off x="1206309" y="1394387"/>
            <a:ext cx="15875381" cy="0"/>
          </a:xfrm>
          <a:prstGeom prst="line">
            <a:avLst/>
          </a:prstGeom>
          <a:ln w="9525" cap="flat">
            <a:solidFill>
              <a:srgbClr val="988A71"/>
            </a:solidFill>
            <a:prstDash val="solid"/>
            <a:headEnd type="none" w="sm" len="sm"/>
            <a:tailEnd type="none" w="sm" len="sm"/>
          </a:ln>
        </p:spPr>
        <p:txBody>
          <a:bodyPr/>
          <a:lstStyle/>
          <a:p>
            <a:endParaRPr lang="en-IN"/>
          </a:p>
        </p:txBody>
      </p:sp>
      <p:pic>
        <p:nvPicPr>
          <p:cNvPr id="7" name="Picture 6">
            <a:extLst>
              <a:ext uri="{FF2B5EF4-FFF2-40B4-BE49-F238E27FC236}">
                <a16:creationId xmlns:a16="http://schemas.microsoft.com/office/drawing/2014/main" id="{AC37ACD2-95C7-222D-8BBE-25A4A6115B37}"/>
              </a:ext>
            </a:extLst>
          </p:cNvPr>
          <p:cNvPicPr>
            <a:picLocks noChangeAspect="1"/>
          </p:cNvPicPr>
          <p:nvPr/>
        </p:nvPicPr>
        <p:blipFill>
          <a:blip r:embed="rId2">
            <a:extLst>
              <a:ext uri="{28A0092B-C50C-407E-A947-70E740481C1C}">
                <a14:useLocalDpi xmlns:a14="http://schemas.microsoft.com/office/drawing/2010/main" val="0"/>
              </a:ext>
            </a:extLst>
          </a:blip>
          <a:srcRect t="7039"/>
          <a:stretch/>
        </p:blipFill>
        <p:spPr>
          <a:xfrm>
            <a:off x="2362198" y="1595333"/>
            <a:ext cx="13563601" cy="4346447"/>
          </a:xfrm>
          <a:prstGeom prst="rect">
            <a:avLst/>
          </a:prstGeom>
          <a:ln>
            <a:no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DEFABBE7-EED6-1919-06BE-525F9AA800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197" y="6142727"/>
            <a:ext cx="13563601" cy="384035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77314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p:cNvGrpSpPr/>
        <p:nvPr/>
      </p:nvGrpSpPr>
      <p:grpSpPr>
        <a:xfrm>
          <a:off x="0" y="0"/>
          <a:ext cx="0" cy="0"/>
          <a:chOff x="0" y="0"/>
          <a:chExt cx="0" cy="0"/>
        </a:xfrm>
      </p:grpSpPr>
      <p:sp>
        <p:nvSpPr>
          <p:cNvPr id="2" name="TextBox 2"/>
          <p:cNvSpPr txBox="1"/>
          <p:nvPr/>
        </p:nvSpPr>
        <p:spPr>
          <a:xfrm>
            <a:off x="1797972" y="3286538"/>
            <a:ext cx="5950492" cy="720647"/>
          </a:xfrm>
          <a:prstGeom prst="rect">
            <a:avLst/>
          </a:prstGeom>
        </p:spPr>
        <p:txBody>
          <a:bodyPr lIns="0" tIns="0" rIns="0" bIns="0" rtlCol="0" anchor="t">
            <a:spAutoFit/>
          </a:bodyPr>
          <a:lstStyle/>
          <a:p>
            <a:pPr marL="0" lvl="0" indent="0" algn="ctr">
              <a:lnSpc>
                <a:spcPts val="5880"/>
              </a:lnSpc>
              <a:spcBef>
                <a:spcPct val="0"/>
              </a:spcBef>
            </a:pPr>
            <a:r>
              <a:rPr lang="en-US" sz="4200" b="1" dirty="0">
                <a:solidFill>
                  <a:srgbClr val="3D2E12"/>
                </a:solidFill>
                <a:latin typeface="Cormorant Garamond Medium Bold"/>
                <a:ea typeface="Cormorant Garamond Medium Bold"/>
                <a:cs typeface="Cormorant Garamond Medium Bold"/>
                <a:sym typeface="Cormorant Garamond Medium Bold"/>
              </a:rPr>
              <a:t>VADER Model</a:t>
            </a:r>
          </a:p>
        </p:txBody>
      </p:sp>
      <p:sp>
        <p:nvSpPr>
          <p:cNvPr id="3" name="TextBox 3"/>
          <p:cNvSpPr txBox="1"/>
          <p:nvPr/>
        </p:nvSpPr>
        <p:spPr>
          <a:xfrm>
            <a:off x="10590367" y="3286537"/>
            <a:ext cx="5950492" cy="720647"/>
          </a:xfrm>
          <a:prstGeom prst="rect">
            <a:avLst/>
          </a:prstGeom>
        </p:spPr>
        <p:txBody>
          <a:bodyPr lIns="0" tIns="0" rIns="0" bIns="0" rtlCol="0" anchor="t">
            <a:spAutoFit/>
          </a:bodyPr>
          <a:lstStyle/>
          <a:p>
            <a:pPr marL="0" lvl="0" indent="0" algn="ctr">
              <a:lnSpc>
                <a:spcPts val="5880"/>
              </a:lnSpc>
              <a:spcBef>
                <a:spcPct val="0"/>
              </a:spcBef>
            </a:pPr>
            <a:r>
              <a:rPr lang="en-US" sz="4200" b="1" dirty="0">
                <a:solidFill>
                  <a:srgbClr val="3D2E12"/>
                </a:solidFill>
                <a:latin typeface="Cormorant Garamond Medium Bold"/>
                <a:ea typeface="Cormorant Garamond Medium Bold"/>
                <a:cs typeface="Cormorant Garamond Medium Bold"/>
                <a:sym typeface="Cormorant Garamond Medium Bold"/>
              </a:rPr>
              <a:t>BI-LSTM Model</a:t>
            </a:r>
          </a:p>
        </p:txBody>
      </p:sp>
      <p:sp>
        <p:nvSpPr>
          <p:cNvPr id="4" name="TextBox 4"/>
          <p:cNvSpPr txBox="1"/>
          <p:nvPr/>
        </p:nvSpPr>
        <p:spPr>
          <a:xfrm>
            <a:off x="2426833" y="1203187"/>
            <a:ext cx="13434335" cy="1340432"/>
          </a:xfrm>
          <a:prstGeom prst="rect">
            <a:avLst/>
          </a:prstGeom>
        </p:spPr>
        <p:txBody>
          <a:bodyPr lIns="0" tIns="0" rIns="0" bIns="0" rtlCol="0" anchor="t">
            <a:spAutoFit/>
          </a:bodyPr>
          <a:lstStyle/>
          <a:p>
            <a:pPr marL="0" lvl="0" indent="0" algn="ctr">
              <a:lnSpc>
                <a:spcPts val="10560"/>
              </a:lnSpc>
            </a:pPr>
            <a:r>
              <a:rPr lang="en-US" sz="8800" b="1" dirty="0">
                <a:solidFill>
                  <a:srgbClr val="3D2E12"/>
                </a:solidFill>
                <a:latin typeface="Cormorant Garamond Light"/>
                <a:ea typeface="Cormorant Garamond Light"/>
                <a:cs typeface="Cormorant Garamond Light"/>
                <a:sym typeface="Cormorant Garamond Light"/>
              </a:rPr>
              <a:t>Model Comparison</a:t>
            </a:r>
          </a:p>
        </p:txBody>
      </p:sp>
      <p:sp>
        <p:nvSpPr>
          <p:cNvPr id="5" name="TextBox 5"/>
          <p:cNvSpPr txBox="1"/>
          <p:nvPr/>
        </p:nvSpPr>
        <p:spPr>
          <a:xfrm>
            <a:off x="1600202" y="6629734"/>
            <a:ext cx="6705598" cy="2250103"/>
          </a:xfrm>
          <a:prstGeom prst="rect">
            <a:avLst/>
          </a:prstGeom>
        </p:spPr>
        <p:txBody>
          <a:bodyPr wrap="square" lIns="0" tIns="0" rIns="0" bIns="0" rtlCol="0" anchor="t">
            <a:spAutoFit/>
          </a:bodyPr>
          <a:lstStyle/>
          <a:p>
            <a:pPr marL="342900" lvl="0" indent="-342900">
              <a:lnSpc>
                <a:spcPts val="4480"/>
              </a:lnSpc>
              <a:spcBef>
                <a:spcPct val="0"/>
              </a:spcBef>
              <a:buFont typeface="Arial" panose="020B0604020202020204" pitchFamily="34" charset="0"/>
              <a:buChar char="•"/>
            </a:pPr>
            <a:r>
              <a:rPr lang="en-US" sz="2400" dirty="0"/>
              <a:t>Less effective (struggles with long sentences)</a:t>
            </a:r>
          </a:p>
          <a:p>
            <a:pPr marL="342900" lvl="0" indent="-342900">
              <a:lnSpc>
                <a:spcPts val="4480"/>
              </a:lnSpc>
              <a:spcBef>
                <a:spcPct val="0"/>
              </a:spcBef>
              <a:buFont typeface="Arial" panose="020B0604020202020204" pitchFamily="34" charset="0"/>
              <a:buChar char="•"/>
            </a:pPr>
            <a:r>
              <a:rPr lang="en-IN" sz="2400" dirty="0"/>
              <a:t>Works only for English</a:t>
            </a:r>
          </a:p>
          <a:p>
            <a:pPr marL="342900" lvl="0" indent="-342900">
              <a:lnSpc>
                <a:spcPts val="4480"/>
              </a:lnSpc>
              <a:spcBef>
                <a:spcPct val="0"/>
              </a:spcBef>
              <a:buFont typeface="Arial" panose="020B0604020202020204" pitchFamily="34" charset="0"/>
              <a:buChar char="•"/>
            </a:pPr>
            <a:r>
              <a:rPr lang="en-US" sz="2400" dirty="0"/>
              <a:t>Good for general sentiment detection but struggles with sarcasm &amp; complex language</a:t>
            </a:r>
            <a:endParaRPr lang="en-US" sz="2400" dirty="0">
              <a:solidFill>
                <a:srgbClr val="3D2E12"/>
              </a:solidFill>
              <a:latin typeface="Cormorant Garamond Light"/>
              <a:ea typeface="Cormorant Garamond Light"/>
              <a:cs typeface="Cormorant Garamond Light"/>
              <a:sym typeface="Cormorant Garamond Light"/>
            </a:endParaRPr>
          </a:p>
        </p:txBody>
      </p:sp>
      <p:sp>
        <p:nvSpPr>
          <p:cNvPr id="6" name="TextBox 6"/>
          <p:cNvSpPr txBox="1"/>
          <p:nvPr/>
        </p:nvSpPr>
        <p:spPr>
          <a:xfrm>
            <a:off x="9881881" y="6683106"/>
            <a:ext cx="7367464" cy="1674497"/>
          </a:xfrm>
          <a:prstGeom prst="rect">
            <a:avLst/>
          </a:prstGeom>
        </p:spPr>
        <p:txBody>
          <a:bodyPr wrap="square" lIns="0" tIns="0" rIns="0" bIns="0" rtlCol="0" anchor="t">
            <a:spAutoFit/>
          </a:bodyPr>
          <a:lstStyle/>
          <a:p>
            <a:pPr marL="457200" lvl="0" indent="-457200">
              <a:lnSpc>
                <a:spcPts val="4480"/>
              </a:lnSpc>
              <a:spcBef>
                <a:spcPct val="0"/>
              </a:spcBef>
              <a:buFont typeface="Arial" panose="020B0604020202020204" pitchFamily="34" charset="0"/>
              <a:buChar char="•"/>
            </a:pPr>
            <a:r>
              <a:rPr lang="en-IN" sz="2400" dirty="0"/>
              <a:t>Better for long sentences (captures dependencies)</a:t>
            </a:r>
          </a:p>
          <a:p>
            <a:pPr marL="457200" lvl="0" indent="-457200">
              <a:lnSpc>
                <a:spcPts val="4480"/>
              </a:lnSpc>
              <a:spcBef>
                <a:spcPct val="0"/>
              </a:spcBef>
              <a:buFont typeface="Arial" panose="020B0604020202020204" pitchFamily="34" charset="0"/>
              <a:buChar char="•"/>
            </a:pPr>
            <a:r>
              <a:rPr lang="en-US" sz="2400" dirty="0"/>
              <a:t>Can be trained for multiple languages</a:t>
            </a:r>
          </a:p>
          <a:p>
            <a:pPr marL="457200" lvl="0" indent="-457200">
              <a:lnSpc>
                <a:spcPts val="4480"/>
              </a:lnSpc>
              <a:spcBef>
                <a:spcPct val="0"/>
              </a:spcBef>
              <a:buFont typeface="Arial" panose="020B0604020202020204" pitchFamily="34" charset="0"/>
              <a:buChar char="•"/>
            </a:pPr>
            <a:r>
              <a:rPr lang="en-US" sz="2400" dirty="0"/>
              <a:t>Higher accuracy (better understanding of text meaning)</a:t>
            </a:r>
            <a:endParaRPr lang="en-US" sz="2400" dirty="0">
              <a:solidFill>
                <a:srgbClr val="3D2E12"/>
              </a:solidFill>
              <a:latin typeface="Cormorant Garamond Light"/>
              <a:ea typeface="Cormorant Garamond Light"/>
              <a:cs typeface="Cormorant Garamond Light"/>
              <a:sym typeface="Cormorant Garamond Light"/>
            </a:endParaRPr>
          </a:p>
        </p:txBody>
      </p:sp>
      <p:sp>
        <p:nvSpPr>
          <p:cNvPr id="7" name="AutoShape 7">
            <a:extLst>
              <a:ext uri="{C183D7F6-B498-43B3-948B-1728B52AA6E4}">
                <adec:decorative xmlns:adec="http://schemas.microsoft.com/office/drawing/2017/decorative" val="1"/>
              </a:ext>
            </a:extLst>
          </p:cNvPr>
          <p:cNvSpPr/>
          <p:nvPr/>
        </p:nvSpPr>
        <p:spPr>
          <a:xfrm>
            <a:off x="9144000" y="3238500"/>
            <a:ext cx="0" cy="6705600"/>
          </a:xfrm>
          <a:prstGeom prst="line">
            <a:avLst/>
          </a:prstGeom>
          <a:ln w="9525" cap="flat">
            <a:solidFill>
              <a:srgbClr val="988A71"/>
            </a:solidFill>
            <a:prstDash val="solid"/>
            <a:headEnd type="none" w="sm" len="sm"/>
            <a:tailEnd type="none" w="sm" len="sm"/>
          </a:ln>
        </p:spPr>
        <p:txBody>
          <a:bodyPr/>
          <a:lstStyle/>
          <a:p>
            <a:endParaRPr lang="en-IN"/>
          </a:p>
        </p:txBody>
      </p:sp>
      <p:pic>
        <p:nvPicPr>
          <p:cNvPr id="15" name="Picture 14">
            <a:extLst>
              <a:ext uri="{FF2B5EF4-FFF2-40B4-BE49-F238E27FC236}">
                <a16:creationId xmlns:a16="http://schemas.microsoft.com/office/drawing/2014/main" id="{5C8855AB-2B7F-267E-2E4E-E7EB6FDBDF75}"/>
              </a:ext>
            </a:extLst>
          </p:cNvPr>
          <p:cNvPicPr>
            <a:picLocks noChangeAspect="1"/>
          </p:cNvPicPr>
          <p:nvPr/>
        </p:nvPicPr>
        <p:blipFill>
          <a:blip r:embed="rId2"/>
          <a:stretch>
            <a:fillRect/>
          </a:stretch>
        </p:blipFill>
        <p:spPr>
          <a:xfrm>
            <a:off x="1797972" y="4429328"/>
            <a:ext cx="6355427" cy="18316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7" name="Straight Connector 16">
            <a:extLst>
              <a:ext uri="{FF2B5EF4-FFF2-40B4-BE49-F238E27FC236}">
                <a16:creationId xmlns:a16="http://schemas.microsoft.com/office/drawing/2014/main" id="{3AC5340D-83F6-5E7C-FC5E-B88F76E460F8}"/>
              </a:ext>
            </a:extLst>
          </p:cNvPr>
          <p:cNvCxnSpPr/>
          <p:nvPr/>
        </p:nvCxnSpPr>
        <p:spPr>
          <a:xfrm>
            <a:off x="990600" y="2543619"/>
            <a:ext cx="16611600" cy="85281"/>
          </a:xfrm>
          <a:prstGeom prst="line">
            <a:avLst/>
          </a:prstGeom>
        </p:spPr>
        <p:style>
          <a:lnRef idx="1">
            <a:schemeClr val="dk1"/>
          </a:lnRef>
          <a:fillRef idx="0">
            <a:schemeClr val="dk1"/>
          </a:fillRef>
          <a:effectRef idx="0">
            <a:schemeClr val="dk1"/>
          </a:effectRef>
          <a:fontRef idx="minor">
            <a:schemeClr val="tx1"/>
          </a:fontRef>
        </p:style>
      </p:cxnSp>
      <p:pic>
        <p:nvPicPr>
          <p:cNvPr id="19" name="Picture 18" descr="A screenshot of a computer&#10;&#10;AI-generated content may be incorrect.">
            <a:extLst>
              <a:ext uri="{FF2B5EF4-FFF2-40B4-BE49-F238E27FC236}">
                <a16:creationId xmlns:a16="http://schemas.microsoft.com/office/drawing/2014/main" id="{76942AC1-1117-662E-3652-2E6B0FA4A0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2092" y="4378660"/>
            <a:ext cx="6946708" cy="18823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p:cNvGrpSpPr/>
        <p:nvPr/>
      </p:nvGrpSpPr>
      <p:grpSpPr>
        <a:xfrm>
          <a:off x="0" y="0"/>
          <a:ext cx="0" cy="0"/>
          <a:chOff x="0" y="0"/>
          <a:chExt cx="0" cy="0"/>
        </a:xfrm>
      </p:grpSpPr>
      <p:sp>
        <p:nvSpPr>
          <p:cNvPr id="2" name="TextBox 2"/>
          <p:cNvSpPr txBox="1"/>
          <p:nvPr/>
        </p:nvSpPr>
        <p:spPr>
          <a:xfrm>
            <a:off x="7772400" y="3346967"/>
            <a:ext cx="3886775" cy="1282402"/>
          </a:xfrm>
          <a:prstGeom prst="rect">
            <a:avLst/>
          </a:prstGeom>
        </p:spPr>
        <p:txBody>
          <a:bodyPr wrap="square" lIns="0" tIns="0" rIns="0" bIns="0" rtlCol="0" anchor="t">
            <a:spAutoFit/>
          </a:bodyPr>
          <a:lstStyle/>
          <a:p>
            <a:pPr marL="0" lvl="0" indent="0" algn="r">
              <a:lnSpc>
                <a:spcPts val="5040"/>
              </a:lnSpc>
            </a:pPr>
            <a:r>
              <a:rPr lang="en-US" sz="4200" b="1" dirty="0">
                <a:solidFill>
                  <a:srgbClr val="3D2E12"/>
                </a:solidFill>
                <a:latin typeface="Cormorant Garamond Medium Bold"/>
                <a:ea typeface="Cormorant Garamond Medium Bold"/>
                <a:cs typeface="Cormorant Garamond Medium Bold"/>
                <a:sym typeface="Cormorant Garamond Medium Bold"/>
              </a:rPr>
              <a:t>Logistic Regression</a:t>
            </a:r>
          </a:p>
        </p:txBody>
      </p:sp>
      <p:sp>
        <p:nvSpPr>
          <p:cNvPr id="3" name="TextBox 3"/>
          <p:cNvSpPr txBox="1"/>
          <p:nvPr/>
        </p:nvSpPr>
        <p:spPr>
          <a:xfrm>
            <a:off x="7660404" y="5724995"/>
            <a:ext cx="3998772" cy="1282402"/>
          </a:xfrm>
          <a:prstGeom prst="rect">
            <a:avLst/>
          </a:prstGeom>
        </p:spPr>
        <p:txBody>
          <a:bodyPr lIns="0" tIns="0" rIns="0" bIns="0" rtlCol="0" anchor="t">
            <a:spAutoFit/>
          </a:bodyPr>
          <a:lstStyle/>
          <a:p>
            <a:pPr marL="0" lvl="0" indent="0" algn="r">
              <a:lnSpc>
                <a:spcPts val="5040"/>
              </a:lnSpc>
            </a:pPr>
            <a:r>
              <a:rPr lang="en-US" sz="4200" b="1" dirty="0">
                <a:solidFill>
                  <a:srgbClr val="3D2E12"/>
                </a:solidFill>
                <a:latin typeface="Cormorant Garamond Medium Bold"/>
                <a:ea typeface="Cormorant Garamond Medium Bold"/>
                <a:cs typeface="Cormorant Garamond Medium Bold"/>
                <a:sym typeface="Cormorant Garamond Medium Bold"/>
              </a:rPr>
              <a:t>Support vector Machine</a:t>
            </a:r>
          </a:p>
        </p:txBody>
      </p:sp>
      <p:sp>
        <p:nvSpPr>
          <p:cNvPr id="4" name="TextBox 4"/>
          <p:cNvSpPr txBox="1"/>
          <p:nvPr/>
        </p:nvSpPr>
        <p:spPr>
          <a:xfrm>
            <a:off x="7772400" y="8103023"/>
            <a:ext cx="3886776" cy="638175"/>
          </a:xfrm>
          <a:prstGeom prst="rect">
            <a:avLst/>
          </a:prstGeom>
        </p:spPr>
        <p:txBody>
          <a:bodyPr wrap="square" lIns="0" tIns="0" rIns="0" bIns="0" rtlCol="0" anchor="t">
            <a:spAutoFit/>
          </a:bodyPr>
          <a:lstStyle/>
          <a:p>
            <a:pPr marL="0" lvl="0" indent="0" algn="r">
              <a:lnSpc>
                <a:spcPts val="5040"/>
              </a:lnSpc>
            </a:pPr>
            <a:r>
              <a:rPr lang="en-US" sz="4200" b="1" dirty="0">
                <a:solidFill>
                  <a:srgbClr val="3D2E12"/>
                </a:solidFill>
                <a:latin typeface="Cormorant Garamond Medium Bold"/>
                <a:ea typeface="Cormorant Garamond Medium Bold"/>
                <a:cs typeface="Cormorant Garamond Medium Bold"/>
                <a:sym typeface="Cormorant Garamond Medium Bold"/>
              </a:rPr>
              <a:t>Random Forest</a:t>
            </a:r>
          </a:p>
        </p:txBody>
      </p:sp>
      <p:sp>
        <p:nvSpPr>
          <p:cNvPr id="5" name="TextBox 5"/>
          <p:cNvSpPr txBox="1"/>
          <p:nvPr/>
        </p:nvSpPr>
        <p:spPr>
          <a:xfrm>
            <a:off x="1028699" y="1152525"/>
            <a:ext cx="14287498" cy="1311256"/>
          </a:xfrm>
          <a:prstGeom prst="rect">
            <a:avLst/>
          </a:prstGeom>
        </p:spPr>
        <p:txBody>
          <a:bodyPr wrap="square" lIns="0" tIns="0" rIns="0" bIns="0" rtlCol="0" anchor="t">
            <a:spAutoFit/>
          </a:bodyPr>
          <a:lstStyle/>
          <a:p>
            <a:pPr marL="0" lvl="0" indent="0" algn="l">
              <a:lnSpc>
                <a:spcPts val="10560"/>
              </a:lnSpc>
            </a:pPr>
            <a:r>
              <a:rPr lang="en-US" sz="8000" b="1" dirty="0">
                <a:solidFill>
                  <a:srgbClr val="3D2E12"/>
                </a:solidFill>
                <a:latin typeface="Cormorant Garamond Light"/>
                <a:ea typeface="Cormorant Garamond Light"/>
                <a:cs typeface="Cormorant Garamond Light"/>
                <a:sym typeface="Cormorant Garamond Light"/>
              </a:rPr>
              <a:t>TRADITIONAL MODEL</a:t>
            </a:r>
          </a:p>
        </p:txBody>
      </p:sp>
      <p:sp>
        <p:nvSpPr>
          <p:cNvPr id="6" name="TextBox 6"/>
          <p:cNvSpPr txBox="1"/>
          <p:nvPr/>
        </p:nvSpPr>
        <p:spPr>
          <a:xfrm>
            <a:off x="12587023" y="3289817"/>
            <a:ext cx="5243776" cy="2339102"/>
          </a:xfrm>
          <a:prstGeom prst="rect">
            <a:avLst/>
          </a:prstGeom>
        </p:spPr>
        <p:txBody>
          <a:bodyPr wrap="square" lIns="0" tIns="0" rIns="0" bIns="0" rtlCol="0" anchor="t">
            <a:spAutoFit/>
          </a:bodyPr>
          <a:lstStyle/>
          <a:p>
            <a:pPr algn="just">
              <a:spcBef>
                <a:spcPct val="0"/>
              </a:spcBef>
            </a:pPr>
            <a:r>
              <a:rPr lang="en-IN" sz="2200" b="1" dirty="0">
                <a:effectLst/>
                <a:latin typeface="Cormorant Garamond Light Bold" panose="020B0604020202020204" charset="0"/>
                <a:ea typeface="Times New Roman" panose="02020603050405020304" pitchFamily="18" charset="0"/>
                <a:cs typeface="Times New Roman" panose="02020603050405020304" pitchFamily="18" charset="0"/>
              </a:rPr>
              <a:t>Converts input data into numerical representations and classifies them into emotion categories (e.g., happiness, sadness, fear). Logistic regression is commonly used in classification tasks, and here it predicts emotions based on textual input.</a:t>
            </a:r>
            <a:endParaRPr lang="en-IN" sz="2200" b="1" dirty="0">
              <a:effectLst/>
              <a:latin typeface="Cormorant Garamond Light Bold" panose="020B0604020202020204" charset="0"/>
              <a:ea typeface="Calibri" panose="020F0502020204030204" pitchFamily="34" charset="0"/>
              <a:cs typeface="Times New Roman" panose="02020603050405020304" pitchFamily="18" charset="0"/>
            </a:endParaRPr>
          </a:p>
          <a:p>
            <a:pPr marL="0" lvl="0" indent="0" algn="l">
              <a:spcBef>
                <a:spcPct val="0"/>
              </a:spcBef>
            </a:pPr>
            <a:r>
              <a:rPr lang="en-US" sz="2000" dirty="0">
                <a:solidFill>
                  <a:srgbClr val="3D2E12"/>
                </a:solidFill>
                <a:latin typeface="Cormorant Garamond Light"/>
                <a:ea typeface="Cormorant Garamond Light"/>
                <a:cs typeface="Cormorant Garamond Light"/>
                <a:sym typeface="Cormorant Garamond Light"/>
              </a:rPr>
              <a:t>. </a:t>
            </a:r>
          </a:p>
        </p:txBody>
      </p:sp>
      <p:sp>
        <p:nvSpPr>
          <p:cNvPr id="7" name="TextBox 7"/>
          <p:cNvSpPr txBox="1"/>
          <p:nvPr/>
        </p:nvSpPr>
        <p:spPr>
          <a:xfrm>
            <a:off x="12587023" y="5667845"/>
            <a:ext cx="5091377" cy="2031325"/>
          </a:xfrm>
          <a:prstGeom prst="rect">
            <a:avLst/>
          </a:prstGeom>
        </p:spPr>
        <p:txBody>
          <a:bodyPr wrap="square" lIns="0" tIns="0" rIns="0" bIns="0" rtlCol="0" anchor="t">
            <a:spAutoFit/>
          </a:bodyPr>
          <a:lstStyle/>
          <a:p>
            <a:pPr marL="0" lvl="0" indent="0" algn="just">
              <a:spcBef>
                <a:spcPct val="0"/>
              </a:spcBef>
            </a:pPr>
            <a:r>
              <a:rPr lang="en-IN" sz="2200" b="1" dirty="0">
                <a:effectLst/>
                <a:latin typeface="Cormorant Garamond Light Bold" panose="020B0604020202020204" charset="0"/>
                <a:ea typeface="Times New Roman" panose="02020603050405020304" pitchFamily="18" charset="0"/>
                <a:cs typeface="Times New Roman" panose="02020603050405020304" pitchFamily="18" charset="0"/>
              </a:rPr>
              <a:t>This model is also used for classification tasks. It maps input data into a high dimensional space and separates it into emotion categories (positive, negative, or neutral). SVM is effective when dealing with complex or ambiguous data.</a:t>
            </a:r>
            <a:endParaRPr lang="en-US" sz="2200" b="1" dirty="0">
              <a:solidFill>
                <a:srgbClr val="3D2E12"/>
              </a:solidFill>
              <a:latin typeface="Cormorant Garamond Light Bold" panose="020B0604020202020204" charset="0"/>
              <a:ea typeface="Cormorant Garamond Light"/>
              <a:cs typeface="Cormorant Garamond Light"/>
              <a:sym typeface="Cormorant Garamond Light"/>
            </a:endParaRPr>
          </a:p>
        </p:txBody>
      </p:sp>
      <p:sp>
        <p:nvSpPr>
          <p:cNvPr id="8" name="TextBox 8"/>
          <p:cNvSpPr txBox="1"/>
          <p:nvPr/>
        </p:nvSpPr>
        <p:spPr>
          <a:xfrm>
            <a:off x="12587023" y="7971756"/>
            <a:ext cx="5091377" cy="1692771"/>
          </a:xfrm>
          <a:prstGeom prst="rect">
            <a:avLst/>
          </a:prstGeom>
        </p:spPr>
        <p:txBody>
          <a:bodyPr wrap="square" lIns="0" tIns="0" rIns="0" bIns="0" rtlCol="0" anchor="t">
            <a:spAutoFit/>
          </a:bodyPr>
          <a:lstStyle/>
          <a:p>
            <a:pPr marL="0" lvl="0" indent="0" algn="just">
              <a:spcBef>
                <a:spcPct val="0"/>
              </a:spcBef>
            </a:pPr>
            <a:r>
              <a:rPr lang="en-IN" sz="2200" b="1" dirty="0">
                <a:effectLst/>
                <a:latin typeface="Cormorant Garamond Light Bold" panose="020B0604020202020204" charset="0"/>
                <a:ea typeface="Times New Roman" panose="02020603050405020304" pitchFamily="18" charset="0"/>
                <a:cs typeface="Times New Roman" panose="02020603050405020304" pitchFamily="18" charset="0"/>
              </a:rPr>
              <a:t>This model works by building multiple decision trees and combining their output for more accurate predictions. It is robust, particularly in handling high dimensional data like text or social media posts.</a:t>
            </a:r>
            <a:endParaRPr lang="en-US" sz="2200" b="1" dirty="0">
              <a:solidFill>
                <a:srgbClr val="3D2E12"/>
              </a:solidFill>
              <a:latin typeface="Cormorant Garamond Light Bold" panose="020B0604020202020204" charset="0"/>
              <a:ea typeface="Cormorant Garamond Light"/>
              <a:cs typeface="Cormorant Garamond Light"/>
              <a:sym typeface="Cormorant Garamond Light"/>
            </a:endParaRPr>
          </a:p>
        </p:txBody>
      </p:sp>
      <p:sp>
        <p:nvSpPr>
          <p:cNvPr id="9" name="AutoShape 9">
            <a:extLst>
              <a:ext uri="{C183D7F6-B498-43B3-948B-1728B52AA6E4}">
                <adec:decorative xmlns:adec="http://schemas.microsoft.com/office/drawing/2017/decorative" val="1"/>
              </a:ext>
            </a:extLst>
          </p:cNvPr>
          <p:cNvSpPr/>
          <p:nvPr/>
        </p:nvSpPr>
        <p:spPr>
          <a:xfrm rot="5400000">
            <a:off x="9209782" y="6297871"/>
            <a:ext cx="5911333" cy="0"/>
          </a:xfrm>
          <a:prstGeom prst="line">
            <a:avLst/>
          </a:prstGeom>
          <a:ln w="9525" cap="flat">
            <a:solidFill>
              <a:srgbClr val="988A71"/>
            </a:solidFill>
            <a:prstDash val="solid"/>
            <a:headEnd type="none" w="sm" len="sm"/>
            <a:tailEnd type="none" w="sm" len="sm"/>
          </a:ln>
        </p:spPr>
        <p:txBody>
          <a:bodyPr/>
          <a:lstStyle/>
          <a:p>
            <a:endParaRPr lang="en-IN"/>
          </a:p>
        </p:txBody>
      </p:sp>
      <p:pic>
        <p:nvPicPr>
          <p:cNvPr id="12" name="Picture 11">
            <a:extLst>
              <a:ext uri="{FF2B5EF4-FFF2-40B4-BE49-F238E27FC236}">
                <a16:creationId xmlns:a16="http://schemas.microsoft.com/office/drawing/2014/main" id="{A043A598-4ED4-CFDD-607B-318F1C49EC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6295" y="2888477"/>
            <a:ext cx="6544531" cy="6955437"/>
          </a:xfrm>
          <a:prstGeom prst="rect">
            <a:avLst/>
          </a:prstGeom>
          <a:solidFill>
            <a:srgbClr val="FFFFFF">
              <a:shade val="85000"/>
            </a:srgbClr>
          </a:solidFill>
          <a:ln w="88900" cap="sq">
            <a:solidFill>
              <a:srgbClr val="FFFFFF"/>
            </a:solidFill>
            <a:miter lim="800000"/>
          </a:ln>
          <a:effectLst>
            <a:outerShdw blurRad="63500" sx="102000" sy="102000" algn="ctr" rotWithShape="0">
              <a:prstClr val="black">
                <a:alpha val="40000"/>
              </a:prstClr>
            </a:outerShdw>
          </a:effectLst>
          <a:scene3d>
            <a:camera prst="orthographicFront"/>
            <a:lightRig rig="twoPt" dir="t">
              <a:rot lat="0" lon="0" rev="7200000"/>
            </a:lightRig>
          </a:scene3d>
          <a:sp3d>
            <a:bevelT w="25400" h="19050"/>
            <a:contourClr>
              <a:srgbClr val="FFFFFF"/>
            </a:contourClr>
          </a:sp3d>
        </p:spPr>
      </p:pic>
      <p:cxnSp>
        <p:nvCxnSpPr>
          <p:cNvPr id="14" name="Straight Connector 13">
            <a:extLst>
              <a:ext uri="{FF2B5EF4-FFF2-40B4-BE49-F238E27FC236}">
                <a16:creationId xmlns:a16="http://schemas.microsoft.com/office/drawing/2014/main" id="{029B3D9F-F76A-1B51-B4F8-ACA580557F9F}"/>
              </a:ext>
            </a:extLst>
          </p:cNvPr>
          <p:cNvCxnSpPr/>
          <p:nvPr/>
        </p:nvCxnSpPr>
        <p:spPr>
          <a:xfrm>
            <a:off x="457200" y="2463781"/>
            <a:ext cx="173736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9C6D519-C8C8-4E09-D79A-933949E4DB8D}"/>
              </a:ext>
            </a:extLst>
          </p:cNvPr>
          <p:cNvPicPr>
            <a:picLocks noChangeAspect="1"/>
          </p:cNvPicPr>
          <p:nvPr/>
        </p:nvPicPr>
        <p:blipFill>
          <a:blip r:embed="rId2">
            <a:extLst>
              <a:ext uri="{28A0092B-C50C-407E-A947-70E740481C1C}">
                <a14:useLocalDpi xmlns:a14="http://schemas.microsoft.com/office/drawing/2010/main" val="0"/>
              </a:ext>
            </a:extLst>
          </a:blip>
          <a:srcRect l="1" r="1" b="48753"/>
          <a:stretch/>
        </p:blipFill>
        <p:spPr>
          <a:xfrm>
            <a:off x="1704975" y="1764655"/>
            <a:ext cx="14878050" cy="35285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extBox 2"/>
          <p:cNvSpPr txBox="1"/>
          <p:nvPr/>
        </p:nvSpPr>
        <p:spPr>
          <a:xfrm>
            <a:off x="4521609" y="240002"/>
            <a:ext cx="9163911" cy="859210"/>
          </a:xfrm>
          <a:prstGeom prst="rect">
            <a:avLst/>
          </a:prstGeom>
        </p:spPr>
        <p:txBody>
          <a:bodyPr wrap="square" lIns="0" tIns="0" rIns="0" bIns="0" rtlCol="0" anchor="t">
            <a:spAutoFit/>
          </a:bodyPr>
          <a:lstStyle/>
          <a:p>
            <a:pPr marL="0" lvl="0" indent="0" algn="ctr">
              <a:lnSpc>
                <a:spcPts val="6720"/>
              </a:lnSpc>
            </a:pPr>
            <a:r>
              <a:rPr lang="en-US" sz="5600" b="1" u="sng" dirty="0">
                <a:solidFill>
                  <a:srgbClr val="3D2E12"/>
                </a:solidFill>
                <a:latin typeface="Cormorant Garamond Light"/>
                <a:ea typeface="Cormorant Garamond Light"/>
                <a:cs typeface="Cormorant Garamond Light"/>
                <a:sym typeface="Cormorant Garamond Light"/>
              </a:rPr>
              <a:t>Result of Traditional Model</a:t>
            </a:r>
          </a:p>
        </p:txBody>
      </p:sp>
      <p:sp>
        <p:nvSpPr>
          <p:cNvPr id="3" name="TextBox 3"/>
          <p:cNvSpPr txBox="1"/>
          <p:nvPr/>
        </p:nvSpPr>
        <p:spPr>
          <a:xfrm>
            <a:off x="1704975" y="6811185"/>
            <a:ext cx="3646627" cy="486833"/>
          </a:xfrm>
          <a:prstGeom prst="rect">
            <a:avLst/>
          </a:prstGeom>
        </p:spPr>
        <p:txBody>
          <a:bodyPr lIns="0" tIns="0" rIns="0" bIns="0" rtlCol="0" anchor="t">
            <a:spAutoFit/>
          </a:bodyPr>
          <a:lstStyle/>
          <a:p>
            <a:pPr marL="0" lvl="0" indent="0" algn="ctr">
              <a:lnSpc>
                <a:spcPts val="3840"/>
              </a:lnSpc>
            </a:pPr>
            <a:r>
              <a:rPr lang="en-US" sz="3200" b="1" dirty="0">
                <a:solidFill>
                  <a:srgbClr val="3D2E12"/>
                </a:solidFill>
                <a:latin typeface="Cormorant Garamond Medium Bold"/>
                <a:ea typeface="Cormorant Garamond Medium Bold"/>
                <a:cs typeface="Cormorant Garamond Medium Bold"/>
                <a:sym typeface="Cormorant Garamond Medium Bold"/>
              </a:rPr>
              <a:t>LR</a:t>
            </a:r>
          </a:p>
        </p:txBody>
      </p:sp>
      <p:sp>
        <p:nvSpPr>
          <p:cNvPr id="4" name="TextBox 4"/>
          <p:cNvSpPr txBox="1"/>
          <p:nvPr/>
        </p:nvSpPr>
        <p:spPr>
          <a:xfrm>
            <a:off x="1621612" y="7425562"/>
            <a:ext cx="3813351" cy="421782"/>
          </a:xfrm>
          <a:prstGeom prst="rect">
            <a:avLst/>
          </a:prstGeom>
        </p:spPr>
        <p:txBody>
          <a:bodyPr wrap="square" lIns="0" tIns="0" rIns="0" bIns="0" rtlCol="0" anchor="t">
            <a:spAutoFit/>
          </a:bodyPr>
          <a:lstStyle/>
          <a:p>
            <a:pPr marL="0" lvl="0" indent="0" algn="ctr">
              <a:lnSpc>
                <a:spcPts val="3380"/>
              </a:lnSpc>
            </a:pPr>
            <a:r>
              <a:rPr lang="en-US" sz="2600" b="1" dirty="0">
                <a:solidFill>
                  <a:srgbClr val="3D2E12"/>
                </a:solidFill>
                <a:latin typeface="Cormorant Garamond Light"/>
                <a:ea typeface="Cormorant Garamond Light"/>
                <a:cs typeface="Cormorant Garamond Light"/>
                <a:sym typeface="Cormorant Garamond Light"/>
              </a:rPr>
              <a:t>Achieved an accuracy of 62%</a:t>
            </a:r>
          </a:p>
        </p:txBody>
      </p:sp>
      <p:sp>
        <p:nvSpPr>
          <p:cNvPr id="5" name="TextBox 5"/>
          <p:cNvSpPr txBox="1"/>
          <p:nvPr/>
        </p:nvSpPr>
        <p:spPr>
          <a:xfrm>
            <a:off x="7280452" y="6842864"/>
            <a:ext cx="3646627" cy="486833"/>
          </a:xfrm>
          <a:prstGeom prst="rect">
            <a:avLst/>
          </a:prstGeom>
        </p:spPr>
        <p:txBody>
          <a:bodyPr lIns="0" tIns="0" rIns="0" bIns="0" rtlCol="0" anchor="t">
            <a:spAutoFit/>
          </a:bodyPr>
          <a:lstStyle/>
          <a:p>
            <a:pPr marL="0" lvl="0" indent="0" algn="ctr">
              <a:lnSpc>
                <a:spcPts val="3840"/>
              </a:lnSpc>
            </a:pPr>
            <a:r>
              <a:rPr lang="en-US" sz="3200" b="1" dirty="0">
                <a:solidFill>
                  <a:srgbClr val="3D2E12"/>
                </a:solidFill>
                <a:latin typeface="Cormorant Garamond Medium Bold"/>
                <a:ea typeface="Cormorant Garamond Medium Bold"/>
                <a:cs typeface="Cormorant Garamond Medium Bold"/>
                <a:sym typeface="Cormorant Garamond Medium Bold"/>
              </a:rPr>
              <a:t>SVM</a:t>
            </a:r>
          </a:p>
        </p:txBody>
      </p:sp>
      <p:sp>
        <p:nvSpPr>
          <p:cNvPr id="6" name="TextBox 6"/>
          <p:cNvSpPr txBox="1"/>
          <p:nvPr/>
        </p:nvSpPr>
        <p:spPr>
          <a:xfrm>
            <a:off x="7145425" y="7423200"/>
            <a:ext cx="3997149" cy="421782"/>
          </a:xfrm>
          <a:prstGeom prst="rect">
            <a:avLst/>
          </a:prstGeom>
        </p:spPr>
        <p:txBody>
          <a:bodyPr wrap="square" lIns="0" tIns="0" rIns="0" bIns="0" rtlCol="0" anchor="t">
            <a:spAutoFit/>
          </a:bodyPr>
          <a:lstStyle/>
          <a:p>
            <a:pPr marL="0" lvl="0" indent="0" algn="ctr">
              <a:lnSpc>
                <a:spcPts val="3380"/>
              </a:lnSpc>
            </a:pPr>
            <a:r>
              <a:rPr lang="en-US" sz="2600" b="1" dirty="0">
                <a:solidFill>
                  <a:srgbClr val="3D2E12"/>
                </a:solidFill>
                <a:latin typeface="Cormorant Garamond Light"/>
                <a:ea typeface="Cormorant Garamond Light"/>
                <a:cs typeface="Cormorant Garamond Light"/>
                <a:sym typeface="Cormorant Garamond Light"/>
              </a:rPr>
              <a:t>Achieved an accuracy of 60%</a:t>
            </a:r>
          </a:p>
        </p:txBody>
      </p:sp>
      <p:sp>
        <p:nvSpPr>
          <p:cNvPr id="7" name="TextBox 7"/>
          <p:cNvSpPr txBox="1"/>
          <p:nvPr/>
        </p:nvSpPr>
        <p:spPr>
          <a:xfrm>
            <a:off x="12853036" y="6811184"/>
            <a:ext cx="3646627" cy="486833"/>
          </a:xfrm>
          <a:prstGeom prst="rect">
            <a:avLst/>
          </a:prstGeom>
        </p:spPr>
        <p:txBody>
          <a:bodyPr lIns="0" tIns="0" rIns="0" bIns="0" rtlCol="0" anchor="t">
            <a:spAutoFit/>
          </a:bodyPr>
          <a:lstStyle/>
          <a:p>
            <a:pPr marL="0" lvl="0" indent="0" algn="ctr">
              <a:lnSpc>
                <a:spcPts val="3840"/>
              </a:lnSpc>
            </a:pPr>
            <a:r>
              <a:rPr lang="en-US" sz="3200" b="1" dirty="0">
                <a:solidFill>
                  <a:srgbClr val="3D2E12"/>
                </a:solidFill>
                <a:latin typeface="Cormorant Garamond Medium Bold"/>
                <a:ea typeface="Cormorant Garamond Medium Bold"/>
                <a:cs typeface="Cormorant Garamond Medium Bold"/>
                <a:sym typeface="Cormorant Garamond Medium Bold"/>
              </a:rPr>
              <a:t>RF</a:t>
            </a:r>
          </a:p>
        </p:txBody>
      </p:sp>
      <p:sp>
        <p:nvSpPr>
          <p:cNvPr id="8" name="TextBox 8"/>
          <p:cNvSpPr txBox="1"/>
          <p:nvPr/>
        </p:nvSpPr>
        <p:spPr>
          <a:xfrm>
            <a:off x="12686313" y="7425562"/>
            <a:ext cx="3813350" cy="421782"/>
          </a:xfrm>
          <a:prstGeom prst="rect">
            <a:avLst/>
          </a:prstGeom>
        </p:spPr>
        <p:txBody>
          <a:bodyPr wrap="square" lIns="0" tIns="0" rIns="0" bIns="0" rtlCol="0" anchor="t">
            <a:spAutoFit/>
          </a:bodyPr>
          <a:lstStyle/>
          <a:p>
            <a:pPr marL="0" lvl="0" indent="0" algn="ctr">
              <a:lnSpc>
                <a:spcPts val="3380"/>
              </a:lnSpc>
            </a:pPr>
            <a:r>
              <a:rPr lang="en-US" sz="2600" b="1" dirty="0">
                <a:solidFill>
                  <a:srgbClr val="3D2E12"/>
                </a:solidFill>
                <a:latin typeface="Cormorant Garamond Light"/>
                <a:ea typeface="Cormorant Garamond Light"/>
                <a:cs typeface="Cormorant Garamond Light"/>
                <a:sym typeface="Cormorant Garamond Light"/>
              </a:rPr>
              <a:t>Achieved an accuracy of 58%</a:t>
            </a:r>
          </a:p>
        </p:txBody>
      </p:sp>
      <p:pic>
        <p:nvPicPr>
          <p:cNvPr id="9" name="Picture 8">
            <a:extLst>
              <a:ext uri="{FF2B5EF4-FFF2-40B4-BE49-F238E27FC236}">
                <a16:creationId xmlns:a16="http://schemas.microsoft.com/office/drawing/2014/main" id="{83B78643-F883-14B2-638A-A057914F2F20}"/>
              </a:ext>
            </a:extLst>
          </p:cNvPr>
          <p:cNvPicPr>
            <a:picLocks noChangeAspect="1"/>
          </p:cNvPicPr>
          <p:nvPr/>
        </p:nvPicPr>
        <p:blipFill>
          <a:blip r:embed="rId2">
            <a:extLst>
              <a:ext uri="{28A0092B-C50C-407E-A947-70E740481C1C}">
                <a14:useLocalDpi xmlns:a14="http://schemas.microsoft.com/office/drawing/2010/main" val="0"/>
              </a:ext>
            </a:extLst>
          </a:blip>
          <a:srcRect t="86824"/>
          <a:stretch/>
        </p:blipFill>
        <p:spPr>
          <a:xfrm>
            <a:off x="1704974" y="5736151"/>
            <a:ext cx="14878050" cy="9071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82DF706D-1520-AF6C-F1C9-B84375BFB8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4978" y="8145732"/>
            <a:ext cx="7169691" cy="15058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E3B68890-D837-416A-7FE9-56DDE4E530C1}"/>
              </a:ext>
            </a:extLst>
          </p:cNvPr>
          <p:cNvPicPr>
            <a:picLocks noChangeAspect="1"/>
          </p:cNvPicPr>
          <p:nvPr/>
        </p:nvPicPr>
        <p:blipFill>
          <a:blip r:embed="rId4">
            <a:extLst>
              <a:ext uri="{28A0092B-C50C-407E-A947-70E740481C1C}">
                <a14:useLocalDpi xmlns:a14="http://schemas.microsoft.com/office/drawing/2010/main" val="0"/>
              </a:ext>
            </a:extLst>
          </a:blip>
          <a:srcRect r="4191"/>
          <a:stretch/>
        </p:blipFill>
        <p:spPr>
          <a:xfrm>
            <a:off x="9413332" y="8145732"/>
            <a:ext cx="7169692" cy="15058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Slide Background Fill">
            <a:extLst>
              <a:ext uri="{FF2B5EF4-FFF2-40B4-BE49-F238E27FC236}">
                <a16:creationId xmlns:a16="http://schemas.microsoft.com/office/drawing/2014/main" id="{913AE63C-D5B4-45D1-ACFC-648CFFCF9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6" y="0"/>
            <a:ext cx="18283424"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Color Cover">
            <a:extLst>
              <a:ext uri="{FF2B5EF4-FFF2-40B4-BE49-F238E27FC236}">
                <a16:creationId xmlns:a16="http://schemas.microsoft.com/office/drawing/2014/main" id="{34DE9D20-D6C2-4834-9EE9-EC583F3FE5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6" y="0"/>
            <a:ext cx="18283424" cy="10287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4" name="Group 43">
            <a:extLst>
              <a:ext uri="{FF2B5EF4-FFF2-40B4-BE49-F238E27FC236}">
                <a16:creationId xmlns:a16="http://schemas.microsoft.com/office/drawing/2014/main" id="{D2BEE71A-353E-49B4-9F8D-D2E784E501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86" y="0"/>
            <a:ext cx="9096352" cy="10287000"/>
            <a:chOff x="651279" y="598259"/>
            <a:chExt cx="10889442" cy="5680742"/>
          </a:xfrm>
        </p:grpSpPr>
        <p:sp>
          <p:nvSpPr>
            <p:cNvPr id="45" name="Color">
              <a:extLst>
                <a:ext uri="{FF2B5EF4-FFF2-40B4-BE49-F238E27FC236}">
                  <a16:creationId xmlns:a16="http://schemas.microsoft.com/office/drawing/2014/main" id="{0C9DD877-6006-4DF4-90EE-97EB9CA6B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Color">
              <a:extLst>
                <a:ext uri="{FF2B5EF4-FFF2-40B4-BE49-F238E27FC236}">
                  <a16:creationId xmlns:a16="http://schemas.microsoft.com/office/drawing/2014/main" id="{380AA621-5EB1-4034-A9BE-9FD3CEC58B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 name="Picture 9" descr="A black background with white text&#10;&#10;AI-generated content may be incorrect.">
            <a:extLst>
              <a:ext uri="{FF2B5EF4-FFF2-40B4-BE49-F238E27FC236}">
                <a16:creationId xmlns:a16="http://schemas.microsoft.com/office/drawing/2014/main" id="{0ED61097-0376-4BDA-2042-CB39491EC2A2}"/>
              </a:ext>
            </a:extLst>
          </p:cNvPr>
          <p:cNvPicPr>
            <a:picLocks noChangeAspect="1"/>
          </p:cNvPicPr>
          <p:nvPr/>
        </p:nvPicPr>
        <p:blipFill>
          <a:blip r:embed="rId2">
            <a:extLst>
              <a:ext uri="{28A0092B-C50C-407E-A947-70E740481C1C}">
                <a14:useLocalDpi xmlns:a14="http://schemas.microsoft.com/office/drawing/2010/main" val="0"/>
              </a:ext>
            </a:extLst>
          </a:blip>
          <a:srcRect r="17331"/>
          <a:stretch/>
        </p:blipFill>
        <p:spPr>
          <a:xfrm>
            <a:off x="9602689" y="7924924"/>
            <a:ext cx="7447319" cy="1156553"/>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pic>
        <p:nvPicPr>
          <p:cNvPr id="8" name="Picture 7">
            <a:extLst>
              <a:ext uri="{FF2B5EF4-FFF2-40B4-BE49-F238E27FC236}">
                <a16:creationId xmlns:a16="http://schemas.microsoft.com/office/drawing/2014/main" id="{A3485573-D612-1432-DBD5-2EC4D8FCA4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2690" y="6532924"/>
            <a:ext cx="7447318" cy="6186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48" name="Group 4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86" y="0"/>
            <a:ext cx="18283431" cy="10287003"/>
            <a:chOff x="0" y="0"/>
            <a:chExt cx="12188952" cy="6858000"/>
          </a:xfrm>
        </p:grpSpPr>
        <p:sp>
          <p:nvSpPr>
            <p:cNvPr id="49" name="Freeform: Shape 4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0" name="Freeform: Shape 4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1" name="Freeform: Shape 5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2" name="Freeform: Shape 5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3" name="Freeform: Shape 5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4" name="Freeform: Shape 5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5" name="Freeform: Shape 5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grpSp>
        <p:nvGrpSpPr>
          <p:cNvPr id="2" name="Group 2"/>
          <p:cNvGrpSpPr/>
          <p:nvPr/>
        </p:nvGrpSpPr>
        <p:grpSpPr>
          <a:xfrm>
            <a:off x="9804318" y="1736312"/>
            <a:ext cx="7498911" cy="1109669"/>
            <a:chOff x="0" y="0"/>
            <a:chExt cx="21167175" cy="3132264"/>
          </a:xfrm>
        </p:grpSpPr>
        <p:sp>
          <p:nvSpPr>
            <p:cNvPr id="3" name="TextBox 3"/>
            <p:cNvSpPr txBox="1"/>
            <p:nvPr/>
          </p:nvSpPr>
          <p:spPr>
            <a:xfrm>
              <a:off x="0" y="427549"/>
              <a:ext cx="21167175" cy="1909771"/>
            </a:xfrm>
            <a:prstGeom prst="rect">
              <a:avLst/>
            </a:prstGeom>
          </p:spPr>
          <p:txBody>
            <a:bodyPr lIns="0" tIns="0" rIns="0" bIns="0" rtlCol="0" anchor="t">
              <a:spAutoFit/>
            </a:bodyPr>
            <a:lstStyle/>
            <a:p>
              <a:pPr algn="r" defTabSz="425653">
                <a:lnSpc>
                  <a:spcPts val="5734"/>
                </a:lnSpc>
                <a:spcBef>
                  <a:spcPct val="0"/>
                </a:spcBef>
                <a:spcAft>
                  <a:spcPts val="570"/>
                </a:spcAft>
              </a:pPr>
              <a:r>
                <a:rPr lang="en-US" sz="4096" b="1" kern="1200">
                  <a:solidFill>
                    <a:srgbClr val="494949"/>
                  </a:solidFill>
                  <a:latin typeface="Times New Roman" panose="02020603050405020304" pitchFamily="18" charset="0"/>
                  <a:ea typeface="+mn-ea"/>
                  <a:cs typeface="Times New Roman" panose="02020603050405020304" pitchFamily="18" charset="0"/>
                  <a:sym typeface="Cormorant Garamond Light"/>
                </a:rPr>
                <a:t>CNN MODEL</a:t>
              </a:r>
              <a:endParaRPr lang="en-US" sz="8800" b="1">
                <a:solidFill>
                  <a:srgbClr val="FFFFFF"/>
                </a:solidFill>
                <a:latin typeface="Times New Roman" panose="02020603050405020304" pitchFamily="18" charset="0"/>
                <a:ea typeface="Cormorant Garamond Light"/>
                <a:cs typeface="Times New Roman" panose="02020603050405020304" pitchFamily="18" charset="0"/>
                <a:sym typeface="Cormorant Garamond Light"/>
              </a:endParaRPr>
            </a:p>
          </p:txBody>
        </p:sp>
        <p:sp>
          <p:nvSpPr>
            <p:cNvPr id="4" name="AutoShape 4"/>
            <p:cNvSpPr/>
            <p:nvPr/>
          </p:nvSpPr>
          <p:spPr>
            <a:xfrm>
              <a:off x="0" y="3132264"/>
              <a:ext cx="21167175" cy="0"/>
            </a:xfrm>
            <a:prstGeom prst="line">
              <a:avLst/>
            </a:prstGeom>
            <a:ln w="12700" cap="flat">
              <a:solidFill>
                <a:srgbClr val="FFFFFF"/>
              </a:solidFill>
              <a:prstDash val="solid"/>
              <a:headEnd type="none" w="sm" len="sm"/>
              <a:tailEnd type="none" w="sm" len="sm"/>
            </a:ln>
          </p:spPr>
          <p:txBody>
            <a:bodyPr/>
            <a:lstStyle/>
            <a:p>
              <a:endParaRPr lang="en-IN"/>
            </a:p>
          </p:txBody>
        </p:sp>
        <p:sp>
          <p:nvSpPr>
            <p:cNvPr id="5" name="AutoShape 5"/>
            <p:cNvSpPr/>
            <p:nvPr/>
          </p:nvSpPr>
          <p:spPr>
            <a:xfrm>
              <a:off x="0" y="0"/>
              <a:ext cx="21167175" cy="0"/>
            </a:xfrm>
            <a:prstGeom prst="line">
              <a:avLst/>
            </a:prstGeom>
            <a:ln w="12700" cap="flat">
              <a:solidFill>
                <a:srgbClr val="FFFFFF"/>
              </a:solidFill>
              <a:prstDash val="solid"/>
              <a:headEnd type="none" w="sm" len="sm"/>
              <a:tailEnd type="none" w="sm" len="sm"/>
            </a:ln>
          </p:spPr>
          <p:txBody>
            <a:bodyPr/>
            <a:lstStyle/>
            <a:p>
              <a:endParaRPr lang="en-IN"/>
            </a:p>
          </p:txBody>
        </p:sp>
      </p:grpSp>
      <p:pic>
        <p:nvPicPr>
          <p:cNvPr id="9" name="Picture 8" descr="A screen shot of a computer&#10;&#10;AI-generated content may be incorrect.">
            <a:extLst>
              <a:ext uri="{FF2B5EF4-FFF2-40B4-BE49-F238E27FC236}">
                <a16:creationId xmlns:a16="http://schemas.microsoft.com/office/drawing/2014/main" id="{76D7B875-2195-49E3-0844-7A11FFF7BC52}"/>
              </a:ext>
            </a:extLst>
          </p:cNvPr>
          <p:cNvPicPr>
            <a:picLocks noChangeAspect="1"/>
          </p:cNvPicPr>
          <p:nvPr/>
        </p:nvPicPr>
        <p:blipFill>
          <a:blip r:embed="rId4"/>
          <a:stretch>
            <a:fillRect/>
          </a:stretch>
        </p:blipFill>
        <p:spPr>
          <a:xfrm>
            <a:off x="9602689" y="3551814"/>
            <a:ext cx="7453006" cy="22633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57" name="TextBox 5">
            <a:extLst>
              <a:ext uri="{FF2B5EF4-FFF2-40B4-BE49-F238E27FC236}">
                <a16:creationId xmlns:a16="http://schemas.microsoft.com/office/drawing/2014/main" id="{7BBB2BF0-7711-5242-C122-C7E1646A3162}"/>
              </a:ext>
            </a:extLst>
          </p:cNvPr>
          <p:cNvGraphicFramePr/>
          <p:nvPr>
            <p:extLst>
              <p:ext uri="{D42A27DB-BD31-4B8C-83A1-F6EECF244321}">
                <p14:modId xmlns:p14="http://schemas.microsoft.com/office/powerpoint/2010/main" val="1978153896"/>
              </p:ext>
            </p:extLst>
          </p:nvPr>
        </p:nvGraphicFramePr>
        <p:xfrm>
          <a:off x="667274" y="3382287"/>
          <a:ext cx="7964279" cy="610971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a:extLst>
            <a:ext uri="{FF2B5EF4-FFF2-40B4-BE49-F238E27FC236}">
              <a16:creationId xmlns:a16="http://schemas.microsoft.com/office/drawing/2014/main" id="{AB69F5FA-36C1-D58F-A566-2ECD85F103DE}"/>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E8CDB754-79D2-F435-69DD-139C3F7C4044}"/>
              </a:ext>
            </a:extLst>
          </p:cNvPr>
          <p:cNvSpPr txBox="1"/>
          <p:nvPr/>
        </p:nvSpPr>
        <p:spPr>
          <a:xfrm>
            <a:off x="2514600" y="1028700"/>
            <a:ext cx="2674884" cy="551433"/>
          </a:xfrm>
          <a:prstGeom prst="rect">
            <a:avLst/>
          </a:prstGeom>
        </p:spPr>
        <p:txBody>
          <a:bodyPr lIns="0" tIns="0" rIns="0" bIns="0" rtlCol="0" anchor="t">
            <a:spAutoFit/>
          </a:bodyPr>
          <a:lstStyle/>
          <a:p>
            <a:pPr marL="0" lvl="0" indent="0" algn="l">
              <a:lnSpc>
                <a:spcPts val="4320"/>
              </a:lnSpc>
            </a:pPr>
            <a:r>
              <a:rPr lang="en-US" sz="3600" b="1" dirty="0">
                <a:solidFill>
                  <a:srgbClr val="3D2E12"/>
                </a:solidFill>
                <a:latin typeface="Cormorant Garamond Medium"/>
                <a:ea typeface="Cormorant Garamond Medium"/>
                <a:cs typeface="Cormorant Garamond Medium"/>
                <a:sym typeface="Cormorant Garamond Medium"/>
              </a:rPr>
              <a:t>Flow Diagram </a:t>
            </a:r>
          </a:p>
        </p:txBody>
      </p:sp>
      <p:sp>
        <p:nvSpPr>
          <p:cNvPr id="7" name="AutoShape 7">
            <a:extLst>
              <a:ext uri="{FF2B5EF4-FFF2-40B4-BE49-F238E27FC236}">
                <a16:creationId xmlns:a16="http://schemas.microsoft.com/office/drawing/2014/main" id="{2E37FA93-3154-5B18-AC1F-904CE1150E49}"/>
              </a:ext>
              <a:ext uri="{C183D7F6-B498-43B3-948B-1728B52AA6E4}">
                <adec:decorative xmlns:adec="http://schemas.microsoft.com/office/drawing/2017/decorative" val="1"/>
              </a:ext>
            </a:extLst>
          </p:cNvPr>
          <p:cNvSpPr/>
          <p:nvPr/>
        </p:nvSpPr>
        <p:spPr>
          <a:xfrm>
            <a:off x="1028700" y="6665484"/>
            <a:ext cx="3371049" cy="0"/>
          </a:xfrm>
          <a:prstGeom prst="line">
            <a:avLst/>
          </a:prstGeom>
          <a:ln w="9525" cap="flat">
            <a:solidFill>
              <a:srgbClr val="988A71"/>
            </a:solidFill>
            <a:prstDash val="solid"/>
            <a:headEnd type="none" w="sm" len="sm"/>
            <a:tailEnd type="none" w="sm" len="sm"/>
          </a:ln>
        </p:spPr>
        <p:txBody>
          <a:bodyPr/>
          <a:lstStyle/>
          <a:p>
            <a:endParaRPr lang="en-IN"/>
          </a:p>
        </p:txBody>
      </p:sp>
      <p:pic>
        <p:nvPicPr>
          <p:cNvPr id="10" name="Picture 9" descr="A diagram of a network&#10;&#10;AI-generated content may be incorrect.">
            <a:extLst>
              <a:ext uri="{FF2B5EF4-FFF2-40B4-BE49-F238E27FC236}">
                <a16:creationId xmlns:a16="http://schemas.microsoft.com/office/drawing/2014/main" id="{F9470528-98A2-8EB6-CD76-0F32311573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853" y="2324100"/>
            <a:ext cx="8363802" cy="7299572"/>
          </a:xfrm>
          <a:prstGeom prst="rect">
            <a:avLst/>
          </a:prstGeom>
          <a:solidFill>
            <a:srgbClr val="FFFFFF">
              <a:shade val="85000"/>
            </a:srgbClr>
          </a:solidFill>
          <a:ln w="88900" cap="sq">
            <a:solidFill>
              <a:srgbClr val="FFFFFF"/>
            </a:solidFill>
            <a:miter lim="800000"/>
          </a:ln>
          <a:effectLst>
            <a:outerShdw blurRad="63500" sx="102000" sy="102000" algn="ctr" rotWithShape="0">
              <a:prstClr val="black">
                <a:alpha val="40000"/>
              </a:prstClr>
            </a:outerShdw>
          </a:effectLst>
          <a:scene3d>
            <a:camera prst="orthographicFront"/>
            <a:lightRig rig="twoPt" dir="t">
              <a:rot lat="0" lon="0" rev="7200000"/>
            </a:lightRig>
          </a:scene3d>
          <a:sp3d>
            <a:bevelT w="25400" h="19050"/>
            <a:contourClr>
              <a:srgbClr val="FFFFFF"/>
            </a:contourClr>
          </a:sp3d>
        </p:spPr>
      </p:pic>
      <p:sp>
        <p:nvSpPr>
          <p:cNvPr id="11" name="TextBox 6">
            <a:extLst>
              <a:ext uri="{FF2B5EF4-FFF2-40B4-BE49-F238E27FC236}">
                <a16:creationId xmlns:a16="http://schemas.microsoft.com/office/drawing/2014/main" id="{7E366EB2-4F7F-5060-AFC3-6679F4B1862F}"/>
              </a:ext>
            </a:extLst>
          </p:cNvPr>
          <p:cNvSpPr txBox="1"/>
          <p:nvPr/>
        </p:nvSpPr>
        <p:spPr>
          <a:xfrm>
            <a:off x="10773200" y="1028699"/>
            <a:ext cx="5867400" cy="551433"/>
          </a:xfrm>
          <a:prstGeom prst="rect">
            <a:avLst/>
          </a:prstGeom>
        </p:spPr>
        <p:txBody>
          <a:bodyPr wrap="square" lIns="0" tIns="0" rIns="0" bIns="0" rtlCol="0" anchor="t">
            <a:spAutoFit/>
          </a:bodyPr>
          <a:lstStyle/>
          <a:p>
            <a:pPr marL="0" lvl="0" indent="0" algn="l">
              <a:lnSpc>
                <a:spcPts val="4320"/>
              </a:lnSpc>
            </a:pPr>
            <a:r>
              <a:rPr lang="en-US" sz="3600" b="1" dirty="0">
                <a:solidFill>
                  <a:srgbClr val="3D2E12"/>
                </a:solidFill>
                <a:latin typeface="Cormorant Garamond Medium"/>
                <a:ea typeface="Cormorant Garamond Medium"/>
                <a:cs typeface="Cormorant Garamond Medium"/>
                <a:sym typeface="Cormorant Garamond Medium"/>
              </a:rPr>
              <a:t>Description of steps involved </a:t>
            </a:r>
          </a:p>
        </p:txBody>
      </p:sp>
      <p:cxnSp>
        <p:nvCxnSpPr>
          <p:cNvPr id="13" name="Straight Connector 12">
            <a:extLst>
              <a:ext uri="{FF2B5EF4-FFF2-40B4-BE49-F238E27FC236}">
                <a16:creationId xmlns:a16="http://schemas.microsoft.com/office/drawing/2014/main" id="{1805F71D-4B60-9E4B-1D44-F87A2B413B2D}"/>
              </a:ext>
            </a:extLst>
          </p:cNvPr>
          <p:cNvCxnSpPr/>
          <p:nvPr/>
        </p:nvCxnSpPr>
        <p:spPr>
          <a:xfrm>
            <a:off x="152400" y="1866900"/>
            <a:ext cx="17983200"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52A0F30-CC9C-299D-9FFA-0B5EC919259C}"/>
              </a:ext>
            </a:extLst>
          </p:cNvPr>
          <p:cNvCxnSpPr/>
          <p:nvPr/>
        </p:nvCxnSpPr>
        <p:spPr>
          <a:xfrm>
            <a:off x="9372600" y="2019300"/>
            <a:ext cx="0" cy="800100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17" name="TextBox 11">
            <a:extLst>
              <a:ext uri="{FF2B5EF4-FFF2-40B4-BE49-F238E27FC236}">
                <a16:creationId xmlns:a16="http://schemas.microsoft.com/office/drawing/2014/main" id="{78D30EB5-251C-DA75-B4BF-EC3E40CD20E6}"/>
              </a:ext>
            </a:extLst>
          </p:cNvPr>
          <p:cNvGraphicFramePr/>
          <p:nvPr/>
        </p:nvGraphicFramePr>
        <p:xfrm>
          <a:off x="9448800" y="2324100"/>
          <a:ext cx="8516201" cy="68579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4969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a:extLst>
            <a:ext uri="{FF2B5EF4-FFF2-40B4-BE49-F238E27FC236}">
              <a16:creationId xmlns:a16="http://schemas.microsoft.com/office/drawing/2014/main" id="{A2DC0900-502E-8AC5-2924-EE76100CACC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9AE8A82-4DE5-FF13-E48F-A4AC46820BEA}"/>
              </a:ext>
            </a:extLst>
          </p:cNvPr>
          <p:cNvSpPr txBox="1"/>
          <p:nvPr/>
        </p:nvSpPr>
        <p:spPr>
          <a:xfrm>
            <a:off x="1797972" y="3286538"/>
            <a:ext cx="5950492" cy="720647"/>
          </a:xfrm>
          <a:prstGeom prst="rect">
            <a:avLst/>
          </a:prstGeom>
        </p:spPr>
        <p:txBody>
          <a:bodyPr lIns="0" tIns="0" rIns="0" bIns="0" rtlCol="0" anchor="t">
            <a:spAutoFit/>
          </a:bodyPr>
          <a:lstStyle/>
          <a:p>
            <a:pPr marL="0" lvl="0" indent="0" algn="ctr">
              <a:lnSpc>
                <a:spcPts val="5880"/>
              </a:lnSpc>
              <a:spcBef>
                <a:spcPct val="0"/>
              </a:spcBef>
            </a:pPr>
            <a:r>
              <a:rPr lang="en-US" sz="4200" b="1" dirty="0">
                <a:solidFill>
                  <a:srgbClr val="3D2E12"/>
                </a:solidFill>
                <a:latin typeface="Cormorant Garamond Medium Bold"/>
                <a:ea typeface="Cormorant Garamond Medium Bold"/>
                <a:cs typeface="Cormorant Garamond Medium Bold"/>
                <a:sym typeface="Cormorant Garamond Medium Bold"/>
              </a:rPr>
              <a:t>Traditional Model</a:t>
            </a:r>
          </a:p>
        </p:txBody>
      </p:sp>
      <p:sp>
        <p:nvSpPr>
          <p:cNvPr id="3" name="TextBox 3">
            <a:extLst>
              <a:ext uri="{FF2B5EF4-FFF2-40B4-BE49-F238E27FC236}">
                <a16:creationId xmlns:a16="http://schemas.microsoft.com/office/drawing/2014/main" id="{BB7C7D41-BB69-FE52-5B4B-8DAA87AA3B61}"/>
              </a:ext>
            </a:extLst>
          </p:cNvPr>
          <p:cNvSpPr txBox="1"/>
          <p:nvPr/>
        </p:nvSpPr>
        <p:spPr>
          <a:xfrm>
            <a:off x="10590367" y="3286537"/>
            <a:ext cx="5950492" cy="720647"/>
          </a:xfrm>
          <a:prstGeom prst="rect">
            <a:avLst/>
          </a:prstGeom>
        </p:spPr>
        <p:txBody>
          <a:bodyPr lIns="0" tIns="0" rIns="0" bIns="0" rtlCol="0" anchor="t">
            <a:spAutoFit/>
          </a:bodyPr>
          <a:lstStyle/>
          <a:p>
            <a:pPr marL="0" lvl="0" indent="0" algn="ctr">
              <a:lnSpc>
                <a:spcPts val="5880"/>
              </a:lnSpc>
              <a:spcBef>
                <a:spcPct val="0"/>
              </a:spcBef>
            </a:pPr>
            <a:r>
              <a:rPr lang="en-US" sz="4200" b="1" dirty="0">
                <a:solidFill>
                  <a:srgbClr val="3D2E12"/>
                </a:solidFill>
                <a:latin typeface="Cormorant Garamond Medium Bold"/>
                <a:ea typeface="Cormorant Garamond Medium Bold"/>
                <a:cs typeface="Cormorant Garamond Medium Bold"/>
                <a:sym typeface="Cormorant Garamond Medium Bold"/>
              </a:rPr>
              <a:t>CNN Model</a:t>
            </a:r>
          </a:p>
        </p:txBody>
      </p:sp>
      <p:sp>
        <p:nvSpPr>
          <p:cNvPr id="4" name="TextBox 4">
            <a:extLst>
              <a:ext uri="{FF2B5EF4-FFF2-40B4-BE49-F238E27FC236}">
                <a16:creationId xmlns:a16="http://schemas.microsoft.com/office/drawing/2014/main" id="{F9FDA550-AE92-26CA-7E2C-A9359EFC0E23}"/>
              </a:ext>
            </a:extLst>
          </p:cNvPr>
          <p:cNvSpPr txBox="1"/>
          <p:nvPr/>
        </p:nvSpPr>
        <p:spPr>
          <a:xfrm>
            <a:off x="2426833" y="1203187"/>
            <a:ext cx="13434335" cy="1340432"/>
          </a:xfrm>
          <a:prstGeom prst="rect">
            <a:avLst/>
          </a:prstGeom>
        </p:spPr>
        <p:txBody>
          <a:bodyPr lIns="0" tIns="0" rIns="0" bIns="0" rtlCol="0" anchor="t">
            <a:spAutoFit/>
          </a:bodyPr>
          <a:lstStyle/>
          <a:p>
            <a:pPr marL="0" lvl="0" indent="0" algn="ctr">
              <a:lnSpc>
                <a:spcPts val="10560"/>
              </a:lnSpc>
            </a:pPr>
            <a:r>
              <a:rPr lang="en-US" sz="8800" b="1" dirty="0">
                <a:solidFill>
                  <a:srgbClr val="3D2E12"/>
                </a:solidFill>
                <a:latin typeface="Cormorant Garamond Light"/>
                <a:ea typeface="Cormorant Garamond Light"/>
                <a:cs typeface="Cormorant Garamond Light"/>
                <a:sym typeface="Cormorant Garamond Light"/>
              </a:rPr>
              <a:t>Model Comparison</a:t>
            </a:r>
          </a:p>
        </p:txBody>
      </p:sp>
      <p:sp>
        <p:nvSpPr>
          <p:cNvPr id="5" name="TextBox 5">
            <a:extLst>
              <a:ext uri="{FF2B5EF4-FFF2-40B4-BE49-F238E27FC236}">
                <a16:creationId xmlns:a16="http://schemas.microsoft.com/office/drawing/2014/main" id="{9CEE478D-D87F-705B-61C8-280B05CE8195}"/>
              </a:ext>
            </a:extLst>
          </p:cNvPr>
          <p:cNvSpPr txBox="1"/>
          <p:nvPr/>
        </p:nvSpPr>
        <p:spPr>
          <a:xfrm>
            <a:off x="1612261" y="4671104"/>
            <a:ext cx="7162799" cy="2245295"/>
          </a:xfrm>
          <a:prstGeom prst="rect">
            <a:avLst/>
          </a:prstGeom>
        </p:spPr>
        <p:txBody>
          <a:bodyPr wrap="square" lIns="0" tIns="0" rIns="0" bIns="0" rtlCol="0" anchor="t">
            <a:spAutoFit/>
          </a:bodyPr>
          <a:lstStyle/>
          <a:p>
            <a:pPr marL="457200" lvl="0" indent="-457200" algn="just">
              <a:lnSpc>
                <a:spcPts val="4480"/>
              </a:lnSpc>
              <a:spcBef>
                <a:spcPct val="0"/>
              </a:spcBef>
              <a:buFont typeface="Arial" panose="020B0604020202020204" pitchFamily="34" charset="0"/>
              <a:buChar char="•"/>
            </a:pPr>
            <a:r>
              <a:rPr lang="en-US" sz="2400" dirty="0">
                <a:latin typeface="+mj-lt"/>
                <a:ea typeface="Cormorant Garamond Light"/>
                <a:cs typeface="Cormorant Garamond Light"/>
                <a:sym typeface="Cormorant Garamond Light"/>
              </a:rPr>
              <a:t>Uses manual feature extraction (e.g., Bag-of-words, TF-IDF</a:t>
            </a:r>
          </a:p>
          <a:p>
            <a:pPr marL="457200" lvl="0" indent="-457200" algn="just">
              <a:lnSpc>
                <a:spcPts val="4480"/>
              </a:lnSpc>
              <a:spcBef>
                <a:spcPct val="0"/>
              </a:spcBef>
              <a:buFont typeface="Arial" panose="020B0604020202020204" pitchFamily="34" charset="0"/>
              <a:buChar char="•"/>
            </a:pPr>
            <a:r>
              <a:rPr lang="en-US" sz="2400" dirty="0">
                <a:latin typeface="+mj-lt"/>
                <a:ea typeface="Cormorant Garamond Light"/>
                <a:cs typeface="Cormorant Garamond Light"/>
                <a:sym typeface="Cormorant Garamond Light"/>
              </a:rPr>
              <a:t>Struggles with capturing word order and context</a:t>
            </a:r>
          </a:p>
          <a:p>
            <a:pPr marL="457200" lvl="0" indent="-457200" algn="just">
              <a:lnSpc>
                <a:spcPts val="4480"/>
              </a:lnSpc>
              <a:spcBef>
                <a:spcPct val="0"/>
              </a:spcBef>
              <a:buFont typeface="Arial" panose="020B0604020202020204" pitchFamily="34" charset="0"/>
              <a:buChar char="•"/>
            </a:pPr>
            <a:r>
              <a:rPr lang="en-US" sz="2400" dirty="0">
                <a:latin typeface="+mj-lt"/>
                <a:ea typeface="Cormorant Garamond Light"/>
                <a:cs typeface="Cormorant Garamond Light"/>
                <a:sym typeface="Cormorant Garamond Light"/>
              </a:rPr>
              <a:t>Simpler and faster but less accurate on complex text</a:t>
            </a:r>
          </a:p>
        </p:txBody>
      </p:sp>
      <p:sp>
        <p:nvSpPr>
          <p:cNvPr id="6" name="TextBox 6">
            <a:extLst>
              <a:ext uri="{FF2B5EF4-FFF2-40B4-BE49-F238E27FC236}">
                <a16:creationId xmlns:a16="http://schemas.microsoft.com/office/drawing/2014/main" id="{B4DE1332-C2B0-5595-7A32-F13CBE207AB5}"/>
              </a:ext>
            </a:extLst>
          </p:cNvPr>
          <p:cNvSpPr txBox="1"/>
          <p:nvPr/>
        </p:nvSpPr>
        <p:spPr>
          <a:xfrm>
            <a:off x="9881881" y="4664821"/>
            <a:ext cx="7367464" cy="2251578"/>
          </a:xfrm>
          <a:prstGeom prst="rect">
            <a:avLst/>
          </a:prstGeom>
        </p:spPr>
        <p:txBody>
          <a:bodyPr wrap="square" lIns="0" tIns="0" rIns="0" bIns="0" rtlCol="0" anchor="t">
            <a:spAutoFit/>
          </a:bodyPr>
          <a:lstStyle/>
          <a:p>
            <a:pPr marL="457200" lvl="0" indent="-457200" algn="just">
              <a:lnSpc>
                <a:spcPts val="4480"/>
              </a:lnSpc>
              <a:spcBef>
                <a:spcPct val="0"/>
              </a:spcBef>
              <a:buFont typeface="Arial" panose="020B0604020202020204" pitchFamily="34" charset="0"/>
              <a:buChar char="•"/>
            </a:pPr>
            <a:r>
              <a:rPr lang="en-US" sz="2400" dirty="0">
                <a:latin typeface="+mj-lt"/>
              </a:rPr>
              <a:t>Automatically extracts features from word embeddings</a:t>
            </a:r>
          </a:p>
          <a:p>
            <a:pPr marL="457200" lvl="0" indent="-457200" algn="just">
              <a:lnSpc>
                <a:spcPts val="4480"/>
              </a:lnSpc>
              <a:spcBef>
                <a:spcPct val="0"/>
              </a:spcBef>
              <a:buFont typeface="Arial" panose="020B0604020202020204" pitchFamily="34" charset="0"/>
              <a:buChar char="•"/>
            </a:pPr>
            <a:r>
              <a:rPr lang="en-US" sz="2400" dirty="0">
                <a:solidFill>
                  <a:srgbClr val="3D2E12"/>
                </a:solidFill>
                <a:latin typeface="+mj-lt"/>
                <a:ea typeface="Cormorant Garamond Light"/>
                <a:cs typeface="Cormorant Garamond Light"/>
                <a:sym typeface="Cormorant Garamond Light"/>
              </a:rPr>
              <a:t>Capture local pattern (like n-grams) effectively</a:t>
            </a:r>
          </a:p>
          <a:p>
            <a:pPr marL="457200" lvl="0" indent="-457200" algn="just">
              <a:lnSpc>
                <a:spcPts val="4480"/>
              </a:lnSpc>
              <a:spcBef>
                <a:spcPct val="0"/>
              </a:spcBef>
              <a:buFont typeface="Arial" panose="020B0604020202020204" pitchFamily="34" charset="0"/>
              <a:buChar char="•"/>
            </a:pPr>
            <a:r>
              <a:rPr lang="en-US" sz="2400" dirty="0">
                <a:solidFill>
                  <a:srgbClr val="3D2E12"/>
                </a:solidFill>
                <a:latin typeface="+mj-lt"/>
                <a:ea typeface="Cormorant Garamond Light"/>
                <a:cs typeface="Cormorant Garamond Light"/>
                <a:sym typeface="Cormorant Garamond Light"/>
              </a:rPr>
              <a:t>Performs better on short text with structured patterns</a:t>
            </a:r>
          </a:p>
          <a:p>
            <a:pPr marL="457200" lvl="0" indent="-457200" algn="just">
              <a:lnSpc>
                <a:spcPts val="4480"/>
              </a:lnSpc>
              <a:spcBef>
                <a:spcPct val="0"/>
              </a:spcBef>
              <a:buFont typeface="Arial" panose="020B0604020202020204" pitchFamily="34" charset="0"/>
              <a:buChar char="•"/>
            </a:pPr>
            <a:r>
              <a:rPr lang="en-US" sz="2400" dirty="0">
                <a:solidFill>
                  <a:srgbClr val="3D2E12"/>
                </a:solidFill>
                <a:latin typeface="+mj-lt"/>
                <a:ea typeface="Cormorant Garamond Light"/>
                <a:cs typeface="Cormorant Garamond Light"/>
                <a:sym typeface="Cormorant Garamond Light"/>
              </a:rPr>
              <a:t>Higher accuracy in detecting nuanced sentiment</a:t>
            </a:r>
          </a:p>
        </p:txBody>
      </p:sp>
      <p:sp>
        <p:nvSpPr>
          <p:cNvPr id="7" name="AutoShape 7">
            <a:extLst>
              <a:ext uri="{FF2B5EF4-FFF2-40B4-BE49-F238E27FC236}">
                <a16:creationId xmlns:a16="http://schemas.microsoft.com/office/drawing/2014/main" id="{EF0F6446-4DBF-BD9F-2485-9952C7003A25}"/>
              </a:ext>
              <a:ext uri="{C183D7F6-B498-43B3-948B-1728B52AA6E4}">
                <adec:decorative xmlns:adec="http://schemas.microsoft.com/office/drawing/2017/decorative" val="1"/>
              </a:ext>
            </a:extLst>
          </p:cNvPr>
          <p:cNvSpPr/>
          <p:nvPr/>
        </p:nvSpPr>
        <p:spPr>
          <a:xfrm>
            <a:off x="9144000" y="3238500"/>
            <a:ext cx="0" cy="6705600"/>
          </a:xfrm>
          <a:prstGeom prst="line">
            <a:avLst/>
          </a:prstGeom>
          <a:ln w="9525" cap="flat">
            <a:solidFill>
              <a:srgbClr val="988A71"/>
            </a:solidFill>
            <a:prstDash val="solid"/>
            <a:headEnd type="none" w="sm" len="sm"/>
            <a:tailEnd type="none" w="sm" len="sm"/>
          </a:ln>
        </p:spPr>
        <p:txBody>
          <a:bodyPr/>
          <a:lstStyle/>
          <a:p>
            <a:endParaRPr lang="en-IN"/>
          </a:p>
        </p:txBody>
      </p:sp>
      <p:cxnSp>
        <p:nvCxnSpPr>
          <p:cNvPr id="17" name="Straight Connector 16">
            <a:extLst>
              <a:ext uri="{FF2B5EF4-FFF2-40B4-BE49-F238E27FC236}">
                <a16:creationId xmlns:a16="http://schemas.microsoft.com/office/drawing/2014/main" id="{80C376B5-71E9-F1FA-538D-577112E59DDA}"/>
              </a:ext>
            </a:extLst>
          </p:cNvPr>
          <p:cNvCxnSpPr/>
          <p:nvPr/>
        </p:nvCxnSpPr>
        <p:spPr>
          <a:xfrm>
            <a:off x="990600" y="2543619"/>
            <a:ext cx="16611600" cy="8528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69360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410738"/>
            <a:ext cx="18288000" cy="2886499"/>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p:cNvSpPr txBox="1"/>
          <p:nvPr/>
        </p:nvSpPr>
        <p:spPr>
          <a:xfrm>
            <a:off x="1882590" y="7919266"/>
            <a:ext cx="14522823" cy="1109820"/>
          </a:xfrm>
          <a:prstGeom prst="rect">
            <a:avLst/>
          </a:prstGeom>
        </p:spPr>
        <p:txBody>
          <a:bodyPr vert="horz" lIns="91440" tIns="45720" rIns="91440" bIns="45720" rtlCol="0" anchor="b">
            <a:normAutofit/>
          </a:bodyPr>
          <a:lstStyle/>
          <a:p>
            <a:pPr marL="0" lvl="0" indent="0" algn="ctr">
              <a:lnSpc>
                <a:spcPct val="90000"/>
              </a:lnSpc>
              <a:spcBef>
                <a:spcPct val="0"/>
              </a:spcBef>
              <a:spcAft>
                <a:spcPts val="600"/>
              </a:spcAft>
            </a:pPr>
            <a:r>
              <a:rPr lang="en-US" sz="5400" b="1" kern="1200" dirty="0">
                <a:solidFill>
                  <a:schemeClr val="tx1">
                    <a:lumMod val="85000"/>
                    <a:lumOff val="15000"/>
                  </a:schemeClr>
                </a:solidFill>
                <a:latin typeface="+mj-lt"/>
                <a:ea typeface="+mj-ea"/>
                <a:cs typeface="+mj-cs"/>
                <a:sym typeface="Cormorant Garamond Light"/>
              </a:rPr>
              <a:t>Table of Performance</a:t>
            </a:r>
          </a:p>
        </p:txBody>
      </p:sp>
      <p:sp>
        <p:nvSpPr>
          <p:cNvPr id="4" name="TextBox 4"/>
          <p:cNvSpPr txBox="1"/>
          <p:nvPr/>
        </p:nvSpPr>
        <p:spPr>
          <a:xfrm>
            <a:off x="2904565" y="9029086"/>
            <a:ext cx="12478869" cy="505439"/>
          </a:xfrm>
          <a:prstGeom prst="rect">
            <a:avLst/>
          </a:prstGeom>
        </p:spPr>
        <p:txBody>
          <a:bodyPr vert="horz" lIns="91440" tIns="45720" rIns="91440" bIns="45720" rtlCol="0" anchor="t">
            <a:normAutofit fontScale="92500"/>
          </a:bodyPr>
          <a:lstStyle/>
          <a:p>
            <a:pPr lvl="0" algn="ctr">
              <a:lnSpc>
                <a:spcPct val="90000"/>
              </a:lnSpc>
              <a:spcBef>
                <a:spcPts val="1000"/>
              </a:spcBef>
            </a:pPr>
            <a:r>
              <a:rPr lang="en-US" sz="2400" dirty="0"/>
              <a:t>This table presents a general comparison of different sentiment analysis models based on their performance</a:t>
            </a:r>
            <a:endParaRPr lang="en-US" sz="2400" kern="1200" dirty="0">
              <a:solidFill>
                <a:schemeClr val="tx1">
                  <a:lumMod val="85000"/>
                  <a:lumOff val="15000"/>
                </a:schemeClr>
              </a:solidFill>
              <a:latin typeface="+mn-lt"/>
              <a:ea typeface="+mn-ea"/>
              <a:cs typeface="+mn-cs"/>
              <a:sym typeface="Cormorant Garamond Light"/>
            </a:endParaRPr>
          </a:p>
        </p:txBody>
      </p:sp>
      <p:graphicFrame>
        <p:nvGraphicFramePr>
          <p:cNvPr id="2" name="Table 2"/>
          <p:cNvGraphicFramePr>
            <a:graphicFrameLocks noGrp="1"/>
          </p:cNvGraphicFramePr>
          <p:nvPr>
            <p:extLst>
              <p:ext uri="{D42A27DB-BD31-4B8C-83A1-F6EECF244321}">
                <p14:modId xmlns:p14="http://schemas.microsoft.com/office/powerpoint/2010/main" val="3511574704"/>
              </p:ext>
            </p:extLst>
          </p:nvPr>
        </p:nvGraphicFramePr>
        <p:xfrm>
          <a:off x="934630" y="1220962"/>
          <a:ext cx="16418740" cy="5633235"/>
        </p:xfrm>
        <a:graphic>
          <a:graphicData uri="http://schemas.openxmlformats.org/drawingml/2006/table">
            <a:tbl>
              <a:tblPr firstRow="1" bandRow="1">
                <a:noFill/>
              </a:tblPr>
              <a:tblGrid>
                <a:gridCol w="3331520">
                  <a:extLst>
                    <a:ext uri="{9D8B030D-6E8A-4147-A177-3AD203B41FA5}">
                      <a16:colId xmlns:a16="http://schemas.microsoft.com/office/drawing/2014/main" val="20000"/>
                    </a:ext>
                  </a:extLst>
                </a:gridCol>
                <a:gridCol w="3519183">
                  <a:extLst>
                    <a:ext uri="{9D8B030D-6E8A-4147-A177-3AD203B41FA5}">
                      <a16:colId xmlns:a16="http://schemas.microsoft.com/office/drawing/2014/main" val="20001"/>
                    </a:ext>
                  </a:extLst>
                </a:gridCol>
                <a:gridCol w="3271805">
                  <a:extLst>
                    <a:ext uri="{9D8B030D-6E8A-4147-A177-3AD203B41FA5}">
                      <a16:colId xmlns:a16="http://schemas.microsoft.com/office/drawing/2014/main" val="20002"/>
                    </a:ext>
                  </a:extLst>
                </a:gridCol>
                <a:gridCol w="2823964">
                  <a:extLst>
                    <a:ext uri="{9D8B030D-6E8A-4147-A177-3AD203B41FA5}">
                      <a16:colId xmlns:a16="http://schemas.microsoft.com/office/drawing/2014/main" val="20003"/>
                    </a:ext>
                  </a:extLst>
                </a:gridCol>
                <a:gridCol w="3472268">
                  <a:extLst>
                    <a:ext uri="{9D8B030D-6E8A-4147-A177-3AD203B41FA5}">
                      <a16:colId xmlns:a16="http://schemas.microsoft.com/office/drawing/2014/main" val="20004"/>
                    </a:ext>
                  </a:extLst>
                </a:gridCol>
              </a:tblGrid>
              <a:tr h="748023">
                <a:tc>
                  <a:txBody>
                    <a:bodyPr/>
                    <a:lstStyle/>
                    <a:p>
                      <a:pPr marL="0" lvl="0" indent="0" algn="ctr">
                        <a:lnSpc>
                          <a:spcPts val="2400"/>
                        </a:lnSpc>
                        <a:defRPr/>
                      </a:pPr>
                      <a:r>
                        <a:rPr lang="en-US" sz="2800" b="1" u="none" cap="none" spc="0" dirty="0">
                          <a:solidFill>
                            <a:schemeClr val="tx1"/>
                          </a:solidFill>
                          <a:latin typeface="Cormorant Garamond Medium Bold"/>
                          <a:ea typeface="Cormorant Garamond Medium Bold"/>
                          <a:cs typeface="Cormorant Garamond Medium Bold"/>
                          <a:sym typeface="Cormorant Garamond Medium Bold"/>
                        </a:rPr>
                        <a:t>MODEL NAME</a:t>
                      </a:r>
                    </a:p>
                  </a:txBody>
                  <a:tcPr marL="0" marR="343862" marT="31925" marB="159626" anchor="b">
                    <a:lnL w="12700" cmpd="sng">
                      <a:noFill/>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lvl="0" indent="0" algn="ctr">
                        <a:lnSpc>
                          <a:spcPts val="2400"/>
                        </a:lnSpc>
                        <a:defRPr/>
                      </a:pPr>
                      <a:r>
                        <a:rPr lang="en-US" sz="2800" b="1" u="none" cap="none" spc="0" dirty="0">
                          <a:solidFill>
                            <a:schemeClr val="tx1"/>
                          </a:solidFill>
                          <a:latin typeface="Cormorant Garamond Medium Bold"/>
                          <a:ea typeface="Cormorant Garamond Medium Bold"/>
                          <a:cs typeface="Cormorant Garamond Medium Bold"/>
                          <a:sym typeface="Cormorant Garamond Medium Bold"/>
                        </a:rPr>
                        <a:t>ACCURACY</a:t>
                      </a:r>
                    </a:p>
                  </a:txBody>
                  <a:tcPr marL="0" marR="343862" marT="31925" marB="159626" anchor="b">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lvl="0" indent="0" algn="ctr">
                        <a:lnSpc>
                          <a:spcPts val="2400"/>
                        </a:lnSpc>
                        <a:defRPr/>
                      </a:pPr>
                      <a:r>
                        <a:rPr lang="en-US" sz="2800" b="1" u="none" cap="none" spc="0" dirty="0">
                          <a:solidFill>
                            <a:schemeClr val="tx1"/>
                          </a:solidFill>
                          <a:latin typeface="Cormorant Garamond Medium Bold"/>
                          <a:sym typeface="Cormorant Garamond Medium Bold"/>
                        </a:rPr>
                        <a:t>F1 SCORE</a:t>
                      </a:r>
                      <a:endParaRPr lang="en-US" sz="2800" b="1" cap="none" spc="0" dirty="0">
                        <a:solidFill>
                          <a:schemeClr val="tx1"/>
                        </a:solidFill>
                      </a:endParaRPr>
                    </a:p>
                  </a:txBody>
                  <a:tcPr marL="0" marR="343862" marT="31925" marB="159626" anchor="b">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lvl="0" indent="0" algn="ctr">
                        <a:lnSpc>
                          <a:spcPts val="2400"/>
                        </a:lnSpc>
                        <a:defRPr/>
                      </a:pPr>
                      <a:r>
                        <a:rPr lang="en-US" sz="2800" b="1" u="none" cap="none" spc="0" dirty="0">
                          <a:solidFill>
                            <a:schemeClr val="tx1"/>
                          </a:solidFill>
                          <a:latin typeface="Cormorant Garamond Medium Bold"/>
                          <a:ea typeface="Cormorant Garamond Medium Bold"/>
                          <a:cs typeface="Cormorant Garamond Medium Bold"/>
                          <a:sym typeface="Cormorant Garamond Medium Bold"/>
                        </a:rPr>
                        <a:t>RECALL</a:t>
                      </a:r>
                    </a:p>
                  </a:txBody>
                  <a:tcPr marL="0" marR="343862" marT="31925" marB="159626" anchor="b">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lvl="0" indent="0" algn="ctr">
                        <a:lnSpc>
                          <a:spcPts val="2400"/>
                        </a:lnSpc>
                        <a:defRPr/>
                      </a:pPr>
                      <a:r>
                        <a:rPr lang="en-US" sz="2800" b="1" u="none" cap="none" spc="0" dirty="0">
                          <a:solidFill>
                            <a:schemeClr val="tx1"/>
                          </a:solidFill>
                          <a:latin typeface="Cormorant Garamond Medium Bold"/>
                          <a:ea typeface="Cormorant Garamond Medium Bold"/>
                          <a:cs typeface="Cormorant Garamond Medium Bold"/>
                          <a:sym typeface="Cormorant Garamond Medium Bold"/>
                        </a:rPr>
                        <a:t>PRECISION</a:t>
                      </a:r>
                    </a:p>
                  </a:txBody>
                  <a:tcPr marL="0" marR="343862" marT="31925" marB="159626" anchor="b">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0000"/>
                  </a:ext>
                </a:extLst>
              </a:tr>
              <a:tr h="814202">
                <a:tc>
                  <a:txBody>
                    <a:bodyPr/>
                    <a:lstStyle/>
                    <a:p>
                      <a:pPr marL="0" lvl="0" indent="0" algn="ctr">
                        <a:lnSpc>
                          <a:spcPts val="2879"/>
                        </a:lnSpc>
                        <a:spcBef>
                          <a:spcPct val="0"/>
                        </a:spcBef>
                        <a:defRPr/>
                      </a:pPr>
                      <a:r>
                        <a:rPr lang="en-US" sz="2100" b="1" cap="none" spc="0" dirty="0">
                          <a:solidFill>
                            <a:schemeClr val="tx1"/>
                          </a:solidFill>
                        </a:rPr>
                        <a:t>VADER</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dirty="0">
                          <a:solidFill>
                            <a:srgbClr val="FF0000"/>
                          </a:solidFill>
                        </a:rPr>
                        <a:t>81.76%</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dirty="0">
                          <a:solidFill>
                            <a:srgbClr val="0070C0"/>
                          </a:solidFill>
                        </a:rPr>
                        <a:t>0.89</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dirty="0">
                          <a:solidFill>
                            <a:srgbClr val="0070C0"/>
                          </a:solidFill>
                        </a:rPr>
                        <a:t>0.94</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dirty="0">
                          <a:solidFill>
                            <a:srgbClr val="0070C0"/>
                          </a:solidFill>
                        </a:rPr>
                        <a:t>0.84</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0001"/>
                  </a:ext>
                </a:extLst>
              </a:tr>
              <a:tr h="814202">
                <a:tc>
                  <a:txBody>
                    <a:bodyPr/>
                    <a:lstStyle/>
                    <a:p>
                      <a:pPr marL="0" lvl="0" indent="0" algn="ctr">
                        <a:lnSpc>
                          <a:spcPts val="2879"/>
                        </a:lnSpc>
                        <a:spcBef>
                          <a:spcPct val="0"/>
                        </a:spcBef>
                        <a:defRPr/>
                      </a:pPr>
                      <a:r>
                        <a:rPr lang="en-US" sz="2100" b="1" cap="none" spc="0" dirty="0">
                          <a:solidFill>
                            <a:schemeClr val="tx1"/>
                          </a:solidFill>
                        </a:rPr>
                        <a:t>BS-LIME</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dirty="0">
                          <a:solidFill>
                            <a:srgbClr val="FF0000"/>
                          </a:solidFill>
                        </a:rPr>
                        <a:t>92%</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dirty="0">
                          <a:solidFill>
                            <a:srgbClr val="0070C0"/>
                          </a:solidFill>
                        </a:rPr>
                        <a:t>0.95</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dirty="0">
                          <a:solidFill>
                            <a:srgbClr val="0070C0"/>
                          </a:solidFill>
                        </a:rPr>
                        <a:t>0.96</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dirty="0">
                          <a:solidFill>
                            <a:srgbClr val="0070C0"/>
                          </a:solidFill>
                        </a:rPr>
                        <a:t>0.94</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814202">
                <a:tc>
                  <a:txBody>
                    <a:bodyPr/>
                    <a:lstStyle/>
                    <a:p>
                      <a:pPr marL="0" lvl="0" indent="0" algn="ctr">
                        <a:lnSpc>
                          <a:spcPts val="2879"/>
                        </a:lnSpc>
                        <a:spcBef>
                          <a:spcPct val="0"/>
                        </a:spcBef>
                        <a:defRPr/>
                      </a:pPr>
                      <a:r>
                        <a:rPr lang="en-US" sz="2100" b="1" cap="none" spc="0" dirty="0">
                          <a:solidFill>
                            <a:schemeClr val="tx1"/>
                          </a:solidFill>
                        </a:rPr>
                        <a:t>LR</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dirty="0">
                          <a:solidFill>
                            <a:srgbClr val="FF0000"/>
                          </a:solidFill>
                        </a:rPr>
                        <a:t>62%</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a:solidFill>
                            <a:srgbClr val="0070C0"/>
                          </a:solidFill>
                        </a:rPr>
                        <a:t>0.61</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a:solidFill>
                            <a:srgbClr val="0070C0"/>
                          </a:solidFill>
                        </a:rPr>
                        <a:t>0.62</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a:solidFill>
                            <a:srgbClr val="0070C0"/>
                          </a:solidFill>
                        </a:rPr>
                        <a:t>0.62</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0003"/>
                  </a:ext>
                </a:extLst>
              </a:tr>
              <a:tr h="814202">
                <a:tc>
                  <a:txBody>
                    <a:bodyPr/>
                    <a:lstStyle/>
                    <a:p>
                      <a:pPr marL="0" lvl="0" indent="0" algn="ctr">
                        <a:lnSpc>
                          <a:spcPts val="2879"/>
                        </a:lnSpc>
                        <a:spcBef>
                          <a:spcPct val="0"/>
                        </a:spcBef>
                        <a:defRPr/>
                      </a:pPr>
                      <a:r>
                        <a:rPr lang="en-US" sz="2100" b="1" cap="none" spc="0" dirty="0">
                          <a:solidFill>
                            <a:schemeClr val="tx1"/>
                          </a:solidFill>
                        </a:rPr>
                        <a:t>SVM</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dirty="0">
                          <a:solidFill>
                            <a:srgbClr val="FF0000"/>
                          </a:solidFill>
                        </a:rPr>
                        <a:t>60%</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dirty="0">
                          <a:solidFill>
                            <a:srgbClr val="0070C0"/>
                          </a:solidFill>
                        </a:rPr>
                        <a:t>0.59</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dirty="0">
                          <a:solidFill>
                            <a:srgbClr val="0070C0"/>
                          </a:solidFill>
                        </a:rPr>
                        <a:t>0.60</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dirty="0">
                          <a:solidFill>
                            <a:srgbClr val="0070C0"/>
                          </a:solidFill>
                        </a:rPr>
                        <a:t>0.59</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814202">
                <a:tc>
                  <a:txBody>
                    <a:bodyPr/>
                    <a:lstStyle/>
                    <a:p>
                      <a:pPr marL="0" lvl="0" indent="0" algn="ctr">
                        <a:lnSpc>
                          <a:spcPts val="2879"/>
                        </a:lnSpc>
                        <a:spcBef>
                          <a:spcPct val="0"/>
                        </a:spcBef>
                        <a:defRPr/>
                      </a:pPr>
                      <a:r>
                        <a:rPr lang="en-US" sz="2100" b="1" cap="none" spc="0" dirty="0">
                          <a:solidFill>
                            <a:schemeClr val="tx1"/>
                          </a:solidFill>
                        </a:rPr>
                        <a:t>RF</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a:solidFill>
                            <a:srgbClr val="FF0000"/>
                          </a:solidFill>
                        </a:rPr>
                        <a:t>58%</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a:solidFill>
                            <a:srgbClr val="0070C0"/>
                          </a:solidFill>
                        </a:rPr>
                        <a:t>0.58</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a:solidFill>
                            <a:srgbClr val="0070C0"/>
                          </a:solidFill>
                        </a:rPr>
                        <a:t>0.59</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lvl="0" indent="0" algn="ctr">
                        <a:lnSpc>
                          <a:spcPts val="2879"/>
                        </a:lnSpc>
                        <a:spcBef>
                          <a:spcPct val="0"/>
                        </a:spcBef>
                        <a:defRPr/>
                      </a:pPr>
                      <a:r>
                        <a:rPr lang="en-US" sz="2100" b="1" cap="none" spc="0">
                          <a:solidFill>
                            <a:srgbClr val="0070C0"/>
                          </a:solidFill>
                        </a:rPr>
                        <a:t>0.63</a:t>
                      </a:r>
                    </a:p>
                  </a:txBody>
                  <a:tcPr marL="0" marR="343862" marT="47888" marB="159626"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0005"/>
                  </a:ext>
                </a:extLst>
              </a:tr>
              <a:tr h="814202">
                <a:tc>
                  <a:txBody>
                    <a:bodyPr/>
                    <a:lstStyle/>
                    <a:p>
                      <a:pPr marL="0" lvl="0" indent="0" algn="ctr">
                        <a:lnSpc>
                          <a:spcPts val="2879"/>
                        </a:lnSpc>
                        <a:spcBef>
                          <a:spcPct val="0"/>
                        </a:spcBef>
                        <a:defRPr/>
                      </a:pPr>
                      <a:r>
                        <a:rPr lang="en-US" sz="2100" b="1" cap="none" spc="0" dirty="0">
                          <a:solidFill>
                            <a:schemeClr val="tx1"/>
                          </a:solidFill>
                        </a:rPr>
                        <a:t>CNN</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dirty="0">
                          <a:solidFill>
                            <a:srgbClr val="FF0000"/>
                          </a:solidFill>
                        </a:rPr>
                        <a:t>75.86%</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dirty="0">
                          <a:solidFill>
                            <a:srgbClr val="0070C0"/>
                          </a:solidFill>
                        </a:rPr>
                        <a:t>0.73</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a:solidFill>
                            <a:srgbClr val="0070C0"/>
                          </a:solidFill>
                        </a:rPr>
                        <a:t>0.72</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ctr">
                        <a:lnSpc>
                          <a:spcPts val="2879"/>
                        </a:lnSpc>
                        <a:spcBef>
                          <a:spcPct val="0"/>
                        </a:spcBef>
                        <a:defRPr/>
                      </a:pPr>
                      <a:r>
                        <a:rPr lang="en-US" sz="2100" b="1" cap="none" spc="0" dirty="0">
                          <a:solidFill>
                            <a:srgbClr val="0070C0"/>
                          </a:solidFill>
                        </a:rPr>
                        <a:t>0.74</a:t>
                      </a:r>
                    </a:p>
                  </a:txBody>
                  <a:tcPr marL="0" marR="343862" marT="47888" marB="159626"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03836211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1DDD5"/>
        </a:solidFill>
        <a:effectLst/>
      </p:bgPr>
    </p:bg>
    <p:spTree>
      <p:nvGrpSpPr>
        <p:cNvPr id="1" name="">
          <a:extLst>
            <a:ext uri="{FF2B5EF4-FFF2-40B4-BE49-F238E27FC236}">
              <a16:creationId xmlns:a16="http://schemas.microsoft.com/office/drawing/2014/main" id="{6D8EB9B8-724A-8BC0-2083-FF94F45846F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D23B41D-1593-306E-A8D8-B5E39B1BB93C}"/>
              </a:ext>
            </a:extLst>
          </p:cNvPr>
          <p:cNvSpPr txBox="1"/>
          <p:nvPr/>
        </p:nvSpPr>
        <p:spPr>
          <a:xfrm>
            <a:off x="1219200" y="540042"/>
            <a:ext cx="15178408" cy="1494155"/>
          </a:xfrm>
          <a:prstGeom prst="rect">
            <a:avLst/>
          </a:prstGeom>
        </p:spPr>
        <p:txBody>
          <a:bodyPr lIns="0" tIns="0" rIns="0" bIns="0" rtlCol="0" anchor="t">
            <a:spAutoFit/>
          </a:bodyPr>
          <a:lstStyle/>
          <a:p>
            <a:pPr marL="0" lvl="0" indent="0" algn="l">
              <a:lnSpc>
                <a:spcPts val="12319"/>
              </a:lnSpc>
              <a:spcBef>
                <a:spcPct val="0"/>
              </a:spcBef>
            </a:pPr>
            <a:r>
              <a:rPr lang="en-US" sz="8800" b="1" dirty="0">
                <a:solidFill>
                  <a:srgbClr val="3D2E12"/>
                </a:solidFill>
                <a:latin typeface="Cormorant Garamond Light"/>
                <a:ea typeface="Cormorant Garamond Light"/>
                <a:cs typeface="Cormorant Garamond Light"/>
                <a:sym typeface="Cormorant Garamond Light"/>
              </a:rPr>
              <a:t>Conclusion</a:t>
            </a:r>
          </a:p>
        </p:txBody>
      </p:sp>
      <p:cxnSp>
        <p:nvCxnSpPr>
          <p:cNvPr id="5" name="Straight Connector 4">
            <a:extLst>
              <a:ext uri="{FF2B5EF4-FFF2-40B4-BE49-F238E27FC236}">
                <a16:creationId xmlns:a16="http://schemas.microsoft.com/office/drawing/2014/main" id="{AE6A8321-4B36-C5BB-D212-8BA2A580CBE4}"/>
              </a:ext>
            </a:extLst>
          </p:cNvPr>
          <p:cNvCxnSpPr/>
          <p:nvPr/>
        </p:nvCxnSpPr>
        <p:spPr>
          <a:xfrm>
            <a:off x="533400" y="2034197"/>
            <a:ext cx="17068800" cy="0"/>
          </a:xfrm>
          <a:prstGeom prst="line">
            <a:avLst/>
          </a:prstGeom>
        </p:spPr>
        <p:style>
          <a:lnRef idx="1">
            <a:schemeClr val="dk1"/>
          </a:lnRef>
          <a:fillRef idx="0">
            <a:schemeClr val="dk1"/>
          </a:fillRef>
          <a:effectRef idx="0">
            <a:schemeClr val="dk1"/>
          </a:effectRef>
          <a:fontRef idx="minor">
            <a:schemeClr val="tx1"/>
          </a:fontRef>
        </p:style>
      </p:cxnSp>
      <p:sp>
        <p:nvSpPr>
          <p:cNvPr id="8" name="Content Placeholder 5">
            <a:extLst>
              <a:ext uri="{FF2B5EF4-FFF2-40B4-BE49-F238E27FC236}">
                <a16:creationId xmlns:a16="http://schemas.microsoft.com/office/drawing/2014/main" id="{B8AFE06B-BBAD-75C7-DE7E-0137AC3CD772}"/>
              </a:ext>
            </a:extLst>
          </p:cNvPr>
          <p:cNvSpPr txBox="1">
            <a:spLocks/>
          </p:cNvSpPr>
          <p:nvPr/>
        </p:nvSpPr>
        <p:spPr>
          <a:xfrm>
            <a:off x="6324599" y="2781300"/>
            <a:ext cx="11191013" cy="6705600"/>
          </a:xfrm>
          <a:prstGeom prst="rect">
            <a:avLst/>
          </a:prstGeom>
        </p:spPr>
        <p:txBody>
          <a:bodyPr>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3600" dirty="0"/>
              <a:t>Sentiment analysis is essential for understanding user opinions on social media.</a:t>
            </a:r>
          </a:p>
          <a:p>
            <a:pPr algn="just"/>
            <a:r>
              <a:rPr lang="en-US" sz="3600" dirty="0"/>
              <a:t>Traditional models like VADER are fast and simple but lack depth in understanding context.</a:t>
            </a:r>
          </a:p>
          <a:p>
            <a:pPr algn="just"/>
            <a:r>
              <a:rPr lang="en-US" sz="3600" dirty="0"/>
              <a:t>Bi-LSTM provides better accuracy for sentiment classification by capturing word dependencies and context.</a:t>
            </a:r>
          </a:p>
          <a:p>
            <a:pPr algn="just"/>
            <a:r>
              <a:rPr lang="en-US" sz="3600" dirty="0"/>
              <a:t>For emotion detection, CNN is effective in identifying local patterns and emotional cues in text.</a:t>
            </a:r>
          </a:p>
          <a:p>
            <a:pPr algn="just"/>
            <a:r>
              <a:rPr lang="en-US" sz="3600" dirty="0"/>
              <a:t>Based on our findings, Bi-LSTM is best suited for sentiment analysis tasks, while CNN demonstrates strong performance in emotion classification.</a:t>
            </a:r>
          </a:p>
        </p:txBody>
      </p:sp>
      <p:pic>
        <p:nvPicPr>
          <p:cNvPr id="3" name="Picture 2">
            <a:extLst>
              <a:ext uri="{FF2B5EF4-FFF2-40B4-BE49-F238E27FC236}">
                <a16:creationId xmlns:a16="http://schemas.microsoft.com/office/drawing/2014/main" id="{0E133C83-2B59-CAED-B538-E02FE06B9E59}"/>
              </a:ext>
            </a:extLst>
          </p:cNvPr>
          <p:cNvPicPr>
            <a:picLocks noChangeAspect="1"/>
          </p:cNvPicPr>
          <p:nvPr/>
        </p:nvPicPr>
        <p:blipFill>
          <a:blip r:embed="rId2"/>
          <a:stretch>
            <a:fillRect/>
          </a:stretch>
        </p:blipFill>
        <p:spPr>
          <a:xfrm rot="20941392">
            <a:off x="706489" y="4158369"/>
            <a:ext cx="5263013" cy="395146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876959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21021"/>
            <a:ext cx="18288000" cy="4165977"/>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4"/>
          <p:cNvSpPr txBox="1"/>
          <p:nvPr/>
        </p:nvSpPr>
        <p:spPr>
          <a:xfrm>
            <a:off x="1981200" y="7200900"/>
            <a:ext cx="14424213" cy="1828186"/>
          </a:xfrm>
          <a:prstGeom prst="rect">
            <a:avLst/>
          </a:prstGeom>
        </p:spPr>
        <p:txBody>
          <a:bodyPr vert="horz" lIns="91440" tIns="45720" rIns="91440" bIns="45720" rtlCol="0" anchor="b">
            <a:normAutofit/>
          </a:bodyPr>
          <a:lstStyle/>
          <a:p>
            <a:pPr marL="0" lvl="0" indent="0" algn="ctr">
              <a:lnSpc>
                <a:spcPct val="90000"/>
              </a:lnSpc>
              <a:spcBef>
                <a:spcPct val="0"/>
              </a:spcBef>
              <a:spcAft>
                <a:spcPts val="600"/>
              </a:spcAft>
            </a:pPr>
            <a:r>
              <a:rPr lang="en-US" sz="9600" dirty="0">
                <a:solidFill>
                  <a:schemeClr val="tx1">
                    <a:lumMod val="85000"/>
                    <a:lumOff val="15000"/>
                  </a:schemeClr>
                </a:solidFill>
                <a:latin typeface="Algerian" panose="04020705040A02060702" pitchFamily="82" charset="0"/>
                <a:ea typeface="+mj-ea"/>
                <a:cs typeface="+mj-cs"/>
                <a:sym typeface="Cormorant Garamond Medium"/>
              </a:rPr>
              <a:t>THANK YOU</a:t>
            </a:r>
          </a:p>
        </p:txBody>
      </p:sp>
      <p:pic>
        <p:nvPicPr>
          <p:cNvPr id="8" name="Picture 7" descr="A group of smiley faces&#10;&#10;AI-generated content may be incorrect.">
            <a:extLst>
              <a:ext uri="{FF2B5EF4-FFF2-40B4-BE49-F238E27FC236}">
                <a16:creationId xmlns:a16="http://schemas.microsoft.com/office/drawing/2014/main" id="{10FC18EE-4A27-5E8A-59F8-627AF7DA9C32}"/>
              </a:ext>
            </a:extLst>
          </p:cNvPr>
          <p:cNvPicPr>
            <a:picLocks noChangeAspect="1"/>
          </p:cNvPicPr>
          <p:nvPr/>
        </p:nvPicPr>
        <p:blipFill>
          <a:blip r:embed="rId2">
            <a:extLst>
              <a:ext uri="{28A0092B-C50C-407E-A947-70E740481C1C}">
                <a14:useLocalDpi xmlns:a14="http://schemas.microsoft.com/office/drawing/2010/main" val="0"/>
              </a:ext>
            </a:extLst>
          </a:blip>
          <a:srcRect t="11644" b="11105"/>
          <a:stretch/>
        </p:blipFill>
        <p:spPr>
          <a:xfrm>
            <a:off x="20" y="10"/>
            <a:ext cx="18287978" cy="8829789"/>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1228</TotalTime>
  <Words>1037</Words>
  <Application>Microsoft Office PowerPoint</Application>
  <PresentationFormat>Custom</PresentationFormat>
  <Paragraphs>147</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Cormorant Garamond Medium Bold</vt:lpstr>
      <vt:lpstr>Wingdings</vt:lpstr>
      <vt:lpstr>Arial</vt:lpstr>
      <vt:lpstr>Algerian</vt:lpstr>
      <vt:lpstr>Times New Roman</vt:lpstr>
      <vt:lpstr>Calibri</vt:lpstr>
      <vt:lpstr>Cormorant Garamond Medium</vt:lpstr>
      <vt:lpstr>Cormorant Garamond Light Bold</vt:lpstr>
      <vt:lpstr>Cormorant Garamond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Suraj panda</cp:lastModifiedBy>
  <cp:revision>60</cp:revision>
  <dcterms:created xsi:type="dcterms:W3CDTF">2006-08-16T00:00:00Z</dcterms:created>
  <dcterms:modified xsi:type="dcterms:W3CDTF">2025-04-09T19:48:00Z</dcterms:modified>
  <dc:identifier>DAGeQLCljYo</dc:identifier>
</cp:coreProperties>
</file>